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9460219b-c855-95a1-eca5-aa7b63ca4d4c}">
          <p14:sldIdLst>
            <p14:sldId id="256"/>
            <p14:sldId id="257"/>
            <p14:sldId id="258"/>
            <p14:sldId id="259"/>
          </p14:sldIdLst>
        </p14:section>
        <p14:section name="Method" id="{8ed7a907-8bfd-5a1a-6ec6-17b8062b152b}">
          <p14:sldIdLst>
            <p14:sldId id="260"/>
            <p14:sldId id="261"/>
            <p14:sldId id="262"/>
          </p14:sldIdLst>
        </p14:section>
        <p14:section name="Results" id="{be39be9a-022f-1e58-575f-c38240fa1648}">
          <p14:sldIdLst>
            <p14:sldId id="263"/>
            <p14:sldId id="264"/>
            <p14:sldId id="265"/>
          </p14:sldIdLst>
        </p14:section>
        <p14:section name="Demo &amp; Wrap-up" id="{11a564b0-2066-825c-a411-0bff14e66d7d}">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3D26"/>
                </a:solidFill>
                <a:latin typeface="Calibri"/>
              </a:defRPr>
            </a:pPr>
            <a:r>
              <a:rPr sz="1200" b="0" i="0" u="none" strike="noStrike">
                <a:solidFill>
                  <a:srgbClr val="0F3D26"/>
                </a:solidFill>
                <a:latin typeface="Calibri"/>
              </a:rPr>
              <a:t>Class distribution</a:t>
            </a:r>
          </a:p>
        </c:rich>
      </c:tx>
      <c:layout/>
      <c:overlay val="0"/>
    </c:title>
    <c:autoTitleDeleted val="0"/>
    <c:plotArea>
      <c:layout/>
      <c:doughnutChart>
        <c:varyColors val="1"/>
        <c:ser>
          <c:idx val="0"/>
          <c:order val="0"/>
          <c:tx>
            <c:strRef>
              <c:f>Sheet1!$B$1</c:f>
              <c:strCache>
                <c:ptCount val="1"/>
                <c:pt idx="0">
                  <c:v>Claims</c:v>
                </c:pt>
              </c:strCache>
            </c:strRef>
          </c:tx>
          <c:spPr>
            <a:solidFill>
              <a:schemeClr val="accent1"/>
            </a:solidFill>
            <a:ln w="9525" cap="flat">
              <a:solidFill>
                <a:srgbClr val="F9F9F9"/>
              </a:solidFill>
              <a:prstDash val="solid"/>
              <a:round/>
            </a:ln>
            <a:effectLst/>
          </c:spPr>
          <c:dPt>
            <c:idx val="0"/>
            <c:bubble3D val="0"/>
            <c:spPr>
              <a:solidFill>
                <a:srgbClr val="D2483F"/>
              </a:solidFill>
              <a:ln w="25400" cap="flat">
                <a:solidFill>
                  <a:srgbClr val="FFFFFF"/>
                </a:solidFill>
                <a:prstDash val="solid"/>
                <a:round/>
              </a:ln>
              <a:effectLst/>
            </c:spPr>
          </c:dPt>
          <c:dPt>
            <c:idx val="1"/>
            <c:bubble3D val="0"/>
            <c:spPr>
              <a:solidFill>
                <a:srgbClr val="3FAE6A"/>
              </a:solidFill>
              <a:ln w="25400" cap="flat">
                <a:solidFill>
                  <a:srgbClr val="FFFFFF"/>
                </a:solidFill>
                <a:prstDash val="solid"/>
                <a:round/>
              </a:ln>
              <a:effectLst/>
            </c:spPr>
          </c:dPt>
          <c:dLbls>
            <c:dLbl>
              <c:idx val="0"/>
              <c:numFmt formatCode="General" sourceLinked="0"/>
              <c:spPr/>
              <c:txPr>
                <a:bodyPr/>
                <a:lstStyle/>
                <a:p>
                  <a:pPr>
                    <a:defRPr sz="1200" b="1"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200" b="1"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Greenwashing</c:v>
                </c:pt>
                <c:pt idx="1">
                  <c:v>Not greenwashing</c:v>
                </c:pt>
              </c:strCache>
            </c:strRef>
          </c:cat>
          <c:val>
            <c:numRef>
              <c:f>Sheet1!$B$2:$B$3</c:f>
              <c:numCache>
                <c:ptCount val="2"/>
                <c:pt idx="0">
                  <c:v>225</c:v>
                </c:pt>
                <c:pt idx="1">
                  <c:v>395</c:v>
                </c:pt>
              </c:numCache>
            </c:numRef>
          </c:val>
        </c:ser>
        <c:firstSliceAng val="0"/>
        <c:holeSize val="58"/>
      </c:doughnutChart>
      <c:spPr>
        <a:noFill/>
        <a:ln>
          <a:noFill/>
        </a:ln>
        <a:effectLst/>
      </c:spPr>
    </c:plotArea>
    <c:legend>
      <c:legendPos val="b"/>
      <c:overlay val="0"/>
      <c:txPr>
        <a:bodyPr/>
        <a:lstStyle/>
        <a:p>
          <a:pPr>
            <a:defRPr sz="1000">
              <a:solidFill>
                <a:srgbClr val="1D2B2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3D26"/>
                </a:solidFill>
                <a:latin typeface="Calibri"/>
              </a:defRPr>
            </a:pPr>
            <a:r>
              <a:rPr sz="1100" b="0" i="0" u="none" strike="noStrike">
                <a:solidFill>
                  <a:srgbClr val="0F3D26"/>
                </a:solidFill>
                <a:latin typeface="Calibri"/>
              </a:rPr>
              <a:t>Performance comparison (%)</a:t>
            </a:r>
          </a:p>
        </c:rich>
      </c:tx>
      <c:layout/>
      <c:overlay val="0"/>
    </c:title>
    <c:autoTitleDeleted val="0"/>
    <c:plotArea>
      <c:layout/>
      <c:barChart>
        <c:barDir val="col"/>
        <c:grouping val="clustered"/>
        <c:varyColors val="0"/>
        <c:ser>
          <c:idx val="0"/>
          <c:order val="0"/>
          <c:tx>
            <c:strRef>
              <c:f>Sheet1!$B$1</c:f>
              <c:strCache>
                <c:ptCount val="1"/>
                <c:pt idx="0">
                  <c:v>Rule-based</c:v>
                </c:pt>
              </c:strCache>
            </c:strRef>
          </c:tx>
          <c:spPr>
            <a:solidFill>
              <a:srgbClr val="9AD0AE"/>
            </a:solidFill>
            <a:effectLst/>
          </c:spPr>
          <c:invertIfNegative val="0"/>
          <c:dLbls>
            <c:numFmt formatCode="0.0" sourceLinked="0"/>
            <c:txPr>
              <a:bodyPr/>
              <a:lstStyle/>
              <a:p>
                <a:pPr>
                  <a:defRPr b="0" i="0" strike="noStrike" sz="900" u="none">
                    <a:solidFill>
                      <a:srgbClr val="1D2B2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c:v>
                  </c:pt>
                </c:lvl>
              </c:multiLvlStrCache>
            </c:multiLvlStrRef>
          </c:cat>
          <c:val>
            <c:numRef>
              <c:f>Sheet1!$B$2:$B$5</c:f>
              <c:numCache>
                <c:formatCode>General</c:formatCode>
                <c:ptCount val="4"/>
                <c:pt idx="0">
                  <c:v>69.4</c:v>
                </c:pt>
                <c:pt idx="1">
                  <c:v>58.6</c:v>
                </c:pt>
                <c:pt idx="2">
                  <c:v>52.9</c:v>
                </c:pt>
                <c:pt idx="3">
                  <c:v>55.6</c:v>
                </c:pt>
              </c:numCache>
            </c:numRef>
          </c:val>
        </c:ser>
        <c:ser>
          <c:idx val="1"/>
          <c:order val="1"/>
          <c:tx>
            <c:strRef>
              <c:f>Sheet1!$C$1</c:f>
              <c:strCache>
                <c:ptCount val="1"/>
                <c:pt idx="0">
                  <c:v>ML model</c:v>
                </c:pt>
              </c:strCache>
            </c:strRef>
          </c:tx>
          <c:spPr>
            <a:solidFill>
              <a:srgbClr val="1F7A45"/>
            </a:solidFill>
            <a:effectLst/>
          </c:spPr>
          <c:invertIfNegative val="0"/>
          <c:dLbls>
            <c:numFmt formatCode="0.0" sourceLinked="0"/>
            <c:txPr>
              <a:bodyPr/>
              <a:lstStyle/>
              <a:p>
                <a:pPr>
                  <a:defRPr b="0" i="0" strike="noStrike" sz="900" u="none">
                    <a:solidFill>
                      <a:srgbClr val="1D2B2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Accuracy</c:v>
                  </c:pt>
                  <c:pt idx="1">
                    <c:v>Precision</c:v>
                  </c:pt>
                  <c:pt idx="2">
                    <c:v>Recall</c:v>
                  </c:pt>
                  <c:pt idx="3">
                    <c:v>F1</c:v>
                  </c:pt>
                </c:lvl>
              </c:multiLvlStrCache>
            </c:multiLvlStrRef>
          </c:cat>
          <c:val>
            <c:numRef>
              <c:f>Sheet1!$C$2:$C$5</c:f>
              <c:numCache>
                <c:formatCode>General</c:formatCode>
                <c:ptCount val="4"/>
                <c:pt idx="0">
                  <c:v>74.2</c:v>
                </c:pt>
                <c:pt idx="1">
                  <c:v>66.7</c:v>
                </c:pt>
                <c:pt idx="2">
                  <c:v>58.8</c:v>
                </c:pt>
                <c:pt idx="3">
                  <c:v>62.5</c:v>
                </c:pt>
              </c:numCache>
            </c:numRef>
          </c:val>
        </c:ser>
        <c:dLbls>
          <c:numFmt formatCode="0.0" sourceLinked="0"/>
          <c:txPr>
            <a:bodyPr/>
            <a:lstStyle/>
            <a:p>
              <a:pPr>
                <a:defRPr b="0" i="0" strike="noStrike" sz="900" u="none">
                  <a:solidFill>
                    <a:srgbClr val="1D2B24"/>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D2B24"/>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A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F66"/>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3D26"/>
                </a:solidFill>
                <a:latin typeface="Calibri"/>
              </a:defRPr>
            </a:pPr>
            <a:r>
              <a:rPr sz="1100" b="0" i="0" u="none" strike="noStrike">
                <a:solidFill>
                  <a:srgbClr val="0F3D26"/>
                </a:solidFill>
                <a:latin typeface="Calibri"/>
              </a:rPr>
              <a:t>Accuracy by subgroup (%)</a:t>
            </a:r>
          </a:p>
        </c:rich>
      </c:tx>
      <c:layout/>
      <c:overlay val="0"/>
    </c:title>
    <c:autoTitleDeleted val="0"/>
    <c:plotArea>
      <c:layout/>
      <c:barChart>
        <c:barDir val="bar"/>
        <c:grouping val="clustered"/>
        <c:varyColors val="0"/>
        <c:ser>
          <c:idx val="0"/>
          <c:order val="0"/>
          <c:tx>
            <c:strRef>
              <c:f>Sheet1!$B$1</c:f>
              <c:strCache>
                <c:ptCount val="1"/>
                <c:pt idx="0">
                  <c:v>Accuracy</c:v>
                </c:pt>
              </c:strCache>
            </c:strRef>
          </c:tx>
          <c:spPr>
            <a:solidFill>
              <a:srgbClr val="1F7A45"/>
            </a:solidFill>
            <a:effectLst/>
          </c:spPr>
          <c:invertIfNegative val="0"/>
          <c:dLbls>
            <c:numFmt formatCode="0.0" sourceLinked="0"/>
            <c:txPr>
              <a:bodyPr/>
              <a:lstStyle/>
              <a:p>
                <a:pPr>
                  <a:defRPr b="1" i="0" strike="noStrike" sz="1000" u="none">
                    <a:solidFill>
                      <a:srgbClr val="1D2B24"/>
                    </a:solidFill>
                    <a:latin typeface="Calibri"/>
                  </a:defRPr>
                </a:pPr>
              </a:p>
            </c:txPr>
            <c:showLegendKey val="0"/>
            <c:showVal val="1"/>
            <c:showCatName val="0"/>
            <c:showSerName val="0"/>
            <c:showPercent val="0"/>
            <c:showBubbleSize val="0"/>
            <c:showLeaderLines val="0"/>
          </c:dLbls>
          <c:dPt>
            <c:idx val="0"/>
            <c:invertIfNegative val="0"/>
            <c:bubble3D val="0"/>
            <c:spPr>
              <a:solidFill>
                <a:srgbClr val="1F7A45"/>
              </a:solidFill>
              <a:effectLst/>
            </c:spPr>
          </c:dPt>
          <c:dPt>
            <c:idx val="1"/>
            <c:invertIfNegative val="0"/>
            <c:bubble3D val="0"/>
            <c:spPr>
              <a:solidFill>
                <a:srgbClr val="F0A21A"/>
              </a:solidFill>
              <a:effectLst/>
            </c:spPr>
          </c:dPt>
          <c:dPt>
            <c:idx val="2"/>
            <c:invertIfNegative val="0"/>
            <c:bubble3D val="0"/>
            <c:spPr>
              <a:solidFill>
                <a:srgbClr val="1F7A45"/>
              </a:solidFill>
              <a:effectLst/>
            </c:spPr>
          </c:dPt>
          <c:dPt>
            <c:idx val="3"/>
            <c:invertIfNegative val="0"/>
            <c:bubble3D val="0"/>
            <c:spPr>
              <a:solidFill>
                <a:srgbClr val="D2483F"/>
              </a:solidFill>
              <a:effectLst/>
            </c:spPr>
          </c:dPt>
          <c:cat>
            <c:multiLvlStrRef>
              <c:f>Sheet1!$A$2:$A$5</c:f>
              <c:multiLvlStrCache>
                <c:ptCount val="4"/>
                <c:lvl>
                  <c:pt idx="0">
                    <c:v>Short (&lt;=15 words)</c:v>
                  </c:pt>
                  <c:pt idx="1">
                    <c:v>Long (&gt;15 words)</c:v>
                  </c:pt>
                  <c:pt idx="2">
                    <c:v>Plain statement</c:v>
                  </c:pt>
                  <c:pt idx="3">
                    <c:v>Quoted slogan</c:v>
                  </c:pt>
                </c:lvl>
              </c:multiLvlStrCache>
            </c:multiLvlStrRef>
          </c:cat>
          <c:val>
            <c:numRef>
              <c:f>Sheet1!$B$2:$B$5</c:f>
              <c:numCache>
                <c:formatCode>General</c:formatCode>
                <c:ptCount val="4"/>
                <c:pt idx="0">
                  <c:v>72.4</c:v>
                </c:pt>
                <c:pt idx="1">
                  <c:v>65.9</c:v>
                </c:pt>
                <c:pt idx="2">
                  <c:v>71.7</c:v>
                </c:pt>
                <c:pt idx="3">
                  <c:v>58.1</c:v>
                </c:pt>
              </c:numCache>
            </c:numRef>
          </c:val>
        </c:ser>
        <c:dLbls>
          <c:numFmt formatCode="0.0" sourceLinked="0"/>
          <c:txPr>
            <a:bodyPr/>
            <a:lstStyle/>
            <a:p>
              <a:pPr>
                <a:defRPr b="1" i="0" strike="noStrike" sz="1000" u="none">
                  <a:solidFill>
                    <a:srgbClr val="1D2B24"/>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D2B24"/>
                </a:solidFill>
                <a:latin typeface="Calibri"/>
              </a:defRPr>
            </a:pPr>
            <a:endParaRPr lang="en-US"/>
          </a:p>
        </c:txPr>
        <c:crossAx val="2094734552"/>
        <c:crosses val="autoZero"/>
        <c:auto val="1"/>
        <c:lblAlgn val="ctr"/>
        <c:noMultiLvlLbl val="1"/>
      </c:catAx>
      <c:valAx>
        <c:axId val="2094734552"/>
        <c:scaling>
          <c:orientation val="minMax"/>
          <c:max val="100"/>
          <c:min val="0"/>
        </c:scaling>
        <c:delete val="1"/>
        <c:axPos val="b"/>
        <c:majorGridlines>
          <c:spPr>
            <a:ln w="6350" cap="flat">
              <a:solidFill>
                <a:srgbClr val="E3EA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F66"/>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3D26"/>
                </a:solidFill>
                <a:latin typeface="Calibri"/>
              </a:defRPr>
            </a:pPr>
            <a:r>
              <a:rPr sz="1100" b="0" i="0" u="none" strike="noStrike">
                <a:solidFill>
                  <a:srgbClr val="0F3D26"/>
                </a:solidFill>
                <a:latin typeface="Calibri"/>
              </a:rPr>
              <a:t>Flagged claims by company (top 6)</a:t>
            </a:r>
          </a:p>
        </c:rich>
      </c:tx>
      <c:layout/>
      <c:overlay val="0"/>
    </c:title>
    <c:autoTitleDeleted val="0"/>
    <c:plotArea>
      <c:layout/>
      <c:barChart>
        <c:barDir val="bar"/>
        <c:grouping val="clustered"/>
        <c:varyColors val="0"/>
        <c:ser>
          <c:idx val="0"/>
          <c:order val="0"/>
          <c:tx>
            <c:strRef>
              <c:f>Sheet1!$B$1</c:f>
              <c:strCache>
                <c:ptCount val="1"/>
                <c:pt idx="0">
                  <c:v>Flagged</c:v>
                </c:pt>
              </c:strCache>
            </c:strRef>
          </c:tx>
          <c:spPr>
            <a:solidFill>
              <a:srgbClr val="F0A21A"/>
            </a:solidFill>
            <a:effectLst/>
          </c:spPr>
          <c:invertIfNegative val="0"/>
          <c:dLbls>
            <c:numFmt formatCode="#,##0" sourceLinked="0"/>
            <c:txPr>
              <a:bodyPr/>
              <a:lstStyle/>
              <a:p>
                <a:pPr>
                  <a:defRPr b="0" i="0" strike="noStrike" sz="1000" u="none">
                    <a:solidFill>
                      <a:srgbClr val="1D2B2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Amazon</c:v>
                  </c:pt>
                  <c:pt idx="1">
                    <c:v>Starbucks</c:v>
                  </c:pt>
                  <c:pt idx="2">
                    <c:v>Shell</c:v>
                  </c:pt>
                  <c:pt idx="3">
                    <c:v>Nestlé</c:v>
                  </c:pt>
                  <c:pt idx="4">
                    <c:v>Lufthansa Grp</c:v>
                  </c:pt>
                  <c:pt idx="5">
                    <c:v>HSBC UK</c:v>
                  </c:pt>
                </c:lvl>
              </c:multiLvlStrCache>
            </c:multiLvlStrRef>
          </c:cat>
          <c:val>
            <c:numRef>
              <c:f>Sheet1!$B$2:$B$7</c:f>
              <c:numCache>
                <c:formatCode>General</c:formatCode>
                <c:ptCount val="6"/>
                <c:pt idx="0">
                  <c:v>93</c:v>
                </c:pt>
                <c:pt idx="1">
                  <c:v>20</c:v>
                </c:pt>
                <c:pt idx="2">
                  <c:v>17</c:v>
                </c:pt>
                <c:pt idx="3">
                  <c:v>12</c:v>
                </c:pt>
                <c:pt idx="4">
                  <c:v>9</c:v>
                </c:pt>
                <c:pt idx="5">
                  <c:v>6</c:v>
                </c:pt>
              </c:numCache>
            </c:numRef>
          </c:val>
        </c:ser>
        <c:dLbls>
          <c:numFmt formatCode="#,##0" sourceLinked="0"/>
          <c:txPr>
            <a:bodyPr/>
            <a:lstStyle/>
            <a:p>
              <a:pPr>
                <a:defRPr b="0" i="0" strike="noStrike" sz="1000" u="none">
                  <a:solidFill>
                    <a:srgbClr val="1D2B24"/>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D2B24"/>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F3D26"/>
                </a:solidFill>
                <a:latin typeface="Calibri"/>
              </a:defRPr>
            </a:pPr>
            <a:r>
              <a:rPr sz="1100" b="0" i="0" u="none" strike="noStrike">
                <a:solidFill>
                  <a:srgbClr val="0F3D26"/>
                </a:solidFill>
                <a:latin typeface="Calibri"/>
              </a:rPr>
              <a:t>Greenwashing type distribution</a:t>
            </a:r>
          </a:p>
        </c:rich>
      </c:tx>
      <c:layout/>
      <c:overlay val="0"/>
    </c:title>
    <c:autoTitleDeleted val="0"/>
    <c:plotArea>
      <c:layout/>
      <c:barChart>
        <c:barDir val="bar"/>
        <c:grouping val="clustered"/>
        <c:varyColors val="0"/>
        <c:ser>
          <c:idx val="0"/>
          <c:order val="0"/>
          <c:tx>
            <c:strRef>
              <c:f>Sheet1!$B$1</c:f>
              <c:strCache>
                <c:ptCount val="1"/>
                <c:pt idx="0">
                  <c:v>Claims</c:v>
                </c:pt>
              </c:strCache>
            </c:strRef>
          </c:tx>
          <c:spPr>
            <a:solidFill>
              <a:srgbClr val="1F7A45"/>
            </a:solidFill>
            <a:effectLst/>
          </c:spPr>
          <c:invertIfNegative val="0"/>
          <c:dLbls>
            <c:numFmt formatCode="#,##0" sourceLinked="0"/>
            <c:txPr>
              <a:bodyPr/>
              <a:lstStyle/>
              <a:p>
                <a:pPr>
                  <a:defRPr b="0" i="0" strike="noStrike" sz="1000" u="none">
                    <a:solidFill>
                      <a:srgbClr val="1D2B24"/>
                    </a:solidFill>
                    <a:latin typeface="Calibri"/>
                  </a:defRPr>
                </a:pPr>
              </a:p>
            </c:txPr>
            <c:showLegendKey val="0"/>
            <c:showVal val="1"/>
            <c:showCatName val="0"/>
            <c:showSerName val="0"/>
            <c:showPercent val="0"/>
            <c:showBubbleSize val="0"/>
            <c:showLeaderLines val="0"/>
          </c:dLbls>
          <c:cat>
            <c:multiLvlStrRef>
              <c:f>Sheet1!$A$2:$A$5</c:f>
              <c:multiLvlStrCache>
                <c:ptCount val="4"/>
                <c:lvl>
                  <c:pt idx="0">
                    <c:v>Misleading / vague label</c:v>
                  </c:pt>
                  <c:pt idx="1">
                    <c:v>Overgeneralization</c:v>
                  </c:pt>
                  <c:pt idx="2">
                    <c:v>Unsupported claim</c:v>
                  </c:pt>
                  <c:pt idx="3">
                    <c:v>Baseline as achievement</c:v>
                  </c:pt>
                </c:lvl>
              </c:multiLvlStrCache>
            </c:multiLvlStrRef>
          </c:cat>
          <c:val>
            <c:numRef>
              <c:f>Sheet1!$B$2:$B$5</c:f>
              <c:numCache>
                <c:formatCode>General</c:formatCode>
                <c:ptCount val="4"/>
                <c:pt idx="0">
                  <c:v>111</c:v>
                </c:pt>
                <c:pt idx="1">
                  <c:v>70</c:v>
                </c:pt>
                <c:pt idx="2">
                  <c:v>41</c:v>
                </c:pt>
                <c:pt idx="3">
                  <c:v>1</c:v>
                </c:pt>
              </c:numCache>
            </c:numRef>
          </c:val>
        </c:ser>
        <c:dLbls>
          <c:numFmt formatCode="#,##0" sourceLinked="0"/>
          <c:txPr>
            <a:bodyPr/>
            <a:lstStyle/>
            <a:p>
              <a:pPr>
                <a:defRPr b="0" i="0" strike="noStrike" sz="1000" u="none">
                  <a:solidFill>
                    <a:srgbClr val="1D2B24"/>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D2B24"/>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GreenLens: an explainable NLP system that audits environmental marketing claims. One-line pitch: it does not just say "greenwashing", it tells you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Greenwashing is when a company sounds more environmentally responsible than it can prove. The difficulty is that these claims are vague and there is no automatic, scalable way to screen them. Our goal is an auditor that flags and explains.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Each step is a separate Python module in our Colab notebook, so the pipeline is modular and each decision is traceable. The last step is what makes it explainable.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 claims: 225 labelled greenwashing (36%) and 395 not (64%), so the classes are imbalanced. The ML model trains on 434 and is tested on 186 unseen claims. Be upfront that the data is semi-synthetic, so absolute numbers should be revalidated on real ad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rule-based model encodes domain knowledge directly: vague terms, unsupported superlatives, broad scope words, and evidence markers such as numbers, dates and certifications. The ML model learns from data. We compare them on the same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Logistic Regression coefficients most associated with the greenwashing class. Notice "aims", "plans" and "2040": future targets get flagged more than completed, dated actions. That matches the most common pattern in the dataset, a future target or small pilot presented as an achieved company-wide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card worked example. The first claim is absolute with no date, so it is flagged at 78% confidence. Adding "on track" and "by 2025" turns it into a checkable commitment, and the model correctly leaves it unflagged. Claim B is the qualified version quoted in the model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 wins on accuracy 74.2 vs 69.4, precision 66.7 vs 58.6, recall 58.8 vs 52.9, and F1 0.625 vs 0.556. The honest caveat: the rule-based F1 uses all 620 claims while the ML F1 uses only the 186 held-out claims. Recall is still below 60%, so roughly four in ten greenwashing claims are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deliberately audited our own model for bias across claim length and claim style. Accuracy drops from 71.7% on plain statements to 58.1% on quoted slogans, and from 72.4% on short to 65.9% on long claims. Long-claim precision is just 0.379. This matters because real ads are slogan-heavy.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figures come from the GreenLens dashboard. 203 of 620 claims (33%) were flagged by the rule-based pass, which agrees with the gold labels on 69% of claims. Amazon has the most flagged claims (93), partly because it has the most claims in the dataset, so counts are not a ranking of company honesty. The most common type is misleading or vague labels (111), then overgeneralization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HTML dashboard here. Filter to Flagged, open a claim such as the Starbucks single-use cups claim, and show the highlighted words and reasons. Mention the CSV export for auditors.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honest limitations from our model card. The key framing: GreenLens is a triage tool for human reviewers, not a judge. It cannot prove intent, and it will miss some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then next steps that directly address the limitations: real ad data, more slogan training examples, clause-level scoring and evidence linking.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invite questions. Be ready to explain: why the F1 comparison is not strictly like-for-like, why Amazon has so many flagged claims, and why the tool is for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4E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lstStyle>
            <a:lvl1pPr algn="l" indent="0" marL="0">
              <a:buNone/>
              <a:defRPr lang="en-US" sz="2600" b="1" dirty="0">
                <a:solidFill>
                  <a:srgbClr val="0F3D26"/>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Shape 0"/>
          <p:cNvSpPr/>
          <p:nvPr/>
        </p:nvSpPr>
        <p:spPr>
          <a:xfrm>
            <a:off x="457200" y="868680"/>
            <a:ext cx="640080" cy="45720"/>
          </a:xfrm>
          <a:prstGeom prst="rect">
            <a:avLst/>
          </a:prstGeom>
          <a:solidFill>
            <a:srgbClr val="F0A21A"/>
          </a:solidFill>
          <a:ln/>
        </p:spPr>
      </p:sp>
      <p:sp>
        <p:nvSpPr>
          <p:cNvPr id="4" name="Text 1"/>
          <p:cNvSpPr/>
          <p:nvPr/>
        </p:nvSpPr>
        <p:spPr>
          <a:xfrm>
            <a:off x="457200" y="4846320"/>
            <a:ext cx="5943600" cy="201168"/>
          </a:xfrm>
          <a:prstGeom prst="rect">
            <a:avLst/>
          </a:prstGeom>
          <a:noFill/>
          <a:ln/>
        </p:spPr>
        <p:txBody>
          <a:bodyPr wrap="square" lIns="0" tIns="0" rIns="0" bIns="0" rtlCol="0" anchor="ctr"/>
          <a:lstStyle/>
          <a:p>
            <a:pPr indent="0" marL="0">
              <a:buNone/>
            </a:pPr>
            <a:r>
              <a:rPr lang="en-US" sz="800" dirty="0">
                <a:solidFill>
                  <a:srgbClr val="5F6F66"/>
                </a:solidFill>
              </a:rPr>
              <a:t>GreenLens  |  NLP CA3  |  Symbiosis Institute of Artificial Intelligence</a:t>
            </a:r>
            <a:endParaRPr lang="en-US" sz="8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3D26"/>
        </a:solidFill>
      </p:bgPr>
    </p:bg>
    <p:spTree>
      <p:nvGrpSpPr>
        <p:cNvPr id="1" name=""/>
        <p:cNvGrpSpPr/>
        <p:nvPr/>
      </p:nvGrpSpPr>
      <p:grpSpPr>
        <a:xfrm>
          <a:off x="0" y="0"/>
          <a:ext cx="0" cy="0"/>
          <a:chOff x="0" y="0"/>
          <a:chExt cx="0" cy="0"/>
        </a:xfrm>
      </p:grpSpPr>
      <p:sp>
        <p:nvSpPr>
          <p:cNvPr id="2" name="Text 0"/>
          <p:cNvSpPr/>
          <p:nvPr/>
        </p:nvSpPr>
        <p:spPr>
          <a:xfrm>
            <a:off x="457200" y="4846320"/>
            <a:ext cx="5943600" cy="201168"/>
          </a:xfrm>
          <a:prstGeom prst="rect">
            <a:avLst/>
          </a:prstGeom>
          <a:noFill/>
          <a:ln/>
        </p:spPr>
        <p:txBody>
          <a:bodyPr wrap="square" lIns="0" tIns="0" rIns="0" bIns="0" rtlCol="0" anchor="ctr"/>
          <a:lstStyle/>
          <a:p>
            <a:pPr indent="0" marL="0">
              <a:buNone/>
            </a:pPr>
            <a:r>
              <a:rPr lang="en-US" sz="800" dirty="0">
                <a:solidFill>
                  <a:srgbClr val="9FC4AD"/>
                </a:solidFill>
              </a:rPr>
              <a:t>GreenLens  |  NLP CA3  |  Symbiosis Institute of Artificial Intelligence</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0" y="502920"/>
            <a:ext cx="3383280" cy="3383280"/>
          </a:xfrm>
          <a:prstGeom prst="ellipse">
            <a:avLst/>
          </a:prstGeom>
          <a:solidFill>
            <a:srgbClr val="14502F"/>
          </a:solidFill>
          <a:ln w="19050">
            <a:solidFill>
              <a:srgbClr val="1F7A45"/>
            </a:solidFill>
            <a:prstDash val="solid"/>
          </a:ln>
        </p:spPr>
      </p:sp>
      <p:sp>
        <p:nvSpPr>
          <p:cNvPr id="3" name="Shape 1"/>
          <p:cNvSpPr/>
          <p:nvPr/>
        </p:nvSpPr>
        <p:spPr>
          <a:xfrm>
            <a:off x="5989320" y="1005840"/>
            <a:ext cx="2377440" cy="2377440"/>
          </a:xfrm>
          <a:prstGeom prst="ellipse">
            <a:avLst/>
          </a:prstGeom>
          <a:solidFill>
            <a:srgbClr val="1F7A45"/>
          </a:solidFill>
          <a:ln w="19050">
            <a:solidFill>
              <a:srgbClr val="3FAE6A"/>
            </a:solidFill>
            <a:prstDash val="solid"/>
          </a:ln>
        </p:spPr>
      </p:sp>
      <p:sp>
        <p:nvSpPr>
          <p:cNvPr id="4" name="Shape 2"/>
          <p:cNvSpPr/>
          <p:nvPr/>
        </p:nvSpPr>
        <p:spPr>
          <a:xfrm>
            <a:off x="6446520" y="1463040"/>
            <a:ext cx="1463040" cy="1463040"/>
          </a:xfrm>
          <a:prstGeom prst="ellipse">
            <a:avLst/>
          </a:prstGeom>
          <a:solidFill>
            <a:srgbClr val="F7F4EC"/>
          </a:solidFill>
          <a:ln w="12700">
            <a:solidFill>
              <a:srgbClr val="F7F4EC"/>
            </a:solidFill>
            <a:prstDash val="solid"/>
          </a:ln>
        </p:spPr>
      </p:sp>
      <p:pic>
        <p:nvPicPr>
          <p:cNvPr id="5" name="Image 0" descr="preencoded.png">    </p:cNvPr>
          <p:cNvPicPr>
            <a:picLocks noChangeAspect="1"/>
          </p:cNvPicPr>
          <p:nvPr/>
        </p:nvPicPr>
        <p:blipFill>
          <a:blip r:embed="rId1"/>
          <a:stretch>
            <a:fillRect/>
          </a:stretch>
        </p:blipFill>
        <p:spPr>
          <a:xfrm>
            <a:off x="6858000" y="1874520"/>
            <a:ext cx="640080" cy="640080"/>
          </a:xfrm>
          <a:prstGeom prst="rect">
            <a:avLst/>
          </a:prstGeom>
        </p:spPr>
      </p:pic>
      <p:sp>
        <p:nvSpPr>
          <p:cNvPr id="6" name="Shape 3"/>
          <p:cNvSpPr/>
          <p:nvPr/>
        </p:nvSpPr>
        <p:spPr>
          <a:xfrm>
            <a:off x="8092440" y="640080"/>
            <a:ext cx="548640" cy="548640"/>
          </a:xfrm>
          <a:prstGeom prst="ellipse">
            <a:avLst/>
          </a:prstGeom>
          <a:solidFill>
            <a:srgbClr val="F0A21A"/>
          </a:solidFill>
          <a:ln w="12700">
            <a:solidFill>
              <a:srgbClr val="F0A21A"/>
            </a:solidFill>
            <a:prstDash val="solid"/>
          </a:ln>
        </p:spPr>
      </p:sp>
      <p:pic>
        <p:nvPicPr>
          <p:cNvPr id="7" name="Image 1" descr="preencoded.png">    </p:cNvPr>
          <p:cNvPicPr>
            <a:picLocks noChangeAspect="1"/>
          </p:cNvPicPr>
          <p:nvPr/>
        </p:nvPicPr>
        <p:blipFill>
          <a:blip r:embed="rId2"/>
          <a:stretch>
            <a:fillRect/>
          </a:stretch>
        </p:blipFill>
        <p:spPr>
          <a:xfrm>
            <a:off x="8229600" y="777240"/>
            <a:ext cx="274320" cy="274320"/>
          </a:xfrm>
          <a:prstGeom prst="rect">
            <a:avLst/>
          </a:prstGeom>
        </p:spPr>
      </p:pic>
      <p:sp>
        <p:nvSpPr>
          <p:cNvPr id="8" name="Shape 4"/>
          <p:cNvSpPr/>
          <p:nvPr/>
        </p:nvSpPr>
        <p:spPr>
          <a:xfrm>
            <a:off x="5532120" y="3246120"/>
            <a:ext cx="502920" cy="502920"/>
          </a:xfrm>
          <a:prstGeom prst="ellipse">
            <a:avLst/>
          </a:prstGeom>
          <a:solidFill>
            <a:srgbClr val="3FAE6A"/>
          </a:solidFill>
          <a:ln w="12700">
            <a:solidFill>
              <a:srgbClr val="3FAE6A"/>
            </a:solidFill>
            <a:prstDash val="solid"/>
          </a:ln>
        </p:spPr>
      </p:sp>
      <p:pic>
        <p:nvPicPr>
          <p:cNvPr id="9" name="Image 2" descr="preencoded.png">    </p:cNvPr>
          <p:cNvPicPr>
            <a:picLocks noChangeAspect="1"/>
          </p:cNvPicPr>
          <p:nvPr/>
        </p:nvPicPr>
        <p:blipFill>
          <a:blip r:embed="rId3"/>
          <a:stretch>
            <a:fillRect/>
          </a:stretch>
        </p:blipFill>
        <p:spPr>
          <a:xfrm>
            <a:off x="5657850" y="3371850"/>
            <a:ext cx="251460" cy="251460"/>
          </a:xfrm>
          <a:prstGeom prst="rect">
            <a:avLst/>
          </a:prstGeom>
        </p:spPr>
      </p:pic>
      <p:sp>
        <p:nvSpPr>
          <p:cNvPr id="10" name="Text 5"/>
          <p:cNvSpPr txBox="1"/>
          <p:nvPr/>
        </p:nvSpPr>
        <p:spPr>
          <a:xfrm>
            <a:off x="548640" y="685800"/>
            <a:ext cx="4572000" cy="274320"/>
          </a:xfrm>
          <a:prstGeom prst="rect">
            <a:avLst/>
          </a:prstGeom>
          <a:noFill/>
          <a:ln/>
        </p:spPr>
        <p:txBody>
          <a:bodyPr wrap="square" lIns="0" tIns="0" rIns="0" bIns="0" rtlCol="0" anchor="t"/>
          <a:lstStyle/>
          <a:p>
            <a:pPr indent="0" marL="0">
              <a:buNone/>
            </a:pPr>
            <a:r>
              <a:rPr lang="en-US" sz="1100" b="1" spc="300" kern="0" dirty="0">
                <a:solidFill>
                  <a:srgbClr val="F0A21A"/>
                </a:solidFill>
                <a:latin typeface="Calibri" pitchFamily="34" charset="0"/>
                <a:ea typeface="Calibri" pitchFamily="34" charset="-122"/>
                <a:cs typeface="Calibri" pitchFamily="34" charset="-120"/>
              </a:rPr>
              <a:t>NLP CA3  ·  EXPLAINABLE AI</a:t>
            </a:r>
            <a:endParaRPr lang="en-US" sz="1100" dirty="0"/>
          </a:p>
        </p:txBody>
      </p:sp>
      <p:sp>
        <p:nvSpPr>
          <p:cNvPr id="11" name="Text 6"/>
          <p:cNvSpPr txBox="1"/>
          <p:nvPr/>
        </p:nvSpPr>
        <p:spPr>
          <a:xfrm>
            <a:off x="548640" y="1051560"/>
            <a:ext cx="4754880" cy="82296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GreenLens</a:t>
            </a:r>
            <a:endParaRPr lang="en-US" sz="4800" dirty="0"/>
          </a:p>
        </p:txBody>
      </p:sp>
      <p:sp>
        <p:nvSpPr>
          <p:cNvPr id="12" name="Text 7"/>
          <p:cNvSpPr txBox="1"/>
          <p:nvPr/>
        </p:nvSpPr>
        <p:spPr>
          <a:xfrm>
            <a:off x="548640" y="1874520"/>
            <a:ext cx="4754880" cy="457200"/>
          </a:xfrm>
          <a:prstGeom prst="rect">
            <a:avLst/>
          </a:prstGeom>
          <a:noFill/>
          <a:ln/>
        </p:spPr>
        <p:txBody>
          <a:bodyPr wrap="square" lIns="0" tIns="0" rIns="0" bIns="0" rtlCol="0" anchor="t"/>
          <a:lstStyle/>
          <a:p>
            <a:pPr indent="0" marL="0">
              <a:buNone/>
            </a:pPr>
            <a:r>
              <a:rPr lang="en-US" sz="2200" dirty="0">
                <a:solidFill>
                  <a:srgbClr val="CFE6D6"/>
                </a:solidFill>
                <a:latin typeface="Cambria" pitchFamily="34" charset="0"/>
                <a:ea typeface="Cambria" pitchFamily="34" charset="-122"/>
                <a:cs typeface="Cambria" pitchFamily="34" charset="-120"/>
              </a:rPr>
              <a:t>Catching Greenwashing with AI</a:t>
            </a:r>
            <a:endParaRPr lang="en-US" sz="2200" dirty="0"/>
          </a:p>
        </p:txBody>
      </p:sp>
      <p:sp>
        <p:nvSpPr>
          <p:cNvPr id="13" name="Text 8"/>
          <p:cNvSpPr txBox="1"/>
          <p:nvPr/>
        </p:nvSpPr>
        <p:spPr>
          <a:xfrm>
            <a:off x="548640" y="2468880"/>
            <a:ext cx="4480560" cy="640080"/>
          </a:xfrm>
          <a:prstGeom prst="rect">
            <a:avLst/>
          </a:prstGeom>
          <a:noFill/>
          <a:ln/>
        </p:spPr>
        <p:txBody>
          <a:bodyPr wrap="square" lIns="0" tIns="0" rIns="0" bIns="0" rtlCol="0" anchor="t"/>
          <a:lstStyle/>
          <a:p>
            <a:pPr indent="0" marL="0">
              <a:buNone/>
            </a:pPr>
            <a:r>
              <a:rPr lang="en-US" sz="1300" dirty="0">
                <a:solidFill>
                  <a:srgbClr val="9FC4AD"/>
                </a:solidFill>
                <a:latin typeface="Calibri" pitchFamily="34" charset="0"/>
                <a:ea typeface="Calibri" pitchFamily="34" charset="-122"/>
                <a:cs typeface="Calibri" pitchFamily="34" charset="-120"/>
              </a:rPr>
              <a:t>An explainable NLP auditor that flags misleading environmental claims in advertising and shows why.</a:t>
            </a:r>
            <a:endParaRPr lang="en-US" sz="1300" dirty="0"/>
          </a:p>
        </p:txBody>
      </p:sp>
      <p:sp>
        <p:nvSpPr>
          <p:cNvPr id="14" name="Shape 9"/>
          <p:cNvSpPr/>
          <p:nvPr/>
        </p:nvSpPr>
        <p:spPr>
          <a:xfrm>
            <a:off x="548640" y="3429000"/>
            <a:ext cx="4389120" cy="0"/>
          </a:xfrm>
          <a:prstGeom prst="line">
            <a:avLst/>
          </a:prstGeom>
          <a:noFill/>
          <a:ln w="12700">
            <a:solidFill>
              <a:srgbClr val="2E6B49"/>
            </a:solidFill>
            <a:prstDash val="solid"/>
          </a:ln>
        </p:spPr>
      </p:sp>
      <p:sp>
        <p:nvSpPr>
          <p:cNvPr id="15" name="Text 10"/>
          <p:cNvSpPr txBox="1"/>
          <p:nvPr/>
        </p:nvSpPr>
        <p:spPr>
          <a:xfrm>
            <a:off x="548640" y="3566160"/>
            <a:ext cx="4754880" cy="8229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Maitrayee Mishra  ·  25030422066</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Aina Jain  ·  25030422012</a:t>
            </a:r>
            <a:endParaRPr lang="en-US" sz="1200" dirty="0"/>
          </a:p>
          <a:p>
            <a:pPr indent="0" marL="0">
              <a:buNone/>
            </a:pPr>
            <a:r>
              <a:rPr lang="en-US" sz="1200" dirty="0">
                <a:solidFill>
                  <a:srgbClr val="9FC4AD"/>
                </a:solidFill>
                <a:latin typeface="Calibri" pitchFamily="34" charset="0"/>
                <a:ea typeface="Calibri" pitchFamily="34" charset="-122"/>
                <a:cs typeface="Calibri" pitchFamily="34" charset="-120"/>
              </a:rPr>
              <a:t>Symbiosis Institute of Artificial Intelligence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The Problem: Green Claims Are Hard to Verify</a:t>
            </a:r>
            <a:endParaRPr lang="en-US" sz="2600" dirty="0"/>
          </a:p>
        </p:txBody>
      </p:sp>
      <p:sp>
        <p:nvSpPr>
          <p:cNvPr id="3" name="Shape 1"/>
          <p:cNvSpPr/>
          <p:nvPr/>
        </p:nvSpPr>
        <p:spPr>
          <a:xfrm>
            <a:off x="457200" y="1143000"/>
            <a:ext cx="3291840" cy="2697480"/>
          </a:xfrm>
          <a:prstGeom prst="roundRect">
            <a:avLst>
              <a:gd name="adj" fmla="val 2712"/>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640080" y="1280160"/>
            <a:ext cx="384048" cy="384048"/>
          </a:xfrm>
          <a:prstGeom prst="ellipse">
            <a:avLst/>
          </a:prstGeom>
          <a:solidFill>
            <a:srgbClr val="1F7A45"/>
          </a:solidFill>
          <a:ln w="12700">
            <a:solidFill>
              <a:srgbClr val="1F7A45"/>
            </a:solidFill>
            <a:prstDash val="solid"/>
          </a:ln>
        </p:spPr>
      </p:sp>
      <p:pic>
        <p:nvPicPr>
          <p:cNvPr id="5" name="Image 0" descr="preencoded.png">    </p:cNvPr>
          <p:cNvPicPr>
            <a:picLocks noChangeAspect="1"/>
          </p:cNvPicPr>
          <p:nvPr/>
        </p:nvPicPr>
        <p:blipFill>
          <a:blip r:embed="rId1"/>
          <a:stretch>
            <a:fillRect/>
          </a:stretch>
        </p:blipFill>
        <p:spPr>
          <a:xfrm>
            <a:off x="736092" y="1376172"/>
            <a:ext cx="192024" cy="192024"/>
          </a:xfrm>
          <a:prstGeom prst="rect">
            <a:avLst/>
          </a:prstGeom>
        </p:spPr>
      </p:pic>
      <p:sp>
        <p:nvSpPr>
          <p:cNvPr id="6" name="Text 3"/>
          <p:cNvSpPr txBox="1"/>
          <p:nvPr/>
        </p:nvSpPr>
        <p:spPr>
          <a:xfrm>
            <a:off x="1115568" y="1280160"/>
            <a:ext cx="2286000" cy="384048"/>
          </a:xfrm>
          <a:prstGeom prst="rect">
            <a:avLst/>
          </a:prstGeom>
          <a:noFill/>
          <a:ln/>
        </p:spPr>
        <p:txBody>
          <a:bodyPr wrap="square" lIns="0" tIns="0" rIns="0" bIns="0" rtlCol="0" anchor="ctr"/>
          <a:lstStyle/>
          <a:p>
            <a:pPr indent="0" marL="0">
              <a:buNone/>
            </a:pPr>
            <a:r>
              <a:rPr lang="en-US" sz="1000" b="1" spc="200" kern="0" dirty="0">
                <a:solidFill>
                  <a:srgbClr val="5F6F66"/>
                </a:solidFill>
                <a:latin typeface="Calibri" pitchFamily="34" charset="0"/>
                <a:ea typeface="Calibri" pitchFamily="34" charset="-122"/>
                <a:cs typeface="Calibri" pitchFamily="34" charset="-120"/>
              </a:rPr>
              <a:t>ADVERTISEMENT</a:t>
            </a:r>
            <a:endParaRPr lang="en-US" sz="1000" dirty="0"/>
          </a:p>
        </p:txBody>
      </p:sp>
      <p:sp>
        <p:nvSpPr>
          <p:cNvPr id="7" name="Shape 4"/>
          <p:cNvSpPr/>
          <p:nvPr/>
        </p:nvSpPr>
        <p:spPr>
          <a:xfrm>
            <a:off x="685800" y="1874520"/>
            <a:ext cx="1417320" cy="329184"/>
          </a:xfrm>
          <a:prstGeom prst="roundRect">
            <a:avLst>
              <a:gd name="adj" fmla="val 38889"/>
            </a:avLst>
          </a:prstGeom>
          <a:solidFill>
            <a:srgbClr val="E8F3EA"/>
          </a:solidFill>
          <a:ln w="9525">
            <a:solidFill>
              <a:srgbClr val="3FAE6A"/>
            </a:solidFill>
            <a:prstDash val="solid"/>
          </a:ln>
        </p:spPr>
      </p:sp>
      <p:sp>
        <p:nvSpPr>
          <p:cNvPr id="8" name="Text 5"/>
          <p:cNvSpPr txBox="1"/>
          <p:nvPr/>
        </p:nvSpPr>
        <p:spPr>
          <a:xfrm>
            <a:off x="685800" y="1874520"/>
            <a:ext cx="1417320" cy="329184"/>
          </a:xfrm>
          <a:prstGeom prst="rect">
            <a:avLst/>
          </a:prstGeom>
          <a:noFill/>
          <a:ln/>
        </p:spPr>
        <p:txBody>
          <a:bodyPr wrap="square" lIns="0" tIns="0" rIns="0" bIns="0" rtlCol="0" anchor="ctr"/>
          <a:lstStyle/>
          <a:p>
            <a:pPr algn="ctr" indent="0" marL="0">
              <a:buNone/>
            </a:pPr>
            <a:r>
              <a:rPr lang="en-US" sz="1050" b="1" dirty="0">
                <a:solidFill>
                  <a:srgbClr val="1F7A45"/>
                </a:solidFill>
                <a:latin typeface="Calibri" pitchFamily="34" charset="0"/>
                <a:ea typeface="Calibri" pitchFamily="34" charset="-122"/>
                <a:cs typeface="Calibri" pitchFamily="34" charset="-120"/>
              </a:rPr>
              <a:t>"Eco-Friendly"</a:t>
            </a:r>
            <a:endParaRPr lang="en-US" sz="1050" dirty="0"/>
          </a:p>
        </p:txBody>
      </p:sp>
      <p:sp>
        <p:nvSpPr>
          <p:cNvPr id="9" name="Shape 6"/>
          <p:cNvSpPr/>
          <p:nvPr/>
        </p:nvSpPr>
        <p:spPr>
          <a:xfrm>
            <a:off x="2240280" y="1874520"/>
            <a:ext cx="1234440" cy="329184"/>
          </a:xfrm>
          <a:prstGeom prst="roundRect">
            <a:avLst>
              <a:gd name="adj" fmla="val 38889"/>
            </a:avLst>
          </a:prstGeom>
          <a:solidFill>
            <a:srgbClr val="E8F3EA"/>
          </a:solidFill>
          <a:ln w="9525">
            <a:solidFill>
              <a:srgbClr val="3FAE6A"/>
            </a:solidFill>
            <a:prstDash val="solid"/>
          </a:ln>
        </p:spPr>
      </p:sp>
      <p:sp>
        <p:nvSpPr>
          <p:cNvPr id="10" name="Text 7"/>
          <p:cNvSpPr txBox="1"/>
          <p:nvPr/>
        </p:nvSpPr>
        <p:spPr>
          <a:xfrm>
            <a:off x="2240280" y="1874520"/>
            <a:ext cx="1234440" cy="329184"/>
          </a:xfrm>
          <a:prstGeom prst="rect">
            <a:avLst/>
          </a:prstGeom>
          <a:noFill/>
          <a:ln/>
        </p:spPr>
        <p:txBody>
          <a:bodyPr wrap="square" lIns="0" tIns="0" rIns="0" bIns="0" rtlCol="0" anchor="ctr"/>
          <a:lstStyle/>
          <a:p>
            <a:pPr algn="ctr" indent="0" marL="0">
              <a:buNone/>
            </a:pPr>
            <a:r>
              <a:rPr lang="en-US" sz="1050" b="1" dirty="0">
                <a:solidFill>
                  <a:srgbClr val="1F7A45"/>
                </a:solidFill>
                <a:latin typeface="Calibri" pitchFamily="34" charset="0"/>
                <a:ea typeface="Calibri" pitchFamily="34" charset="-122"/>
                <a:cs typeface="Calibri" pitchFamily="34" charset="-120"/>
              </a:rPr>
              <a:t>"Green"</a:t>
            </a:r>
            <a:endParaRPr lang="en-US" sz="1050" dirty="0"/>
          </a:p>
        </p:txBody>
      </p:sp>
      <p:sp>
        <p:nvSpPr>
          <p:cNvPr id="11" name="Shape 8"/>
          <p:cNvSpPr/>
          <p:nvPr/>
        </p:nvSpPr>
        <p:spPr>
          <a:xfrm>
            <a:off x="685800" y="2331720"/>
            <a:ext cx="1417320" cy="329184"/>
          </a:xfrm>
          <a:prstGeom prst="roundRect">
            <a:avLst>
              <a:gd name="adj" fmla="val 38889"/>
            </a:avLst>
          </a:prstGeom>
          <a:solidFill>
            <a:srgbClr val="E8F3EA"/>
          </a:solidFill>
          <a:ln w="9525">
            <a:solidFill>
              <a:srgbClr val="3FAE6A"/>
            </a:solidFill>
            <a:prstDash val="solid"/>
          </a:ln>
        </p:spPr>
      </p:sp>
      <p:sp>
        <p:nvSpPr>
          <p:cNvPr id="12" name="Text 9"/>
          <p:cNvSpPr txBox="1"/>
          <p:nvPr/>
        </p:nvSpPr>
        <p:spPr>
          <a:xfrm>
            <a:off x="685800" y="2331720"/>
            <a:ext cx="1417320" cy="329184"/>
          </a:xfrm>
          <a:prstGeom prst="rect">
            <a:avLst/>
          </a:prstGeom>
          <a:noFill/>
          <a:ln/>
        </p:spPr>
        <p:txBody>
          <a:bodyPr wrap="square" lIns="0" tIns="0" rIns="0" bIns="0" rtlCol="0" anchor="ctr"/>
          <a:lstStyle/>
          <a:p>
            <a:pPr algn="ctr" indent="0" marL="0">
              <a:buNone/>
            </a:pPr>
            <a:r>
              <a:rPr lang="en-US" sz="1050" b="1" dirty="0">
                <a:solidFill>
                  <a:srgbClr val="1F7A45"/>
                </a:solidFill>
                <a:latin typeface="Calibri" pitchFamily="34" charset="0"/>
                <a:ea typeface="Calibri" pitchFamily="34" charset="-122"/>
                <a:cs typeface="Calibri" pitchFamily="34" charset="-120"/>
              </a:rPr>
              <a:t>"Sustainable"</a:t>
            </a:r>
            <a:endParaRPr lang="en-US" sz="1050" dirty="0"/>
          </a:p>
        </p:txBody>
      </p:sp>
      <p:sp>
        <p:nvSpPr>
          <p:cNvPr id="13" name="Shape 10"/>
          <p:cNvSpPr/>
          <p:nvPr/>
        </p:nvSpPr>
        <p:spPr>
          <a:xfrm>
            <a:off x="2240280" y="2331720"/>
            <a:ext cx="1234440" cy="329184"/>
          </a:xfrm>
          <a:prstGeom prst="roundRect">
            <a:avLst>
              <a:gd name="adj" fmla="val 38889"/>
            </a:avLst>
          </a:prstGeom>
          <a:solidFill>
            <a:srgbClr val="E8F3EA"/>
          </a:solidFill>
          <a:ln w="9525">
            <a:solidFill>
              <a:srgbClr val="3FAE6A"/>
            </a:solidFill>
            <a:prstDash val="solid"/>
          </a:ln>
        </p:spPr>
      </p:sp>
      <p:sp>
        <p:nvSpPr>
          <p:cNvPr id="14" name="Text 11"/>
          <p:cNvSpPr txBox="1"/>
          <p:nvPr/>
        </p:nvSpPr>
        <p:spPr>
          <a:xfrm>
            <a:off x="2240280" y="2331720"/>
            <a:ext cx="1234440" cy="329184"/>
          </a:xfrm>
          <a:prstGeom prst="rect">
            <a:avLst/>
          </a:prstGeom>
          <a:noFill/>
          <a:ln/>
        </p:spPr>
        <p:txBody>
          <a:bodyPr wrap="square" lIns="0" tIns="0" rIns="0" bIns="0" rtlCol="0" anchor="ctr"/>
          <a:lstStyle/>
          <a:p>
            <a:pPr algn="ctr" indent="0" marL="0">
              <a:buNone/>
            </a:pPr>
            <a:r>
              <a:rPr lang="en-US" sz="1050" b="1" dirty="0">
                <a:solidFill>
                  <a:srgbClr val="1F7A45"/>
                </a:solidFill>
                <a:latin typeface="Calibri" pitchFamily="34" charset="0"/>
                <a:ea typeface="Calibri" pitchFamily="34" charset="-122"/>
                <a:cs typeface="Calibri" pitchFamily="34" charset="-120"/>
              </a:rPr>
              <a:t>"Net Zero"</a:t>
            </a:r>
            <a:endParaRPr lang="en-US" sz="1050" dirty="0"/>
          </a:p>
        </p:txBody>
      </p:sp>
      <p:sp>
        <p:nvSpPr>
          <p:cNvPr id="15" name="Shape 12"/>
          <p:cNvSpPr/>
          <p:nvPr/>
        </p:nvSpPr>
        <p:spPr>
          <a:xfrm>
            <a:off x="685800" y="2788920"/>
            <a:ext cx="2788920" cy="329184"/>
          </a:xfrm>
          <a:prstGeom prst="roundRect">
            <a:avLst>
              <a:gd name="adj" fmla="val 38889"/>
            </a:avLst>
          </a:prstGeom>
          <a:solidFill>
            <a:srgbClr val="FDF1D6"/>
          </a:solidFill>
          <a:ln w="9525">
            <a:solidFill>
              <a:srgbClr val="F0A21A"/>
            </a:solidFill>
            <a:prstDash val="solid"/>
          </a:ln>
        </p:spPr>
      </p:sp>
      <p:sp>
        <p:nvSpPr>
          <p:cNvPr id="16" name="Text 13"/>
          <p:cNvSpPr txBox="1"/>
          <p:nvPr/>
        </p:nvSpPr>
        <p:spPr>
          <a:xfrm>
            <a:off x="685800" y="2788920"/>
            <a:ext cx="2788920" cy="329184"/>
          </a:xfrm>
          <a:prstGeom prst="rect">
            <a:avLst/>
          </a:prstGeom>
          <a:noFill/>
          <a:ln/>
        </p:spPr>
        <p:txBody>
          <a:bodyPr wrap="square" lIns="0" tIns="0" rIns="0" bIns="0" rtlCol="0" anchor="ctr"/>
          <a:lstStyle/>
          <a:p>
            <a:pPr algn="ctr" indent="0" marL="0">
              <a:buNone/>
            </a:pPr>
            <a:r>
              <a:rPr lang="en-US" sz="1050" b="1" dirty="0">
                <a:solidFill>
                  <a:srgbClr val="8A5A00"/>
                </a:solidFill>
                <a:latin typeface="Calibri" pitchFamily="34" charset="0"/>
                <a:ea typeface="Calibri" pitchFamily="34" charset="-122"/>
                <a:cs typeface="Calibri" pitchFamily="34" charset="-120"/>
              </a:rPr>
              <a:t>"Better for the Planet"</a:t>
            </a:r>
            <a:endParaRPr lang="en-US" sz="1050" dirty="0"/>
          </a:p>
        </p:txBody>
      </p:sp>
      <p:sp>
        <p:nvSpPr>
          <p:cNvPr id="17" name="Text 14"/>
          <p:cNvSpPr txBox="1"/>
          <p:nvPr/>
        </p:nvSpPr>
        <p:spPr>
          <a:xfrm>
            <a:off x="685800" y="3246120"/>
            <a:ext cx="2788920" cy="365760"/>
          </a:xfrm>
          <a:prstGeom prst="rect">
            <a:avLst/>
          </a:prstGeom>
          <a:noFill/>
          <a:ln/>
        </p:spPr>
        <p:txBody>
          <a:bodyPr wrap="square" lIns="0" tIns="0" rIns="0" bIns="0" rtlCol="0" anchor="t"/>
          <a:lstStyle/>
          <a:p>
            <a:pPr algn="ctr" indent="0" marL="0">
              <a:buNone/>
            </a:pPr>
            <a:r>
              <a:rPr lang="en-US" sz="1300" i="1" dirty="0">
                <a:solidFill>
                  <a:srgbClr val="1F7A45"/>
                </a:solidFill>
                <a:latin typeface="Cambria" pitchFamily="34" charset="0"/>
                <a:ea typeface="Cambria" pitchFamily="34" charset="-122"/>
                <a:cs typeface="Cambria" pitchFamily="34" charset="-120"/>
              </a:rPr>
              <a:t>Sounds good. Proves nothing.</a:t>
            </a:r>
            <a:endParaRPr lang="en-US" sz="1300" dirty="0"/>
          </a:p>
        </p:txBody>
      </p:sp>
      <p:sp>
        <p:nvSpPr>
          <p:cNvPr id="18" name="Shape 15"/>
          <p:cNvSpPr/>
          <p:nvPr/>
        </p:nvSpPr>
        <p:spPr>
          <a:xfrm>
            <a:off x="4023360" y="1143000"/>
            <a:ext cx="4663440" cy="841248"/>
          </a:xfrm>
          <a:prstGeom prst="roundRect">
            <a:avLst>
              <a:gd name="adj" fmla="val 8696"/>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4187952" y="1325880"/>
            <a:ext cx="475488" cy="475488"/>
          </a:xfrm>
          <a:prstGeom prst="ellipse">
            <a:avLst/>
          </a:prstGeom>
          <a:solidFill>
            <a:srgbClr val="1F7A45"/>
          </a:solidFill>
          <a:ln w="12700">
            <a:solidFill>
              <a:srgbClr val="1F7A45"/>
            </a:solidFill>
            <a:prstDash val="solid"/>
          </a:ln>
        </p:spPr>
      </p:sp>
      <p:pic>
        <p:nvPicPr>
          <p:cNvPr id="20" name="Image 1" descr="preencoded.png">    </p:cNvPr>
          <p:cNvPicPr>
            <a:picLocks noChangeAspect="1"/>
          </p:cNvPicPr>
          <p:nvPr/>
        </p:nvPicPr>
        <p:blipFill>
          <a:blip r:embed="rId2"/>
          <a:stretch>
            <a:fillRect/>
          </a:stretch>
        </p:blipFill>
        <p:spPr>
          <a:xfrm>
            <a:off x="4306824" y="1444752"/>
            <a:ext cx="237744" cy="237744"/>
          </a:xfrm>
          <a:prstGeom prst="rect">
            <a:avLst/>
          </a:prstGeom>
        </p:spPr>
      </p:pic>
      <p:sp>
        <p:nvSpPr>
          <p:cNvPr id="21" name="Text 17"/>
          <p:cNvSpPr txBox="1"/>
          <p:nvPr/>
        </p:nvSpPr>
        <p:spPr>
          <a:xfrm>
            <a:off x="4800600" y="1234440"/>
            <a:ext cx="3749040" cy="256032"/>
          </a:xfrm>
          <a:prstGeom prst="rect">
            <a:avLst/>
          </a:prstGeom>
          <a:noFill/>
          <a:ln/>
        </p:spPr>
        <p:txBody>
          <a:bodyPr wrap="square" lIns="0" tIns="0" rIns="0" bIns="0" rtlCol="0" anchor="t"/>
          <a:lstStyle/>
          <a:p>
            <a:pPr indent="0" marL="0">
              <a:buNone/>
            </a:pPr>
            <a:r>
              <a:rPr lang="en-US" sz="1300" b="1" dirty="0">
                <a:solidFill>
                  <a:srgbClr val="0F3D26"/>
                </a:solidFill>
                <a:latin typeface="Calibri" pitchFamily="34" charset="0"/>
                <a:ea typeface="Calibri" pitchFamily="34" charset="-122"/>
                <a:cs typeface="Calibri" pitchFamily="34" charset="-120"/>
              </a:rPr>
              <a:t>Vague wording</a:t>
            </a:r>
            <a:endParaRPr lang="en-US" sz="1300" dirty="0"/>
          </a:p>
        </p:txBody>
      </p:sp>
      <p:sp>
        <p:nvSpPr>
          <p:cNvPr id="22" name="Text 18"/>
          <p:cNvSpPr txBox="1"/>
          <p:nvPr/>
        </p:nvSpPr>
        <p:spPr>
          <a:xfrm>
            <a:off x="4800600" y="1490472"/>
            <a:ext cx="3749040" cy="457200"/>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Terms like "eco-friendly" or "sustainable" have no fixed meaning, so they create an impression of responsibility without a commitment.</a:t>
            </a:r>
            <a:endParaRPr lang="en-US" sz="1050" dirty="0"/>
          </a:p>
        </p:txBody>
      </p:sp>
      <p:sp>
        <p:nvSpPr>
          <p:cNvPr id="23" name="Shape 19"/>
          <p:cNvSpPr/>
          <p:nvPr/>
        </p:nvSpPr>
        <p:spPr>
          <a:xfrm>
            <a:off x="4023360" y="2075688"/>
            <a:ext cx="4663440" cy="841248"/>
          </a:xfrm>
          <a:prstGeom prst="roundRect">
            <a:avLst>
              <a:gd name="adj" fmla="val 8696"/>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24" name="Shape 20"/>
          <p:cNvSpPr/>
          <p:nvPr/>
        </p:nvSpPr>
        <p:spPr>
          <a:xfrm>
            <a:off x="4187952" y="2258568"/>
            <a:ext cx="475488" cy="475488"/>
          </a:xfrm>
          <a:prstGeom prst="ellipse">
            <a:avLst/>
          </a:prstGeom>
          <a:solidFill>
            <a:srgbClr val="1F7A45"/>
          </a:solidFill>
          <a:ln w="12700">
            <a:solidFill>
              <a:srgbClr val="1F7A45"/>
            </a:solidFill>
            <a:prstDash val="solid"/>
          </a:ln>
        </p:spPr>
      </p:sp>
      <p:pic>
        <p:nvPicPr>
          <p:cNvPr id="25" name="Image 2" descr="preencoded.png">    </p:cNvPr>
          <p:cNvPicPr>
            <a:picLocks noChangeAspect="1"/>
          </p:cNvPicPr>
          <p:nvPr/>
        </p:nvPicPr>
        <p:blipFill>
          <a:blip r:embed="rId3"/>
          <a:stretch>
            <a:fillRect/>
          </a:stretch>
        </p:blipFill>
        <p:spPr>
          <a:xfrm>
            <a:off x="4306824" y="2377440"/>
            <a:ext cx="237744" cy="237744"/>
          </a:xfrm>
          <a:prstGeom prst="rect">
            <a:avLst/>
          </a:prstGeom>
        </p:spPr>
      </p:pic>
      <p:sp>
        <p:nvSpPr>
          <p:cNvPr id="26" name="Text 21"/>
          <p:cNvSpPr txBox="1"/>
          <p:nvPr/>
        </p:nvSpPr>
        <p:spPr>
          <a:xfrm>
            <a:off x="4800600" y="2167128"/>
            <a:ext cx="3749040" cy="256032"/>
          </a:xfrm>
          <a:prstGeom prst="rect">
            <a:avLst/>
          </a:prstGeom>
          <a:noFill/>
          <a:ln/>
        </p:spPr>
        <p:txBody>
          <a:bodyPr wrap="square" lIns="0" tIns="0" rIns="0" bIns="0" rtlCol="0" anchor="t"/>
          <a:lstStyle/>
          <a:p>
            <a:pPr indent="0" marL="0">
              <a:buNone/>
            </a:pPr>
            <a:r>
              <a:rPr lang="en-US" sz="1300" b="1" dirty="0">
                <a:solidFill>
                  <a:srgbClr val="0F3D26"/>
                </a:solidFill>
                <a:latin typeface="Calibri" pitchFamily="34" charset="0"/>
                <a:ea typeface="Calibri" pitchFamily="34" charset="-122"/>
                <a:cs typeface="Calibri" pitchFamily="34" charset="-120"/>
              </a:rPr>
              <a:t>Hard to verify</a:t>
            </a:r>
            <a:endParaRPr lang="en-US" sz="1300" dirty="0"/>
          </a:p>
        </p:txBody>
      </p:sp>
      <p:sp>
        <p:nvSpPr>
          <p:cNvPr id="27" name="Text 22"/>
          <p:cNvSpPr txBox="1"/>
          <p:nvPr/>
        </p:nvSpPr>
        <p:spPr>
          <a:xfrm>
            <a:off x="4800600" y="2423160"/>
            <a:ext cx="3749040" cy="457200"/>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Readers cannot tell whether a claim rests on a number, a date or a certification, or on nothing at all.</a:t>
            </a:r>
            <a:endParaRPr lang="en-US" sz="1050" dirty="0"/>
          </a:p>
        </p:txBody>
      </p:sp>
      <p:sp>
        <p:nvSpPr>
          <p:cNvPr id="28" name="Shape 23"/>
          <p:cNvSpPr/>
          <p:nvPr/>
        </p:nvSpPr>
        <p:spPr>
          <a:xfrm>
            <a:off x="4023360" y="3008376"/>
            <a:ext cx="4663440" cy="841248"/>
          </a:xfrm>
          <a:prstGeom prst="roundRect">
            <a:avLst>
              <a:gd name="adj" fmla="val 8696"/>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29" name="Shape 24"/>
          <p:cNvSpPr/>
          <p:nvPr/>
        </p:nvSpPr>
        <p:spPr>
          <a:xfrm>
            <a:off x="4187952" y="3191256"/>
            <a:ext cx="475488" cy="475488"/>
          </a:xfrm>
          <a:prstGeom prst="ellipse">
            <a:avLst/>
          </a:prstGeom>
          <a:solidFill>
            <a:srgbClr val="F0A21A"/>
          </a:solidFill>
          <a:ln w="12700">
            <a:solidFill>
              <a:srgbClr val="F0A21A"/>
            </a:solidFill>
            <a:prstDash val="solid"/>
          </a:ln>
        </p:spPr>
      </p:sp>
      <p:pic>
        <p:nvPicPr>
          <p:cNvPr id="30" name="Image 3" descr="preencoded.png">    </p:cNvPr>
          <p:cNvPicPr>
            <a:picLocks noChangeAspect="1"/>
          </p:cNvPicPr>
          <p:nvPr/>
        </p:nvPicPr>
        <p:blipFill>
          <a:blip r:embed="rId4"/>
          <a:stretch>
            <a:fillRect/>
          </a:stretch>
        </p:blipFill>
        <p:spPr>
          <a:xfrm>
            <a:off x="4306824" y="3310128"/>
            <a:ext cx="237744" cy="237744"/>
          </a:xfrm>
          <a:prstGeom prst="rect">
            <a:avLst/>
          </a:prstGeom>
        </p:spPr>
      </p:pic>
      <p:sp>
        <p:nvSpPr>
          <p:cNvPr id="31" name="Text 25"/>
          <p:cNvSpPr txBox="1"/>
          <p:nvPr/>
        </p:nvSpPr>
        <p:spPr>
          <a:xfrm>
            <a:off x="4800600" y="3099816"/>
            <a:ext cx="3749040" cy="256032"/>
          </a:xfrm>
          <a:prstGeom prst="rect">
            <a:avLst/>
          </a:prstGeom>
          <a:noFill/>
          <a:ln/>
        </p:spPr>
        <p:txBody>
          <a:bodyPr wrap="square" lIns="0" tIns="0" rIns="0" bIns="0" rtlCol="0" anchor="t"/>
          <a:lstStyle/>
          <a:p>
            <a:pPr indent="0" marL="0">
              <a:buNone/>
            </a:pPr>
            <a:r>
              <a:rPr lang="en-US" sz="1300" b="1" dirty="0">
                <a:solidFill>
                  <a:srgbClr val="0F3D26"/>
                </a:solidFill>
                <a:latin typeface="Calibri" pitchFamily="34" charset="0"/>
                <a:ea typeface="Calibri" pitchFamily="34" charset="-122"/>
                <a:cs typeface="Calibri" pitchFamily="34" charset="-120"/>
              </a:rPr>
              <a:t>No scalable check</a:t>
            </a:r>
            <a:endParaRPr lang="en-US" sz="1300" dirty="0"/>
          </a:p>
        </p:txBody>
      </p:sp>
      <p:sp>
        <p:nvSpPr>
          <p:cNvPr id="32" name="Text 26"/>
          <p:cNvSpPr txBox="1"/>
          <p:nvPr/>
        </p:nvSpPr>
        <p:spPr>
          <a:xfrm>
            <a:off x="4800600" y="3355848"/>
            <a:ext cx="3749040" cy="457200"/>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Reviewing claims by hand does not scale. There is no simple automated way to screen thousands of ads.</a:t>
            </a:r>
            <a:endParaRPr lang="en-US" sz="1050" dirty="0"/>
          </a:p>
        </p:txBody>
      </p:sp>
      <p:sp>
        <p:nvSpPr>
          <p:cNvPr id="33" name="Shape 27"/>
          <p:cNvSpPr/>
          <p:nvPr/>
        </p:nvSpPr>
        <p:spPr>
          <a:xfrm>
            <a:off x="457200" y="4069080"/>
            <a:ext cx="8229600" cy="594360"/>
          </a:xfrm>
          <a:prstGeom prst="roundRect">
            <a:avLst>
              <a:gd name="adj" fmla="val 12308"/>
            </a:avLst>
          </a:prstGeom>
          <a:solidFill>
            <a:srgbClr val="0F3D26"/>
          </a:solidFill>
          <a:ln w="12700">
            <a:solidFill>
              <a:srgbClr val="0F3D26"/>
            </a:solidFill>
            <a:prstDash val="solid"/>
          </a:ln>
        </p:spPr>
      </p:sp>
      <p:sp>
        <p:nvSpPr>
          <p:cNvPr id="34" name="Text 28"/>
          <p:cNvSpPr txBox="1"/>
          <p:nvPr/>
        </p:nvSpPr>
        <p:spPr>
          <a:xfrm>
            <a:off x="731520" y="4069080"/>
            <a:ext cx="7772400" cy="594360"/>
          </a:xfrm>
          <a:prstGeom prst="rect">
            <a:avLst/>
          </a:prstGeom>
          <a:noFill/>
          <a:ln/>
        </p:spPr>
        <p:txBody>
          <a:bodyPr wrap="square" lIns="0" tIns="0" rIns="0" bIns="0" rtlCol="0" anchor="ctr"/>
          <a:lstStyle/>
          <a:p>
            <a:pPr indent="0" marL="0">
              <a:buNone/>
            </a:pPr>
            <a:r>
              <a:rPr lang="en-US" sz="1400" b="1" dirty="0">
                <a:solidFill>
                  <a:srgbClr val="F0A21A"/>
                </a:solidFill>
                <a:latin typeface="Calibri" pitchFamily="34" charset="0"/>
                <a:ea typeface="Calibri" pitchFamily="34" charset="-122"/>
                <a:cs typeface="Calibri" pitchFamily="34" charset="-120"/>
              </a:rPr>
              <a:t>Our goal:  </a:t>
            </a:r>
            <a:pPr indent="0" marL="0">
              <a:buNone/>
            </a:pPr>
            <a:r>
              <a:rPr lang="en-US" sz="1400" dirty="0">
                <a:solidFill>
                  <a:srgbClr val="FFFFFF"/>
                </a:solidFill>
                <a:latin typeface="Calibri" pitchFamily="34" charset="0"/>
                <a:ea typeface="Calibri" pitchFamily="34" charset="-122"/>
                <a:cs typeface="Calibri" pitchFamily="34" charset="-120"/>
              </a:rPr>
              <a:t>automatically flag claims that sound green but lack evidence, and explain every decision.</a:t>
            </a:r>
            <a:endParaRPr lang="en-US" sz="14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Our Approach: A 5-Step Explainable Pipeline</a:t>
            </a:r>
            <a:endParaRPr lang="en-US" sz="2600" dirty="0"/>
          </a:p>
        </p:txBody>
      </p:sp>
      <p:sp>
        <p:nvSpPr>
          <p:cNvPr id="3" name="Shape 1"/>
          <p:cNvSpPr/>
          <p:nvPr/>
        </p:nvSpPr>
        <p:spPr>
          <a:xfrm>
            <a:off x="457200" y="1143000"/>
            <a:ext cx="1499616" cy="2880360"/>
          </a:xfrm>
          <a:prstGeom prst="roundRect">
            <a:avLst>
              <a:gd name="adj" fmla="val 4878"/>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978408" y="1280160"/>
            <a:ext cx="457200" cy="457200"/>
          </a:xfrm>
          <a:prstGeom prst="ellipse">
            <a:avLst/>
          </a:prstGeom>
          <a:solidFill>
            <a:srgbClr val="1F7A45"/>
          </a:solidFill>
          <a:ln w="12700">
            <a:solidFill>
              <a:srgbClr val="1F7A45"/>
            </a:solidFill>
            <a:prstDash val="solid"/>
          </a:ln>
        </p:spPr>
      </p:sp>
      <p:pic>
        <p:nvPicPr>
          <p:cNvPr id="5" name="Image 0" descr="preencoded.png">    </p:cNvPr>
          <p:cNvPicPr>
            <a:picLocks noChangeAspect="1"/>
          </p:cNvPicPr>
          <p:nvPr/>
        </p:nvPicPr>
        <p:blipFill>
          <a:blip r:embed="rId1"/>
          <a:stretch>
            <a:fillRect/>
          </a:stretch>
        </p:blipFill>
        <p:spPr>
          <a:xfrm>
            <a:off x="1092708" y="1394460"/>
            <a:ext cx="228600" cy="228600"/>
          </a:xfrm>
          <a:prstGeom prst="rect">
            <a:avLst/>
          </a:prstGeom>
        </p:spPr>
      </p:pic>
      <p:sp>
        <p:nvSpPr>
          <p:cNvPr id="6" name="Text 3"/>
          <p:cNvSpPr txBox="1"/>
          <p:nvPr/>
        </p:nvSpPr>
        <p:spPr>
          <a:xfrm>
            <a:off x="457200" y="1810512"/>
            <a:ext cx="1499616" cy="182880"/>
          </a:xfrm>
          <a:prstGeom prst="rect">
            <a:avLst/>
          </a:prstGeom>
          <a:noFill/>
          <a:ln/>
        </p:spPr>
        <p:txBody>
          <a:bodyPr wrap="square" lIns="0" tIns="0" rIns="0" bIns="0" rtlCol="0" anchor="t"/>
          <a:lstStyle/>
          <a:p>
            <a:pPr algn="ctr" indent="0" marL="0">
              <a:buNone/>
            </a:pPr>
            <a:r>
              <a:rPr lang="en-US" sz="850" b="1" spc="200" kern="0" dirty="0">
                <a:solidFill>
                  <a:srgbClr val="3FAE6A"/>
                </a:solidFill>
                <a:latin typeface="Calibri" pitchFamily="34" charset="0"/>
                <a:ea typeface="Calibri" pitchFamily="34" charset="-122"/>
                <a:cs typeface="Calibri" pitchFamily="34" charset="-120"/>
              </a:rPr>
              <a:t>STEP 1</a:t>
            </a:r>
            <a:endParaRPr lang="en-US" sz="850" dirty="0"/>
          </a:p>
        </p:txBody>
      </p:sp>
      <p:sp>
        <p:nvSpPr>
          <p:cNvPr id="7" name="Text 4"/>
          <p:cNvSpPr txBox="1"/>
          <p:nvPr/>
        </p:nvSpPr>
        <p:spPr>
          <a:xfrm>
            <a:off x="548640" y="2011680"/>
            <a:ext cx="1316736" cy="457200"/>
          </a:xfrm>
          <a:prstGeom prst="rect">
            <a:avLst/>
          </a:prstGeom>
          <a:noFill/>
          <a:ln/>
        </p:spPr>
        <p:txBody>
          <a:bodyPr wrap="square" lIns="0" tIns="0" rIns="0" bIns="0" rtlCol="0" anchor="ctr"/>
          <a:lstStyle/>
          <a:p>
            <a:pPr algn="ctr" indent="0" marL="0">
              <a:buNone/>
            </a:pPr>
            <a:r>
              <a:rPr lang="en-US" sz="1250" b="1" dirty="0">
                <a:solidFill>
                  <a:srgbClr val="0F3D26"/>
                </a:solidFill>
                <a:latin typeface="Calibri" pitchFamily="34" charset="0"/>
                <a:ea typeface="Calibri" pitchFamily="34" charset="-122"/>
                <a:cs typeface="Calibri" pitchFamily="34" charset="-120"/>
              </a:rPr>
              <a:t>Collect Ad Claims</a:t>
            </a:r>
            <a:endParaRPr lang="en-US" sz="1250" dirty="0"/>
          </a:p>
        </p:txBody>
      </p:sp>
      <p:sp>
        <p:nvSpPr>
          <p:cNvPr id="8" name="Text 5"/>
          <p:cNvSpPr txBox="1"/>
          <p:nvPr/>
        </p:nvSpPr>
        <p:spPr>
          <a:xfrm>
            <a:off x="566928" y="2514600"/>
            <a:ext cx="1280160" cy="914400"/>
          </a:xfrm>
          <a:prstGeom prst="rect">
            <a:avLst/>
          </a:prstGeom>
          <a:noFill/>
          <a:ln/>
        </p:spPr>
        <p:txBody>
          <a:bodyPr wrap="square" lIns="0" tIns="0" rIns="0" bIns="0" rtlCol="0" anchor="t"/>
          <a:lstStyle/>
          <a:p>
            <a:pPr algn="ctr" indent="0" marL="0">
              <a:buNone/>
            </a:pPr>
            <a:r>
              <a:rPr lang="en-US" sz="1000" dirty="0">
                <a:solidFill>
                  <a:srgbClr val="5F6F66"/>
                </a:solidFill>
                <a:latin typeface="Calibri" pitchFamily="34" charset="0"/>
                <a:ea typeface="Calibri" pitchFamily="34" charset="-122"/>
                <a:cs typeface="Calibri" pitchFamily="34" charset="-120"/>
              </a:rPr>
              <a:t>Load 620 claims from EmeraldData (Hugging Face); clean text and labels.</a:t>
            </a:r>
            <a:endParaRPr lang="en-US" sz="1000" dirty="0"/>
          </a:p>
        </p:txBody>
      </p:sp>
      <p:sp>
        <p:nvSpPr>
          <p:cNvPr id="9" name="Text 6"/>
          <p:cNvSpPr txBox="1"/>
          <p:nvPr/>
        </p:nvSpPr>
        <p:spPr>
          <a:xfrm>
            <a:off x="475488" y="3639312"/>
            <a:ext cx="1463040" cy="274320"/>
          </a:xfrm>
          <a:prstGeom prst="rect">
            <a:avLst/>
          </a:prstGeom>
          <a:noFill/>
          <a:ln/>
        </p:spPr>
        <p:txBody>
          <a:bodyPr wrap="square" lIns="0" tIns="0" rIns="0" bIns="0" rtlCol="0" anchor="ctr"/>
          <a:lstStyle/>
          <a:p>
            <a:pPr algn="ctr" indent="0" marL="0">
              <a:buNone/>
            </a:pPr>
            <a:r>
              <a:rPr lang="en-US" sz="700" dirty="0">
                <a:solidFill>
                  <a:srgbClr val="1F7A45"/>
                </a:solidFill>
                <a:latin typeface="Courier New" pitchFamily="34" charset="0"/>
                <a:ea typeface="Courier New" pitchFamily="34" charset="-122"/>
                <a:cs typeface="Courier New" pitchFamily="34" charset="-120"/>
              </a:rPr>
              <a:t>data_collection.py</a:t>
            </a:r>
            <a:endParaRPr lang="en-US" sz="700" dirty="0"/>
          </a:p>
        </p:txBody>
      </p:sp>
      <p:sp>
        <p:nvSpPr>
          <p:cNvPr id="10" name="Shape 7"/>
          <p:cNvSpPr/>
          <p:nvPr/>
        </p:nvSpPr>
        <p:spPr>
          <a:xfrm>
            <a:off x="2139696" y="1143000"/>
            <a:ext cx="1499616" cy="2880360"/>
          </a:xfrm>
          <a:prstGeom prst="roundRect">
            <a:avLst>
              <a:gd name="adj" fmla="val 4878"/>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2660904" y="1280160"/>
            <a:ext cx="457200" cy="457200"/>
          </a:xfrm>
          <a:prstGeom prst="ellipse">
            <a:avLst/>
          </a:prstGeom>
          <a:solidFill>
            <a:srgbClr val="1F7A45"/>
          </a:solidFill>
          <a:ln w="12700">
            <a:solidFill>
              <a:srgbClr val="1F7A45"/>
            </a:solidFill>
            <a:prstDash val="solid"/>
          </a:ln>
        </p:spPr>
      </p:sp>
      <p:pic>
        <p:nvPicPr>
          <p:cNvPr id="12" name="Image 1" descr="preencoded.png">    </p:cNvPr>
          <p:cNvPicPr>
            <a:picLocks noChangeAspect="1"/>
          </p:cNvPicPr>
          <p:nvPr/>
        </p:nvPicPr>
        <p:blipFill>
          <a:blip r:embed="rId2"/>
          <a:stretch>
            <a:fillRect/>
          </a:stretch>
        </p:blipFill>
        <p:spPr>
          <a:xfrm>
            <a:off x="2775204" y="1394460"/>
            <a:ext cx="228600" cy="228600"/>
          </a:xfrm>
          <a:prstGeom prst="rect">
            <a:avLst/>
          </a:prstGeom>
        </p:spPr>
      </p:pic>
      <p:sp>
        <p:nvSpPr>
          <p:cNvPr id="13" name="Text 9"/>
          <p:cNvSpPr txBox="1"/>
          <p:nvPr/>
        </p:nvSpPr>
        <p:spPr>
          <a:xfrm>
            <a:off x="2139696" y="1810512"/>
            <a:ext cx="1499616" cy="182880"/>
          </a:xfrm>
          <a:prstGeom prst="rect">
            <a:avLst/>
          </a:prstGeom>
          <a:noFill/>
          <a:ln/>
        </p:spPr>
        <p:txBody>
          <a:bodyPr wrap="square" lIns="0" tIns="0" rIns="0" bIns="0" rtlCol="0" anchor="t"/>
          <a:lstStyle/>
          <a:p>
            <a:pPr algn="ctr" indent="0" marL="0">
              <a:buNone/>
            </a:pPr>
            <a:r>
              <a:rPr lang="en-US" sz="850" b="1" spc="200" kern="0" dirty="0">
                <a:solidFill>
                  <a:srgbClr val="3FAE6A"/>
                </a:solidFill>
                <a:latin typeface="Calibri" pitchFamily="34" charset="0"/>
                <a:ea typeface="Calibri" pitchFamily="34" charset="-122"/>
                <a:cs typeface="Calibri" pitchFamily="34" charset="-120"/>
              </a:rPr>
              <a:t>STEP 2</a:t>
            </a:r>
            <a:endParaRPr lang="en-US" sz="850" dirty="0"/>
          </a:p>
        </p:txBody>
      </p:sp>
      <p:sp>
        <p:nvSpPr>
          <p:cNvPr id="14" name="Text 10"/>
          <p:cNvSpPr txBox="1"/>
          <p:nvPr/>
        </p:nvSpPr>
        <p:spPr>
          <a:xfrm>
            <a:off x="2231136" y="2011680"/>
            <a:ext cx="1316736" cy="457200"/>
          </a:xfrm>
          <a:prstGeom prst="rect">
            <a:avLst/>
          </a:prstGeom>
          <a:noFill/>
          <a:ln/>
        </p:spPr>
        <p:txBody>
          <a:bodyPr wrap="square" lIns="0" tIns="0" rIns="0" bIns="0" rtlCol="0" anchor="ctr"/>
          <a:lstStyle/>
          <a:p>
            <a:pPr algn="ctr" indent="0" marL="0">
              <a:buNone/>
            </a:pPr>
            <a:r>
              <a:rPr lang="en-US" sz="1250" b="1" dirty="0">
                <a:solidFill>
                  <a:srgbClr val="0F3D26"/>
                </a:solidFill>
                <a:latin typeface="Calibri" pitchFamily="34" charset="0"/>
                <a:ea typeface="Calibri" pitchFamily="34" charset="-122"/>
                <a:cs typeface="Calibri" pitchFamily="34" charset="-120"/>
              </a:rPr>
              <a:t>Extract Claims</a:t>
            </a:r>
            <a:endParaRPr lang="en-US" sz="1250" dirty="0"/>
          </a:p>
        </p:txBody>
      </p:sp>
      <p:sp>
        <p:nvSpPr>
          <p:cNvPr id="15" name="Text 11"/>
          <p:cNvSpPr txBox="1"/>
          <p:nvPr/>
        </p:nvSpPr>
        <p:spPr>
          <a:xfrm>
            <a:off x="2249424" y="2514600"/>
            <a:ext cx="1280160" cy="914400"/>
          </a:xfrm>
          <a:prstGeom prst="rect">
            <a:avLst/>
          </a:prstGeom>
          <a:noFill/>
          <a:ln/>
        </p:spPr>
        <p:txBody>
          <a:bodyPr wrap="square" lIns="0" tIns="0" rIns="0" bIns="0" rtlCol="0" anchor="t"/>
          <a:lstStyle/>
          <a:p>
            <a:pPr algn="ctr" indent="0" marL="0">
              <a:buNone/>
            </a:pPr>
            <a:r>
              <a:rPr lang="en-US" sz="1000" dirty="0">
                <a:solidFill>
                  <a:srgbClr val="5F6F66"/>
                </a:solidFill>
                <a:latin typeface="Calibri" pitchFamily="34" charset="0"/>
                <a:ea typeface="Calibri" pitchFamily="34" charset="-122"/>
                <a:cs typeface="Calibri" pitchFamily="34" charset="-120"/>
              </a:rPr>
              <a:t>Split ad text into sentences; keep those with environmental keywords.</a:t>
            </a:r>
            <a:endParaRPr lang="en-US" sz="1000" dirty="0"/>
          </a:p>
        </p:txBody>
      </p:sp>
      <p:sp>
        <p:nvSpPr>
          <p:cNvPr id="16" name="Text 12"/>
          <p:cNvSpPr txBox="1"/>
          <p:nvPr/>
        </p:nvSpPr>
        <p:spPr>
          <a:xfrm>
            <a:off x="2157984" y="3639312"/>
            <a:ext cx="1463040" cy="274320"/>
          </a:xfrm>
          <a:prstGeom prst="rect">
            <a:avLst/>
          </a:prstGeom>
          <a:noFill/>
          <a:ln/>
        </p:spPr>
        <p:txBody>
          <a:bodyPr wrap="square" lIns="0" tIns="0" rIns="0" bIns="0" rtlCol="0" anchor="ctr"/>
          <a:lstStyle/>
          <a:p>
            <a:pPr algn="ctr" indent="0" marL="0">
              <a:buNone/>
            </a:pPr>
            <a:r>
              <a:rPr lang="en-US" sz="700" dirty="0">
                <a:solidFill>
                  <a:srgbClr val="1F7A45"/>
                </a:solidFill>
                <a:latin typeface="Courier New" pitchFamily="34" charset="0"/>
                <a:ea typeface="Courier New" pitchFamily="34" charset="-122"/>
                <a:cs typeface="Courier New" pitchFamily="34" charset="-120"/>
              </a:rPr>
              <a:t>claim_extraction.py</a:t>
            </a:r>
            <a:endParaRPr lang="en-US" sz="700" dirty="0"/>
          </a:p>
        </p:txBody>
      </p:sp>
      <p:sp>
        <p:nvSpPr>
          <p:cNvPr id="17" name="Shape 13"/>
          <p:cNvSpPr/>
          <p:nvPr/>
        </p:nvSpPr>
        <p:spPr>
          <a:xfrm>
            <a:off x="3822192" y="1143000"/>
            <a:ext cx="1499616" cy="2880360"/>
          </a:xfrm>
          <a:prstGeom prst="roundRect">
            <a:avLst>
              <a:gd name="adj" fmla="val 4878"/>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8" name="Shape 14"/>
          <p:cNvSpPr/>
          <p:nvPr/>
        </p:nvSpPr>
        <p:spPr>
          <a:xfrm>
            <a:off x="4343400" y="1280160"/>
            <a:ext cx="457200" cy="457200"/>
          </a:xfrm>
          <a:prstGeom prst="ellipse">
            <a:avLst/>
          </a:prstGeom>
          <a:solidFill>
            <a:srgbClr val="1F7A45"/>
          </a:solidFill>
          <a:ln w="12700">
            <a:solidFill>
              <a:srgbClr val="1F7A45"/>
            </a:solidFill>
            <a:prstDash val="solid"/>
          </a:ln>
        </p:spPr>
      </p:sp>
      <p:pic>
        <p:nvPicPr>
          <p:cNvPr id="19" name="Image 2" descr="preencoded.png">    </p:cNvPr>
          <p:cNvPicPr>
            <a:picLocks noChangeAspect="1"/>
          </p:cNvPicPr>
          <p:nvPr/>
        </p:nvPicPr>
        <p:blipFill>
          <a:blip r:embed="rId3"/>
          <a:stretch>
            <a:fillRect/>
          </a:stretch>
        </p:blipFill>
        <p:spPr>
          <a:xfrm>
            <a:off x="4457700" y="1394460"/>
            <a:ext cx="228600" cy="228600"/>
          </a:xfrm>
          <a:prstGeom prst="rect">
            <a:avLst/>
          </a:prstGeom>
        </p:spPr>
      </p:pic>
      <p:sp>
        <p:nvSpPr>
          <p:cNvPr id="20" name="Text 15"/>
          <p:cNvSpPr txBox="1"/>
          <p:nvPr/>
        </p:nvSpPr>
        <p:spPr>
          <a:xfrm>
            <a:off x="3822192" y="1810512"/>
            <a:ext cx="1499616" cy="182880"/>
          </a:xfrm>
          <a:prstGeom prst="rect">
            <a:avLst/>
          </a:prstGeom>
          <a:noFill/>
          <a:ln/>
        </p:spPr>
        <p:txBody>
          <a:bodyPr wrap="square" lIns="0" tIns="0" rIns="0" bIns="0" rtlCol="0" anchor="t"/>
          <a:lstStyle/>
          <a:p>
            <a:pPr algn="ctr" indent="0" marL="0">
              <a:buNone/>
            </a:pPr>
            <a:r>
              <a:rPr lang="en-US" sz="850" b="1" spc="200" kern="0" dirty="0">
                <a:solidFill>
                  <a:srgbClr val="3FAE6A"/>
                </a:solidFill>
                <a:latin typeface="Calibri" pitchFamily="34" charset="0"/>
                <a:ea typeface="Calibri" pitchFamily="34" charset="-122"/>
                <a:cs typeface="Calibri" pitchFamily="34" charset="-120"/>
              </a:rPr>
              <a:t>STEP 3</a:t>
            </a:r>
            <a:endParaRPr lang="en-US" sz="850" dirty="0"/>
          </a:p>
        </p:txBody>
      </p:sp>
      <p:sp>
        <p:nvSpPr>
          <p:cNvPr id="21" name="Text 16"/>
          <p:cNvSpPr txBox="1"/>
          <p:nvPr/>
        </p:nvSpPr>
        <p:spPr>
          <a:xfrm>
            <a:off x="3913632" y="2011680"/>
            <a:ext cx="1316736" cy="457200"/>
          </a:xfrm>
          <a:prstGeom prst="rect">
            <a:avLst/>
          </a:prstGeom>
          <a:noFill/>
          <a:ln/>
        </p:spPr>
        <p:txBody>
          <a:bodyPr wrap="square" lIns="0" tIns="0" rIns="0" bIns="0" rtlCol="0" anchor="ctr"/>
          <a:lstStyle/>
          <a:p>
            <a:pPr algn="ctr" indent="0" marL="0">
              <a:buNone/>
            </a:pPr>
            <a:r>
              <a:rPr lang="en-US" sz="1250" b="1" dirty="0">
                <a:solidFill>
                  <a:srgbClr val="0F3D26"/>
                </a:solidFill>
                <a:latin typeface="Calibri" pitchFamily="34" charset="0"/>
                <a:ea typeface="Calibri" pitchFamily="34" charset="-122"/>
                <a:cs typeface="Calibri" pitchFamily="34" charset="-120"/>
              </a:rPr>
              <a:t>Classify the Claim</a:t>
            </a:r>
            <a:endParaRPr lang="en-US" sz="1250" dirty="0"/>
          </a:p>
        </p:txBody>
      </p:sp>
      <p:sp>
        <p:nvSpPr>
          <p:cNvPr id="22" name="Text 17"/>
          <p:cNvSpPr txBox="1"/>
          <p:nvPr/>
        </p:nvSpPr>
        <p:spPr>
          <a:xfrm>
            <a:off x="3931920" y="2514600"/>
            <a:ext cx="1280160" cy="914400"/>
          </a:xfrm>
          <a:prstGeom prst="rect">
            <a:avLst/>
          </a:prstGeom>
          <a:noFill/>
          <a:ln/>
        </p:spPr>
        <p:txBody>
          <a:bodyPr wrap="square" lIns="0" tIns="0" rIns="0" bIns="0" rtlCol="0" anchor="t"/>
          <a:lstStyle/>
          <a:p>
            <a:pPr algn="ctr" indent="0" marL="0">
              <a:buNone/>
            </a:pPr>
            <a:r>
              <a:rPr lang="en-US" sz="1000" dirty="0">
                <a:solidFill>
                  <a:srgbClr val="5F6F66"/>
                </a:solidFill>
                <a:latin typeface="Calibri" pitchFamily="34" charset="0"/>
                <a:ea typeface="Calibri" pitchFamily="34" charset="-122"/>
                <a:cs typeface="Calibri" pitchFamily="34" charset="-120"/>
              </a:rPr>
              <a:t>Rule-based lexicon and TF-IDF + LogReg score risk; type: vague, specific, comparative, qualified.</a:t>
            </a:r>
            <a:endParaRPr lang="en-US" sz="1000" dirty="0"/>
          </a:p>
        </p:txBody>
      </p:sp>
      <p:sp>
        <p:nvSpPr>
          <p:cNvPr id="23" name="Text 18"/>
          <p:cNvSpPr txBox="1"/>
          <p:nvPr/>
        </p:nvSpPr>
        <p:spPr>
          <a:xfrm>
            <a:off x="3840480" y="3639312"/>
            <a:ext cx="1463040" cy="274320"/>
          </a:xfrm>
          <a:prstGeom prst="rect">
            <a:avLst/>
          </a:prstGeom>
          <a:noFill/>
          <a:ln/>
        </p:spPr>
        <p:txBody>
          <a:bodyPr wrap="square" lIns="0" tIns="0" rIns="0" bIns="0" rtlCol="0" anchor="ctr"/>
          <a:lstStyle/>
          <a:p>
            <a:pPr algn="ctr" indent="0" marL="0">
              <a:buNone/>
            </a:pPr>
            <a:r>
              <a:rPr lang="en-US" sz="700" dirty="0">
                <a:solidFill>
                  <a:srgbClr val="1F7A45"/>
                </a:solidFill>
                <a:latin typeface="Courier New" pitchFamily="34" charset="0"/>
                <a:ea typeface="Courier New" pitchFamily="34" charset="-122"/>
                <a:cs typeface="Courier New" pitchFamily="34" charset="-120"/>
              </a:rPr>
              <a:t>nlp_classifier.py</a:t>
            </a:r>
            <a:endParaRPr lang="en-US" sz="700" dirty="0"/>
          </a:p>
        </p:txBody>
      </p:sp>
      <p:sp>
        <p:nvSpPr>
          <p:cNvPr id="24" name="Shape 19"/>
          <p:cNvSpPr/>
          <p:nvPr/>
        </p:nvSpPr>
        <p:spPr>
          <a:xfrm>
            <a:off x="5504688" y="1143000"/>
            <a:ext cx="1499616" cy="2880360"/>
          </a:xfrm>
          <a:prstGeom prst="roundRect">
            <a:avLst>
              <a:gd name="adj" fmla="val 4878"/>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25" name="Shape 20"/>
          <p:cNvSpPr/>
          <p:nvPr/>
        </p:nvSpPr>
        <p:spPr>
          <a:xfrm>
            <a:off x="6025896" y="1280160"/>
            <a:ext cx="457200" cy="457200"/>
          </a:xfrm>
          <a:prstGeom prst="ellipse">
            <a:avLst/>
          </a:prstGeom>
          <a:solidFill>
            <a:srgbClr val="1F7A45"/>
          </a:solidFill>
          <a:ln w="12700">
            <a:solidFill>
              <a:srgbClr val="1F7A45"/>
            </a:solidFill>
            <a:prstDash val="solid"/>
          </a:ln>
        </p:spPr>
      </p:sp>
      <p:pic>
        <p:nvPicPr>
          <p:cNvPr id="26" name="Image 3" descr="preencoded.png">    </p:cNvPr>
          <p:cNvPicPr>
            <a:picLocks noChangeAspect="1"/>
          </p:cNvPicPr>
          <p:nvPr/>
        </p:nvPicPr>
        <p:blipFill>
          <a:blip r:embed="rId4"/>
          <a:stretch>
            <a:fillRect/>
          </a:stretch>
        </p:blipFill>
        <p:spPr>
          <a:xfrm>
            <a:off x="6140196" y="1394460"/>
            <a:ext cx="228600" cy="228600"/>
          </a:xfrm>
          <a:prstGeom prst="rect">
            <a:avLst/>
          </a:prstGeom>
        </p:spPr>
      </p:pic>
      <p:sp>
        <p:nvSpPr>
          <p:cNvPr id="27" name="Text 21"/>
          <p:cNvSpPr txBox="1"/>
          <p:nvPr/>
        </p:nvSpPr>
        <p:spPr>
          <a:xfrm>
            <a:off x="5504688" y="1810512"/>
            <a:ext cx="1499616" cy="182880"/>
          </a:xfrm>
          <a:prstGeom prst="rect">
            <a:avLst/>
          </a:prstGeom>
          <a:noFill/>
          <a:ln/>
        </p:spPr>
        <p:txBody>
          <a:bodyPr wrap="square" lIns="0" tIns="0" rIns="0" bIns="0" rtlCol="0" anchor="t"/>
          <a:lstStyle/>
          <a:p>
            <a:pPr algn="ctr" indent="0" marL="0">
              <a:buNone/>
            </a:pPr>
            <a:r>
              <a:rPr lang="en-US" sz="850" b="1" spc="200" kern="0" dirty="0">
                <a:solidFill>
                  <a:srgbClr val="3FAE6A"/>
                </a:solidFill>
                <a:latin typeface="Calibri" pitchFamily="34" charset="0"/>
                <a:ea typeface="Calibri" pitchFamily="34" charset="-122"/>
                <a:cs typeface="Calibri" pitchFamily="34" charset="-120"/>
              </a:rPr>
              <a:t>STEP 4</a:t>
            </a:r>
            <a:endParaRPr lang="en-US" sz="850" dirty="0"/>
          </a:p>
        </p:txBody>
      </p:sp>
      <p:sp>
        <p:nvSpPr>
          <p:cNvPr id="28" name="Text 22"/>
          <p:cNvSpPr txBox="1"/>
          <p:nvPr/>
        </p:nvSpPr>
        <p:spPr>
          <a:xfrm>
            <a:off x="5596128" y="2011680"/>
            <a:ext cx="1316736" cy="457200"/>
          </a:xfrm>
          <a:prstGeom prst="rect">
            <a:avLst/>
          </a:prstGeom>
          <a:noFill/>
          <a:ln/>
        </p:spPr>
        <p:txBody>
          <a:bodyPr wrap="square" lIns="0" tIns="0" rIns="0" bIns="0" rtlCol="0" anchor="ctr"/>
          <a:lstStyle/>
          <a:p>
            <a:pPr algn="ctr" indent="0" marL="0">
              <a:buNone/>
            </a:pPr>
            <a:r>
              <a:rPr lang="en-US" sz="1250" b="1" dirty="0">
                <a:solidFill>
                  <a:srgbClr val="0F3D26"/>
                </a:solidFill>
                <a:latin typeface="Calibri" pitchFamily="34" charset="0"/>
                <a:ea typeface="Calibri" pitchFamily="34" charset="-122"/>
                <a:cs typeface="Calibri" pitchFamily="34" charset="-120"/>
              </a:rPr>
              <a:t>Check for Evidence</a:t>
            </a:r>
            <a:endParaRPr lang="en-US" sz="1250" dirty="0"/>
          </a:p>
        </p:txBody>
      </p:sp>
      <p:sp>
        <p:nvSpPr>
          <p:cNvPr id="29" name="Text 23"/>
          <p:cNvSpPr txBox="1"/>
          <p:nvPr/>
        </p:nvSpPr>
        <p:spPr>
          <a:xfrm>
            <a:off x="5614416" y="2514600"/>
            <a:ext cx="1280160" cy="914400"/>
          </a:xfrm>
          <a:prstGeom prst="rect">
            <a:avLst/>
          </a:prstGeom>
          <a:noFill/>
          <a:ln/>
        </p:spPr>
        <p:txBody>
          <a:bodyPr wrap="square" lIns="0" tIns="0" rIns="0" bIns="0" rtlCol="0" anchor="t"/>
          <a:lstStyle/>
          <a:p>
            <a:pPr algn="ctr" indent="0" marL="0">
              <a:buNone/>
            </a:pPr>
            <a:r>
              <a:rPr lang="en-US" sz="1000" dirty="0">
                <a:solidFill>
                  <a:srgbClr val="5F6F66"/>
                </a:solidFill>
                <a:latin typeface="Calibri" pitchFamily="34" charset="0"/>
                <a:ea typeface="Calibri" pitchFamily="34" charset="-122"/>
                <a:cs typeface="Calibri" pitchFamily="34" charset="-120"/>
              </a:rPr>
              <a:t>Detect numbers, dates and certifications; compute a 0-10 specificity score.</a:t>
            </a:r>
            <a:endParaRPr lang="en-US" sz="1000" dirty="0"/>
          </a:p>
        </p:txBody>
      </p:sp>
      <p:sp>
        <p:nvSpPr>
          <p:cNvPr id="30" name="Text 24"/>
          <p:cNvSpPr txBox="1"/>
          <p:nvPr/>
        </p:nvSpPr>
        <p:spPr>
          <a:xfrm>
            <a:off x="5522976" y="3639312"/>
            <a:ext cx="1463040" cy="274320"/>
          </a:xfrm>
          <a:prstGeom prst="rect">
            <a:avLst/>
          </a:prstGeom>
          <a:noFill/>
          <a:ln/>
        </p:spPr>
        <p:txBody>
          <a:bodyPr wrap="square" lIns="0" tIns="0" rIns="0" bIns="0" rtlCol="0" anchor="ctr"/>
          <a:lstStyle/>
          <a:p>
            <a:pPr algn="ctr" indent="0" marL="0">
              <a:buNone/>
            </a:pPr>
            <a:r>
              <a:rPr lang="en-US" sz="700" dirty="0">
                <a:solidFill>
                  <a:srgbClr val="1F7A45"/>
                </a:solidFill>
                <a:latin typeface="Courier New" pitchFamily="34" charset="0"/>
                <a:ea typeface="Courier New" pitchFamily="34" charset="-122"/>
                <a:cs typeface="Courier New" pitchFamily="34" charset="-120"/>
              </a:rPr>
              <a:t>evidence_analyzer.py</a:t>
            </a:r>
            <a:endParaRPr lang="en-US" sz="700" dirty="0"/>
          </a:p>
        </p:txBody>
      </p:sp>
      <p:sp>
        <p:nvSpPr>
          <p:cNvPr id="31" name="Shape 25"/>
          <p:cNvSpPr/>
          <p:nvPr/>
        </p:nvSpPr>
        <p:spPr>
          <a:xfrm>
            <a:off x="7187184" y="1143000"/>
            <a:ext cx="1499616" cy="2880360"/>
          </a:xfrm>
          <a:prstGeom prst="roundRect">
            <a:avLst>
              <a:gd name="adj" fmla="val 4878"/>
            </a:avLst>
          </a:prstGeom>
          <a:solidFill>
            <a:srgbClr val="0F3D26"/>
          </a:solidFill>
          <a:ln w="9525">
            <a:solidFill>
              <a:srgbClr val="0F3D26"/>
            </a:solidFill>
            <a:prstDash val="solid"/>
          </a:ln>
          <a:effectLst>
            <a:outerShdw sx="100000" sy="100000" kx="0" ky="0" algn="bl" rotWithShape="0" blurRad="101600" dist="25400" dir="5400000">
              <a:srgbClr val="000000">
                <a:alpha val="12000"/>
              </a:srgbClr>
            </a:outerShdw>
          </a:effectLst>
        </p:spPr>
      </p:sp>
      <p:sp>
        <p:nvSpPr>
          <p:cNvPr id="32" name="Shape 26"/>
          <p:cNvSpPr/>
          <p:nvPr/>
        </p:nvSpPr>
        <p:spPr>
          <a:xfrm>
            <a:off x="7708392" y="1280160"/>
            <a:ext cx="457200" cy="457200"/>
          </a:xfrm>
          <a:prstGeom prst="ellipse">
            <a:avLst/>
          </a:prstGeom>
          <a:solidFill>
            <a:srgbClr val="F0A21A"/>
          </a:solidFill>
          <a:ln w="12700">
            <a:solidFill>
              <a:srgbClr val="F0A21A"/>
            </a:solidFill>
            <a:prstDash val="solid"/>
          </a:ln>
        </p:spPr>
      </p:sp>
      <p:pic>
        <p:nvPicPr>
          <p:cNvPr id="33" name="Image 4" descr="preencoded.png">    </p:cNvPr>
          <p:cNvPicPr>
            <a:picLocks noChangeAspect="1"/>
          </p:cNvPicPr>
          <p:nvPr/>
        </p:nvPicPr>
        <p:blipFill>
          <a:blip r:embed="rId5"/>
          <a:stretch>
            <a:fillRect/>
          </a:stretch>
        </p:blipFill>
        <p:spPr>
          <a:xfrm>
            <a:off x="7822692" y="1394460"/>
            <a:ext cx="228600" cy="228600"/>
          </a:xfrm>
          <a:prstGeom prst="rect">
            <a:avLst/>
          </a:prstGeom>
        </p:spPr>
      </p:pic>
      <p:sp>
        <p:nvSpPr>
          <p:cNvPr id="34" name="Text 27"/>
          <p:cNvSpPr txBox="1"/>
          <p:nvPr/>
        </p:nvSpPr>
        <p:spPr>
          <a:xfrm>
            <a:off x="7187184" y="1810512"/>
            <a:ext cx="1499616" cy="182880"/>
          </a:xfrm>
          <a:prstGeom prst="rect">
            <a:avLst/>
          </a:prstGeom>
          <a:noFill/>
          <a:ln/>
        </p:spPr>
        <p:txBody>
          <a:bodyPr wrap="square" lIns="0" tIns="0" rIns="0" bIns="0" rtlCol="0" anchor="t"/>
          <a:lstStyle/>
          <a:p>
            <a:pPr algn="ctr" indent="0" marL="0">
              <a:buNone/>
            </a:pPr>
            <a:r>
              <a:rPr lang="en-US" sz="850" b="1" spc="200" kern="0" dirty="0">
                <a:solidFill>
                  <a:srgbClr val="F0A21A"/>
                </a:solidFill>
                <a:latin typeface="Calibri" pitchFamily="34" charset="0"/>
                <a:ea typeface="Calibri" pitchFamily="34" charset="-122"/>
                <a:cs typeface="Calibri" pitchFamily="34" charset="-120"/>
              </a:rPr>
              <a:t>STEP 5</a:t>
            </a:r>
            <a:endParaRPr lang="en-US" sz="850" dirty="0"/>
          </a:p>
        </p:txBody>
      </p:sp>
      <p:sp>
        <p:nvSpPr>
          <p:cNvPr id="35" name="Text 28"/>
          <p:cNvSpPr txBox="1"/>
          <p:nvPr/>
        </p:nvSpPr>
        <p:spPr>
          <a:xfrm>
            <a:off x="7278624" y="2011680"/>
            <a:ext cx="1316736"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Explainable Verdict</a:t>
            </a:r>
            <a:endParaRPr lang="en-US" sz="1250" dirty="0"/>
          </a:p>
        </p:txBody>
      </p:sp>
      <p:sp>
        <p:nvSpPr>
          <p:cNvPr id="36" name="Text 29"/>
          <p:cNvSpPr txBox="1"/>
          <p:nvPr/>
        </p:nvSpPr>
        <p:spPr>
          <a:xfrm>
            <a:off x="7296912" y="2514600"/>
            <a:ext cx="1280160" cy="914400"/>
          </a:xfrm>
          <a:prstGeom prst="rect">
            <a:avLst/>
          </a:prstGeom>
          <a:noFill/>
          <a:ln/>
        </p:spPr>
        <p:txBody>
          <a:bodyPr wrap="square" lIns="0" tIns="0" rIns="0" bIns="0" rtlCol="0" anchor="t"/>
          <a:lstStyle/>
          <a:p>
            <a:pPr algn="ctr" indent="0" marL="0">
              <a:buNone/>
            </a:pPr>
            <a:r>
              <a:rPr lang="en-US" sz="1000" dirty="0">
                <a:solidFill>
                  <a:srgbClr val="CFE6D6"/>
                </a:solidFill>
                <a:latin typeface="Calibri" pitchFamily="34" charset="0"/>
                <a:ea typeface="Calibri" pitchFamily="34" charset="-122"/>
                <a:cs typeface="Calibri" pitchFamily="34" charset="-120"/>
              </a:rPr>
              <a:t>Flag or clear with a confidence score, reasons and highlighted terms.</a:t>
            </a:r>
            <a:endParaRPr lang="en-US" sz="1000" dirty="0"/>
          </a:p>
        </p:txBody>
      </p:sp>
      <p:sp>
        <p:nvSpPr>
          <p:cNvPr id="37" name="Text 30"/>
          <p:cNvSpPr txBox="1"/>
          <p:nvPr/>
        </p:nvSpPr>
        <p:spPr>
          <a:xfrm>
            <a:off x="7205472" y="3639312"/>
            <a:ext cx="1463040" cy="274320"/>
          </a:xfrm>
          <a:prstGeom prst="rect">
            <a:avLst/>
          </a:prstGeom>
          <a:noFill/>
          <a:ln/>
        </p:spPr>
        <p:txBody>
          <a:bodyPr wrap="square" lIns="0" tIns="0" rIns="0" bIns="0" rtlCol="0" anchor="ctr"/>
          <a:lstStyle/>
          <a:p>
            <a:pPr algn="ctr" indent="0" marL="0">
              <a:buNone/>
            </a:pPr>
            <a:r>
              <a:rPr lang="en-US" sz="700" dirty="0">
                <a:solidFill>
                  <a:srgbClr val="F0A21A"/>
                </a:solidFill>
                <a:latin typeface="Courier New" pitchFamily="34" charset="0"/>
                <a:ea typeface="Courier New" pitchFamily="34" charset="-122"/>
                <a:cs typeface="Courier New" pitchFamily="34" charset="-120"/>
              </a:rPr>
              <a:t>explainability_engine.py</a:t>
            </a:r>
            <a:endParaRPr lang="en-US" sz="700" dirty="0"/>
          </a:p>
        </p:txBody>
      </p:sp>
      <p:sp>
        <p:nvSpPr>
          <p:cNvPr id="38" name="Shape 31"/>
          <p:cNvSpPr/>
          <p:nvPr/>
        </p:nvSpPr>
        <p:spPr>
          <a:xfrm>
            <a:off x="457200" y="4206240"/>
            <a:ext cx="8229600" cy="502920"/>
          </a:xfrm>
          <a:prstGeom prst="roundRect">
            <a:avLst>
              <a:gd name="adj" fmla="val 14545"/>
            </a:avLst>
          </a:prstGeom>
          <a:solidFill>
            <a:srgbClr val="E8F3EA"/>
          </a:solidFill>
          <a:ln w="9525">
            <a:solidFill>
              <a:srgbClr val="3FAE6A"/>
            </a:solidFill>
            <a:prstDash val="solid"/>
          </a:ln>
        </p:spPr>
      </p:sp>
      <p:sp>
        <p:nvSpPr>
          <p:cNvPr id="39" name="Text 32"/>
          <p:cNvSpPr txBox="1"/>
          <p:nvPr/>
        </p:nvSpPr>
        <p:spPr>
          <a:xfrm>
            <a:off x="640080" y="4206240"/>
            <a:ext cx="7863840" cy="502920"/>
          </a:xfrm>
          <a:prstGeom prst="rect">
            <a:avLst/>
          </a:prstGeom>
          <a:noFill/>
          <a:ln/>
        </p:spPr>
        <p:txBody>
          <a:bodyPr wrap="square" lIns="0" tIns="0" rIns="0" bIns="0" rtlCol="0" anchor="ctr"/>
          <a:lstStyle/>
          <a:p>
            <a:pPr indent="0" marL="0">
              <a:buNone/>
            </a:pPr>
            <a:r>
              <a:rPr lang="en-US" sz="1150" b="1" dirty="0">
                <a:solidFill>
                  <a:srgbClr val="1F7A45"/>
                </a:solidFill>
                <a:latin typeface="Calibri" pitchFamily="34" charset="0"/>
                <a:ea typeface="Calibri" pitchFamily="34" charset="-122"/>
                <a:cs typeface="Calibri" pitchFamily="34" charset="-120"/>
              </a:rPr>
              <a:t>Output per claim:  </a:t>
            </a:r>
            <a:pPr indent="0" marL="0">
              <a:buNone/>
            </a:pPr>
            <a:r>
              <a:rPr lang="en-US" sz="1150" dirty="0">
                <a:solidFill>
                  <a:srgbClr val="1D2B24"/>
                </a:solidFill>
                <a:latin typeface="Calibri" pitchFamily="34" charset="0"/>
                <a:ea typeface="Calibri" pitchFamily="34" charset="-122"/>
                <a:cs typeface="Calibri" pitchFamily="34" charset="-120"/>
              </a:rPr>
              <a:t>verdict  ·  confidence  ·  claim type  ·  greenwashing type  ·  specificity score  ·  reasons  ·  highlighted terms</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Dataset: EmeraldData</a:t>
            </a:r>
            <a:endParaRPr lang="en-US" sz="2600" dirty="0"/>
          </a:p>
        </p:txBody>
      </p:sp>
      <p:sp>
        <p:nvSpPr>
          <p:cNvPr id="3" name="Text 1"/>
          <p:cNvSpPr txBox="1"/>
          <p:nvPr/>
        </p:nvSpPr>
        <p:spPr>
          <a:xfrm>
            <a:off x="457200" y="1051560"/>
            <a:ext cx="2377440" cy="914400"/>
          </a:xfrm>
          <a:prstGeom prst="rect">
            <a:avLst/>
          </a:prstGeom>
          <a:noFill/>
          <a:ln/>
        </p:spPr>
        <p:txBody>
          <a:bodyPr wrap="square" lIns="0" tIns="0" rIns="0" bIns="0" rtlCol="0" anchor="t"/>
          <a:lstStyle/>
          <a:p>
            <a:pPr indent="0" marL="0">
              <a:buNone/>
            </a:pPr>
            <a:r>
              <a:rPr lang="en-US" sz="6400" b="1" dirty="0">
                <a:solidFill>
                  <a:srgbClr val="1F7A45"/>
                </a:solidFill>
                <a:latin typeface="Cambria" pitchFamily="34" charset="0"/>
                <a:ea typeface="Cambria" pitchFamily="34" charset="-122"/>
                <a:cs typeface="Cambria" pitchFamily="34" charset="-120"/>
              </a:rPr>
              <a:t>620</a:t>
            </a:r>
            <a:endParaRPr lang="en-US" sz="6400" dirty="0"/>
          </a:p>
        </p:txBody>
      </p:sp>
      <p:sp>
        <p:nvSpPr>
          <p:cNvPr id="4" name="Text 2"/>
          <p:cNvSpPr txBox="1"/>
          <p:nvPr/>
        </p:nvSpPr>
        <p:spPr>
          <a:xfrm>
            <a:off x="457200" y="1920240"/>
            <a:ext cx="2560320" cy="274320"/>
          </a:xfrm>
          <a:prstGeom prst="rect">
            <a:avLst/>
          </a:prstGeom>
          <a:noFill/>
          <a:ln/>
        </p:spPr>
        <p:txBody>
          <a:bodyPr wrap="square" lIns="0" tIns="0" rIns="0" bIns="0" rtlCol="0" anchor="t"/>
          <a:lstStyle/>
          <a:p>
            <a:pPr indent="0" marL="0">
              <a:buNone/>
            </a:pPr>
            <a:r>
              <a:rPr lang="en-US" sz="1400" b="1" dirty="0">
                <a:solidFill>
                  <a:srgbClr val="0F3D26"/>
                </a:solidFill>
                <a:latin typeface="Calibri" pitchFamily="34" charset="0"/>
                <a:ea typeface="Calibri" pitchFamily="34" charset="-122"/>
                <a:cs typeface="Calibri" pitchFamily="34" charset="-120"/>
              </a:rPr>
              <a:t>environmental claims</a:t>
            </a:r>
            <a:endParaRPr lang="en-US" sz="1400" dirty="0"/>
          </a:p>
        </p:txBody>
      </p:sp>
      <p:sp>
        <p:nvSpPr>
          <p:cNvPr id="5" name="Text 3"/>
          <p:cNvSpPr txBox="1"/>
          <p:nvPr/>
        </p:nvSpPr>
        <p:spPr>
          <a:xfrm>
            <a:off x="457200" y="2331720"/>
            <a:ext cx="2560320" cy="201168"/>
          </a:xfrm>
          <a:prstGeom prst="rect">
            <a:avLst/>
          </a:prstGeom>
          <a:noFill/>
          <a:ln/>
        </p:spPr>
        <p:txBody>
          <a:bodyPr wrap="square" lIns="0" tIns="0" rIns="0" bIns="0" rtlCol="0" anchor="t"/>
          <a:lstStyle/>
          <a:p>
            <a:pPr indent="0" marL="0">
              <a:buNone/>
            </a:pPr>
            <a:r>
              <a:rPr lang="en-US" sz="1000" dirty="0">
                <a:solidFill>
                  <a:srgbClr val="5F6F66"/>
                </a:solidFill>
                <a:latin typeface="Calibri" pitchFamily="34" charset="0"/>
                <a:ea typeface="Calibri" pitchFamily="34" charset="-122"/>
                <a:cs typeface="Calibri" pitchFamily="34" charset="-120"/>
              </a:rPr>
              <a:t>Companies include</a:t>
            </a:r>
            <a:endParaRPr lang="en-US" sz="1000" dirty="0"/>
          </a:p>
        </p:txBody>
      </p:sp>
      <p:sp>
        <p:nvSpPr>
          <p:cNvPr id="6" name="Shape 4"/>
          <p:cNvSpPr/>
          <p:nvPr/>
        </p:nvSpPr>
        <p:spPr>
          <a:xfrm>
            <a:off x="457200" y="2578608"/>
            <a:ext cx="1234440" cy="292608"/>
          </a:xfrm>
          <a:prstGeom prst="roundRect">
            <a:avLst>
              <a:gd name="adj" fmla="val 43750"/>
            </a:avLst>
          </a:prstGeom>
          <a:solidFill>
            <a:srgbClr val="E8F3EA"/>
          </a:solidFill>
          <a:ln w="9525">
            <a:solidFill>
              <a:srgbClr val="3FAE6A"/>
            </a:solidFill>
            <a:prstDash val="solid"/>
          </a:ln>
        </p:spPr>
      </p:sp>
      <p:sp>
        <p:nvSpPr>
          <p:cNvPr id="7" name="Text 5"/>
          <p:cNvSpPr txBox="1"/>
          <p:nvPr/>
        </p:nvSpPr>
        <p:spPr>
          <a:xfrm>
            <a:off x="457200" y="2578608"/>
            <a:ext cx="1234440" cy="292608"/>
          </a:xfrm>
          <a:prstGeom prst="rect">
            <a:avLst/>
          </a:prstGeom>
          <a:noFill/>
          <a:ln/>
        </p:spPr>
        <p:txBody>
          <a:bodyPr wrap="square" lIns="0" tIns="0" rIns="0" bIns="0" rtlCol="0" anchor="ctr"/>
          <a:lstStyle/>
          <a:p>
            <a:pPr algn="ctr" indent="0" marL="0">
              <a:buNone/>
            </a:pPr>
            <a:r>
              <a:rPr lang="en-US" sz="1000" b="1" dirty="0">
                <a:solidFill>
                  <a:srgbClr val="1F7A45"/>
                </a:solidFill>
                <a:latin typeface="Calibri" pitchFamily="34" charset="0"/>
                <a:ea typeface="Calibri" pitchFamily="34" charset="-122"/>
                <a:cs typeface="Calibri" pitchFamily="34" charset="-120"/>
              </a:rPr>
              <a:t>Amazon</a:t>
            </a:r>
            <a:endParaRPr lang="en-US" sz="1000" dirty="0"/>
          </a:p>
        </p:txBody>
      </p:sp>
      <p:sp>
        <p:nvSpPr>
          <p:cNvPr id="8" name="Shape 6"/>
          <p:cNvSpPr/>
          <p:nvPr/>
        </p:nvSpPr>
        <p:spPr>
          <a:xfrm>
            <a:off x="1783080" y="2578608"/>
            <a:ext cx="1234440" cy="292608"/>
          </a:xfrm>
          <a:prstGeom prst="roundRect">
            <a:avLst>
              <a:gd name="adj" fmla="val 43750"/>
            </a:avLst>
          </a:prstGeom>
          <a:solidFill>
            <a:srgbClr val="E8F3EA"/>
          </a:solidFill>
          <a:ln w="9525">
            <a:solidFill>
              <a:srgbClr val="3FAE6A"/>
            </a:solidFill>
            <a:prstDash val="solid"/>
          </a:ln>
        </p:spPr>
      </p:sp>
      <p:sp>
        <p:nvSpPr>
          <p:cNvPr id="9" name="Text 7"/>
          <p:cNvSpPr txBox="1"/>
          <p:nvPr/>
        </p:nvSpPr>
        <p:spPr>
          <a:xfrm>
            <a:off x="1783080" y="2578608"/>
            <a:ext cx="1234440" cy="292608"/>
          </a:xfrm>
          <a:prstGeom prst="rect">
            <a:avLst/>
          </a:prstGeom>
          <a:noFill/>
          <a:ln/>
        </p:spPr>
        <p:txBody>
          <a:bodyPr wrap="square" lIns="0" tIns="0" rIns="0" bIns="0" rtlCol="0" anchor="ctr"/>
          <a:lstStyle/>
          <a:p>
            <a:pPr algn="ctr" indent="0" marL="0">
              <a:buNone/>
            </a:pPr>
            <a:r>
              <a:rPr lang="en-US" sz="1000" b="1" dirty="0">
                <a:solidFill>
                  <a:srgbClr val="1F7A45"/>
                </a:solidFill>
                <a:latin typeface="Calibri" pitchFamily="34" charset="0"/>
                <a:ea typeface="Calibri" pitchFamily="34" charset="-122"/>
                <a:cs typeface="Calibri" pitchFamily="34" charset="-120"/>
              </a:rPr>
              <a:t>Shell</a:t>
            </a:r>
            <a:endParaRPr lang="en-US" sz="1000" dirty="0"/>
          </a:p>
        </p:txBody>
      </p:sp>
      <p:sp>
        <p:nvSpPr>
          <p:cNvPr id="10" name="Shape 8"/>
          <p:cNvSpPr/>
          <p:nvPr/>
        </p:nvSpPr>
        <p:spPr>
          <a:xfrm>
            <a:off x="457200" y="2944368"/>
            <a:ext cx="1234440" cy="292608"/>
          </a:xfrm>
          <a:prstGeom prst="roundRect">
            <a:avLst>
              <a:gd name="adj" fmla="val 43750"/>
            </a:avLst>
          </a:prstGeom>
          <a:solidFill>
            <a:srgbClr val="E8F3EA"/>
          </a:solidFill>
          <a:ln w="9525">
            <a:solidFill>
              <a:srgbClr val="3FAE6A"/>
            </a:solidFill>
            <a:prstDash val="solid"/>
          </a:ln>
        </p:spPr>
      </p:sp>
      <p:sp>
        <p:nvSpPr>
          <p:cNvPr id="11" name="Text 9"/>
          <p:cNvSpPr txBox="1"/>
          <p:nvPr/>
        </p:nvSpPr>
        <p:spPr>
          <a:xfrm>
            <a:off x="457200" y="2944368"/>
            <a:ext cx="1234440" cy="292608"/>
          </a:xfrm>
          <a:prstGeom prst="rect">
            <a:avLst/>
          </a:prstGeom>
          <a:noFill/>
          <a:ln/>
        </p:spPr>
        <p:txBody>
          <a:bodyPr wrap="square" lIns="0" tIns="0" rIns="0" bIns="0" rtlCol="0" anchor="ctr"/>
          <a:lstStyle/>
          <a:p>
            <a:pPr algn="ctr" indent="0" marL="0">
              <a:buNone/>
            </a:pPr>
            <a:r>
              <a:rPr lang="en-US" sz="1000" b="1" dirty="0">
                <a:solidFill>
                  <a:srgbClr val="1F7A45"/>
                </a:solidFill>
                <a:latin typeface="Calibri" pitchFamily="34" charset="0"/>
                <a:ea typeface="Calibri" pitchFamily="34" charset="-122"/>
                <a:cs typeface="Calibri" pitchFamily="34" charset="-120"/>
              </a:rPr>
              <a:t>Starbucks</a:t>
            </a:r>
            <a:endParaRPr lang="en-US" sz="1000" dirty="0"/>
          </a:p>
        </p:txBody>
      </p:sp>
      <p:sp>
        <p:nvSpPr>
          <p:cNvPr id="12" name="Shape 10"/>
          <p:cNvSpPr/>
          <p:nvPr/>
        </p:nvSpPr>
        <p:spPr>
          <a:xfrm>
            <a:off x="1783080" y="2944368"/>
            <a:ext cx="1234440" cy="292608"/>
          </a:xfrm>
          <a:prstGeom prst="roundRect">
            <a:avLst>
              <a:gd name="adj" fmla="val 43750"/>
            </a:avLst>
          </a:prstGeom>
          <a:solidFill>
            <a:srgbClr val="E8F3EA"/>
          </a:solidFill>
          <a:ln w="9525">
            <a:solidFill>
              <a:srgbClr val="3FAE6A"/>
            </a:solidFill>
            <a:prstDash val="solid"/>
          </a:ln>
        </p:spPr>
      </p:sp>
      <p:sp>
        <p:nvSpPr>
          <p:cNvPr id="13" name="Text 11"/>
          <p:cNvSpPr txBox="1"/>
          <p:nvPr/>
        </p:nvSpPr>
        <p:spPr>
          <a:xfrm>
            <a:off x="1783080" y="2944368"/>
            <a:ext cx="1234440" cy="292608"/>
          </a:xfrm>
          <a:prstGeom prst="rect">
            <a:avLst/>
          </a:prstGeom>
          <a:noFill/>
          <a:ln/>
        </p:spPr>
        <p:txBody>
          <a:bodyPr wrap="square" lIns="0" tIns="0" rIns="0" bIns="0" rtlCol="0" anchor="ctr"/>
          <a:lstStyle/>
          <a:p>
            <a:pPr algn="ctr" indent="0" marL="0">
              <a:buNone/>
            </a:pPr>
            <a:r>
              <a:rPr lang="en-US" sz="1000" b="1" dirty="0">
                <a:solidFill>
                  <a:srgbClr val="1F7A45"/>
                </a:solidFill>
                <a:latin typeface="Calibri" pitchFamily="34" charset="0"/>
                <a:ea typeface="Calibri" pitchFamily="34" charset="-122"/>
                <a:cs typeface="Calibri" pitchFamily="34" charset="-120"/>
              </a:rPr>
              <a:t>Nestlé</a:t>
            </a:r>
            <a:endParaRPr lang="en-US" sz="1000" dirty="0"/>
          </a:p>
        </p:txBody>
      </p:sp>
      <p:sp>
        <p:nvSpPr>
          <p:cNvPr id="14" name="Shape 12"/>
          <p:cNvSpPr/>
          <p:nvPr/>
        </p:nvSpPr>
        <p:spPr>
          <a:xfrm>
            <a:off x="457200" y="3310128"/>
            <a:ext cx="1234440" cy="292608"/>
          </a:xfrm>
          <a:prstGeom prst="roundRect">
            <a:avLst>
              <a:gd name="adj" fmla="val 43750"/>
            </a:avLst>
          </a:prstGeom>
          <a:solidFill>
            <a:srgbClr val="E8F3EA"/>
          </a:solidFill>
          <a:ln w="9525">
            <a:solidFill>
              <a:srgbClr val="3FAE6A"/>
            </a:solidFill>
            <a:prstDash val="solid"/>
          </a:ln>
        </p:spPr>
      </p:sp>
      <p:sp>
        <p:nvSpPr>
          <p:cNvPr id="15" name="Text 13"/>
          <p:cNvSpPr txBox="1"/>
          <p:nvPr/>
        </p:nvSpPr>
        <p:spPr>
          <a:xfrm>
            <a:off x="457200" y="3310128"/>
            <a:ext cx="1234440" cy="292608"/>
          </a:xfrm>
          <a:prstGeom prst="rect">
            <a:avLst/>
          </a:prstGeom>
          <a:noFill/>
          <a:ln/>
        </p:spPr>
        <p:txBody>
          <a:bodyPr wrap="square" lIns="0" tIns="0" rIns="0" bIns="0" rtlCol="0" anchor="ctr"/>
          <a:lstStyle/>
          <a:p>
            <a:pPr algn="ctr" indent="0" marL="0">
              <a:buNone/>
            </a:pPr>
            <a:r>
              <a:rPr lang="en-US" sz="1000" b="1" dirty="0">
                <a:solidFill>
                  <a:srgbClr val="1F7A45"/>
                </a:solidFill>
                <a:latin typeface="Calibri" pitchFamily="34" charset="0"/>
                <a:ea typeface="Calibri" pitchFamily="34" charset="-122"/>
                <a:cs typeface="Calibri" pitchFamily="34" charset="-120"/>
              </a:rPr>
              <a:t>Delta</a:t>
            </a:r>
            <a:endParaRPr lang="en-US" sz="1000" dirty="0"/>
          </a:p>
        </p:txBody>
      </p:sp>
      <p:sp>
        <p:nvSpPr>
          <p:cNvPr id="16" name="Shape 14"/>
          <p:cNvSpPr/>
          <p:nvPr/>
        </p:nvSpPr>
        <p:spPr>
          <a:xfrm>
            <a:off x="1783080" y="3310128"/>
            <a:ext cx="1234440" cy="292608"/>
          </a:xfrm>
          <a:prstGeom prst="roundRect">
            <a:avLst>
              <a:gd name="adj" fmla="val 43750"/>
            </a:avLst>
          </a:prstGeom>
          <a:solidFill>
            <a:srgbClr val="E8F3EA"/>
          </a:solidFill>
          <a:ln w="9525">
            <a:solidFill>
              <a:srgbClr val="3FAE6A"/>
            </a:solidFill>
            <a:prstDash val="solid"/>
          </a:ln>
        </p:spPr>
      </p:sp>
      <p:sp>
        <p:nvSpPr>
          <p:cNvPr id="17" name="Text 15"/>
          <p:cNvSpPr txBox="1"/>
          <p:nvPr/>
        </p:nvSpPr>
        <p:spPr>
          <a:xfrm>
            <a:off x="1783080" y="3310128"/>
            <a:ext cx="1234440" cy="292608"/>
          </a:xfrm>
          <a:prstGeom prst="rect">
            <a:avLst/>
          </a:prstGeom>
          <a:noFill/>
          <a:ln/>
        </p:spPr>
        <p:txBody>
          <a:bodyPr wrap="square" lIns="0" tIns="0" rIns="0" bIns="0" rtlCol="0" anchor="ctr"/>
          <a:lstStyle/>
          <a:p>
            <a:pPr algn="ctr" indent="0" marL="0">
              <a:buNone/>
            </a:pPr>
            <a:r>
              <a:rPr lang="en-US" sz="1000" b="1" dirty="0">
                <a:solidFill>
                  <a:srgbClr val="1F7A45"/>
                </a:solidFill>
                <a:latin typeface="Calibri" pitchFamily="34" charset="0"/>
                <a:ea typeface="Calibri" pitchFamily="34" charset="-122"/>
                <a:cs typeface="Calibri" pitchFamily="34" charset="-120"/>
              </a:rPr>
              <a:t>Lufthansa</a:t>
            </a:r>
            <a:endParaRPr lang="en-US" sz="1000" dirty="0"/>
          </a:p>
        </p:txBody>
      </p:sp>
      <p:sp>
        <p:nvSpPr>
          <p:cNvPr id="18" name="Shape 16"/>
          <p:cNvSpPr/>
          <p:nvPr/>
        </p:nvSpPr>
        <p:spPr>
          <a:xfrm>
            <a:off x="457200" y="3675888"/>
            <a:ext cx="1234440" cy="292608"/>
          </a:xfrm>
          <a:prstGeom prst="roundRect">
            <a:avLst>
              <a:gd name="adj" fmla="val 43750"/>
            </a:avLst>
          </a:prstGeom>
          <a:solidFill>
            <a:srgbClr val="E8F3EA"/>
          </a:solidFill>
          <a:ln w="9525">
            <a:solidFill>
              <a:srgbClr val="3FAE6A"/>
            </a:solidFill>
            <a:prstDash val="solid"/>
          </a:ln>
        </p:spPr>
      </p:sp>
      <p:sp>
        <p:nvSpPr>
          <p:cNvPr id="19" name="Text 17"/>
          <p:cNvSpPr txBox="1"/>
          <p:nvPr/>
        </p:nvSpPr>
        <p:spPr>
          <a:xfrm>
            <a:off x="457200" y="3675888"/>
            <a:ext cx="1234440" cy="292608"/>
          </a:xfrm>
          <a:prstGeom prst="rect">
            <a:avLst/>
          </a:prstGeom>
          <a:noFill/>
          <a:ln/>
        </p:spPr>
        <p:txBody>
          <a:bodyPr wrap="square" lIns="0" tIns="0" rIns="0" bIns="0" rtlCol="0" anchor="ctr"/>
          <a:lstStyle/>
          <a:p>
            <a:pPr algn="ctr" indent="0" marL="0">
              <a:buNone/>
            </a:pPr>
            <a:r>
              <a:rPr lang="en-US" sz="1000" b="1" dirty="0">
                <a:solidFill>
                  <a:srgbClr val="1F7A45"/>
                </a:solidFill>
                <a:latin typeface="Calibri" pitchFamily="34" charset="0"/>
                <a:ea typeface="Calibri" pitchFamily="34" charset="-122"/>
                <a:cs typeface="Calibri" pitchFamily="34" charset="-120"/>
              </a:rPr>
              <a:t>H&amp;M</a:t>
            </a:r>
            <a:endParaRPr lang="en-US" sz="1000" dirty="0"/>
          </a:p>
        </p:txBody>
      </p:sp>
      <p:sp>
        <p:nvSpPr>
          <p:cNvPr id="20" name="Shape 18"/>
          <p:cNvSpPr/>
          <p:nvPr/>
        </p:nvSpPr>
        <p:spPr>
          <a:xfrm>
            <a:off x="1783080" y="3675888"/>
            <a:ext cx="1234440" cy="292608"/>
          </a:xfrm>
          <a:prstGeom prst="roundRect">
            <a:avLst>
              <a:gd name="adj" fmla="val 43750"/>
            </a:avLst>
          </a:prstGeom>
          <a:solidFill>
            <a:srgbClr val="E8F3EA"/>
          </a:solidFill>
          <a:ln w="9525">
            <a:solidFill>
              <a:srgbClr val="3FAE6A"/>
            </a:solidFill>
            <a:prstDash val="solid"/>
          </a:ln>
        </p:spPr>
      </p:sp>
      <p:sp>
        <p:nvSpPr>
          <p:cNvPr id="21" name="Text 19"/>
          <p:cNvSpPr txBox="1"/>
          <p:nvPr/>
        </p:nvSpPr>
        <p:spPr>
          <a:xfrm>
            <a:off x="1783080" y="3675888"/>
            <a:ext cx="1234440" cy="292608"/>
          </a:xfrm>
          <a:prstGeom prst="rect">
            <a:avLst/>
          </a:prstGeom>
          <a:noFill/>
          <a:ln/>
        </p:spPr>
        <p:txBody>
          <a:bodyPr wrap="square" lIns="0" tIns="0" rIns="0" bIns="0" rtlCol="0" anchor="ctr"/>
          <a:lstStyle/>
          <a:p>
            <a:pPr algn="ctr" indent="0" marL="0">
              <a:buNone/>
            </a:pPr>
            <a:r>
              <a:rPr lang="en-US" sz="1000" b="1" dirty="0">
                <a:solidFill>
                  <a:srgbClr val="1F7A45"/>
                </a:solidFill>
                <a:latin typeface="Calibri" pitchFamily="34" charset="0"/>
                <a:ea typeface="Calibri" pitchFamily="34" charset="-122"/>
                <a:cs typeface="Calibri" pitchFamily="34" charset="-120"/>
              </a:rPr>
              <a:t>Zara</a:t>
            </a:r>
            <a:endParaRPr lang="en-US" sz="1000" dirty="0"/>
          </a:p>
        </p:txBody>
      </p:sp>
      <p:sp>
        <p:nvSpPr>
          <p:cNvPr id="22" name="Shape 20"/>
          <p:cNvSpPr/>
          <p:nvPr/>
        </p:nvSpPr>
        <p:spPr>
          <a:xfrm>
            <a:off x="3154680" y="1097280"/>
            <a:ext cx="2834640" cy="2834640"/>
          </a:xfrm>
          <a:prstGeom prst="roundRect">
            <a:avLst>
              <a:gd name="adj" fmla="val 2581"/>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graphicFrame>
        <p:nvGraphicFramePr>
          <p:cNvPr id="23" name="Chart 0" descr=""/>
          <p:cNvGraphicFramePr/>
          <p:nvPr/>
        </p:nvGraphicFramePr>
        <p:xfrm>
          <a:off x="3246120" y="1188720"/>
          <a:ext cx="2651760" cy="2651760"/>
        </p:xfrm>
        <a:graphic xmlns:a="http://schemas.openxmlformats.org/drawingml/2006/main">
          <a:graphicData uri="http://schemas.openxmlformats.org/drawingml/2006/chart">
            <c:chart xmlns:c="http://schemas.openxmlformats.org/drawingml/2006/chart" r:id="rId1"/>
          </a:graphicData>
        </a:graphic>
      </p:graphicFrame>
      <p:sp>
        <p:nvSpPr>
          <p:cNvPr id="24" name="Shape 21"/>
          <p:cNvSpPr/>
          <p:nvPr/>
        </p:nvSpPr>
        <p:spPr>
          <a:xfrm>
            <a:off x="6217920" y="1097280"/>
            <a:ext cx="2468880" cy="868680"/>
          </a:xfrm>
          <a:prstGeom prst="roundRect">
            <a:avLst>
              <a:gd name="adj" fmla="val 8421"/>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25" name="Text 22"/>
          <p:cNvSpPr txBox="1"/>
          <p:nvPr/>
        </p:nvSpPr>
        <p:spPr>
          <a:xfrm>
            <a:off x="6355080" y="1188720"/>
            <a:ext cx="2194560" cy="411480"/>
          </a:xfrm>
          <a:prstGeom prst="rect">
            <a:avLst/>
          </a:prstGeom>
          <a:noFill/>
          <a:ln/>
        </p:spPr>
        <p:txBody>
          <a:bodyPr wrap="square" lIns="0" tIns="0" rIns="0" bIns="0" rtlCol="0" anchor="t"/>
          <a:lstStyle/>
          <a:p>
            <a:pPr indent="0" marL="0">
              <a:buNone/>
            </a:pPr>
            <a:r>
              <a:rPr lang="en-US" sz="2200" b="1" dirty="0">
                <a:solidFill>
                  <a:srgbClr val="1F7A45"/>
                </a:solidFill>
                <a:latin typeface="Cambria" pitchFamily="34" charset="0"/>
                <a:ea typeface="Cambria" pitchFamily="34" charset="-122"/>
                <a:cs typeface="Cambria" pitchFamily="34" charset="-120"/>
              </a:rPr>
              <a:t>434 / 186</a:t>
            </a:r>
            <a:endParaRPr lang="en-US" sz="2200" dirty="0"/>
          </a:p>
        </p:txBody>
      </p:sp>
      <p:sp>
        <p:nvSpPr>
          <p:cNvPr id="26" name="Text 23"/>
          <p:cNvSpPr txBox="1"/>
          <p:nvPr/>
        </p:nvSpPr>
        <p:spPr>
          <a:xfrm>
            <a:off x="6355080" y="1627632"/>
            <a:ext cx="2194560" cy="274320"/>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train / held-out test split</a:t>
            </a:r>
            <a:endParaRPr lang="en-US" sz="1050" dirty="0"/>
          </a:p>
        </p:txBody>
      </p:sp>
      <p:sp>
        <p:nvSpPr>
          <p:cNvPr id="27" name="Shape 24"/>
          <p:cNvSpPr/>
          <p:nvPr/>
        </p:nvSpPr>
        <p:spPr>
          <a:xfrm>
            <a:off x="6217920" y="2057400"/>
            <a:ext cx="2468880" cy="868680"/>
          </a:xfrm>
          <a:prstGeom prst="roundRect">
            <a:avLst>
              <a:gd name="adj" fmla="val 8421"/>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28" name="Text 25"/>
          <p:cNvSpPr txBox="1"/>
          <p:nvPr/>
        </p:nvSpPr>
        <p:spPr>
          <a:xfrm>
            <a:off x="6355080" y="2148840"/>
            <a:ext cx="2194560" cy="411480"/>
          </a:xfrm>
          <a:prstGeom prst="rect">
            <a:avLst/>
          </a:prstGeom>
          <a:noFill/>
          <a:ln/>
        </p:spPr>
        <p:txBody>
          <a:bodyPr wrap="square" lIns="0" tIns="0" rIns="0" bIns="0" rtlCol="0" anchor="t"/>
          <a:lstStyle/>
          <a:p>
            <a:pPr indent="0" marL="0">
              <a:buNone/>
            </a:pPr>
            <a:r>
              <a:rPr lang="en-US" sz="2200" b="1" dirty="0">
                <a:solidFill>
                  <a:srgbClr val="1F7A45"/>
                </a:solidFill>
                <a:latin typeface="Cambria" pitchFamily="34" charset="0"/>
                <a:ea typeface="Cambria" pitchFamily="34" charset="-122"/>
                <a:cs typeface="Cambria" pitchFamily="34" charset="-120"/>
              </a:rPr>
              <a:t>27</a:t>
            </a:r>
            <a:endParaRPr lang="en-US" sz="2200" dirty="0"/>
          </a:p>
        </p:txBody>
      </p:sp>
      <p:sp>
        <p:nvSpPr>
          <p:cNvPr id="29" name="Text 26"/>
          <p:cNvSpPr txBox="1"/>
          <p:nvPr/>
        </p:nvSpPr>
        <p:spPr>
          <a:xfrm>
            <a:off x="6355080" y="2587752"/>
            <a:ext cx="2194560" cy="274320"/>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companies covered</a:t>
            </a:r>
            <a:endParaRPr lang="en-US" sz="1050" dirty="0"/>
          </a:p>
        </p:txBody>
      </p:sp>
      <p:sp>
        <p:nvSpPr>
          <p:cNvPr id="30" name="Shape 27"/>
          <p:cNvSpPr/>
          <p:nvPr/>
        </p:nvSpPr>
        <p:spPr>
          <a:xfrm>
            <a:off x="6217920" y="3017520"/>
            <a:ext cx="2468880" cy="868680"/>
          </a:xfrm>
          <a:prstGeom prst="roundRect">
            <a:avLst>
              <a:gd name="adj" fmla="val 8421"/>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31" name="Text 28"/>
          <p:cNvSpPr txBox="1"/>
          <p:nvPr/>
        </p:nvSpPr>
        <p:spPr>
          <a:xfrm>
            <a:off x="6355080" y="3108960"/>
            <a:ext cx="2194560" cy="411480"/>
          </a:xfrm>
          <a:prstGeom prst="rect">
            <a:avLst/>
          </a:prstGeom>
          <a:noFill/>
          <a:ln/>
        </p:spPr>
        <p:txBody>
          <a:bodyPr wrap="square" lIns="0" tIns="0" rIns="0" bIns="0" rtlCol="0" anchor="t"/>
          <a:lstStyle/>
          <a:p>
            <a:pPr indent="0" marL="0">
              <a:buNone/>
            </a:pPr>
            <a:r>
              <a:rPr lang="en-US" sz="2200" b="1" dirty="0">
                <a:solidFill>
                  <a:srgbClr val="1F7A45"/>
                </a:solidFill>
                <a:latin typeface="Cambria" pitchFamily="34" charset="0"/>
                <a:ea typeface="Cambria" pitchFamily="34" charset="-122"/>
                <a:cs typeface="Cambria" pitchFamily="34" charset="-120"/>
              </a:rPr>
              <a:t>CC-BY-4.0</a:t>
            </a:r>
            <a:endParaRPr lang="en-US" sz="2200" dirty="0"/>
          </a:p>
        </p:txBody>
      </p:sp>
      <p:sp>
        <p:nvSpPr>
          <p:cNvPr id="32" name="Text 29"/>
          <p:cNvSpPr txBox="1"/>
          <p:nvPr/>
        </p:nvSpPr>
        <p:spPr>
          <a:xfrm>
            <a:off x="6355080" y="3547872"/>
            <a:ext cx="2194560" cy="274320"/>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open licence, geoka/EmeraldData</a:t>
            </a:r>
            <a:endParaRPr lang="en-US" sz="1050" dirty="0"/>
          </a:p>
        </p:txBody>
      </p:sp>
      <p:sp>
        <p:nvSpPr>
          <p:cNvPr id="33" name="Shape 30"/>
          <p:cNvSpPr/>
          <p:nvPr/>
        </p:nvSpPr>
        <p:spPr>
          <a:xfrm>
            <a:off x="457200" y="4114800"/>
            <a:ext cx="8229600" cy="566928"/>
          </a:xfrm>
          <a:prstGeom prst="roundRect">
            <a:avLst>
              <a:gd name="adj" fmla="val 12903"/>
            </a:avLst>
          </a:prstGeom>
          <a:solidFill>
            <a:srgbClr val="FDF1D6"/>
          </a:solidFill>
          <a:ln w="9525">
            <a:solidFill>
              <a:srgbClr val="F0A21A"/>
            </a:solidFill>
            <a:prstDash val="solid"/>
          </a:ln>
        </p:spPr>
      </p:sp>
      <p:sp>
        <p:nvSpPr>
          <p:cNvPr id="34" name="Shape 31"/>
          <p:cNvSpPr/>
          <p:nvPr/>
        </p:nvSpPr>
        <p:spPr>
          <a:xfrm>
            <a:off x="566928" y="4178808"/>
            <a:ext cx="438912" cy="438912"/>
          </a:xfrm>
          <a:prstGeom prst="ellipse">
            <a:avLst/>
          </a:prstGeom>
          <a:solidFill>
            <a:srgbClr val="F0A21A"/>
          </a:solidFill>
          <a:ln w="12700">
            <a:solidFill>
              <a:srgbClr val="F0A21A"/>
            </a:solidFill>
            <a:prstDash val="solid"/>
          </a:ln>
        </p:spPr>
      </p:sp>
      <p:pic>
        <p:nvPicPr>
          <p:cNvPr id="35" name="Image 0" descr="preencoded.png">    </p:cNvPr>
          <p:cNvPicPr>
            <a:picLocks noChangeAspect="1"/>
          </p:cNvPicPr>
          <p:nvPr/>
        </p:nvPicPr>
        <p:blipFill>
          <a:blip r:embed="rId2"/>
          <a:stretch>
            <a:fillRect/>
          </a:stretch>
        </p:blipFill>
        <p:spPr>
          <a:xfrm>
            <a:off x="676656" y="4288536"/>
            <a:ext cx="219456" cy="219456"/>
          </a:xfrm>
          <a:prstGeom prst="rect">
            <a:avLst/>
          </a:prstGeom>
        </p:spPr>
      </p:pic>
      <p:sp>
        <p:nvSpPr>
          <p:cNvPr id="36" name="Text 32"/>
          <p:cNvSpPr txBox="1"/>
          <p:nvPr/>
        </p:nvSpPr>
        <p:spPr>
          <a:xfrm>
            <a:off x="1143000" y="4114800"/>
            <a:ext cx="7406640" cy="566928"/>
          </a:xfrm>
          <a:prstGeom prst="rect">
            <a:avLst/>
          </a:prstGeom>
          <a:noFill/>
          <a:ln/>
        </p:spPr>
        <p:txBody>
          <a:bodyPr wrap="square" lIns="0" tIns="0" rIns="0" bIns="0" rtlCol="0" anchor="ctr"/>
          <a:lstStyle/>
          <a:p>
            <a:pPr indent="0" marL="0">
              <a:buNone/>
            </a:pPr>
            <a:r>
              <a:rPr lang="en-US" sz="1100" b="1" dirty="0">
                <a:solidFill>
                  <a:srgbClr val="5A3B00"/>
                </a:solidFill>
                <a:latin typeface="Calibri" pitchFamily="34" charset="0"/>
                <a:ea typeface="Calibri" pitchFamily="34" charset="-122"/>
                <a:cs typeface="Calibri" pitchFamily="34" charset="-120"/>
              </a:rPr>
              <a:t>Semi-synthetic data: </a:t>
            </a:r>
            <a:pPr indent="0" marL="0">
              <a:buNone/>
            </a:pPr>
            <a:r>
              <a:rPr lang="en-US" sz="1100" dirty="0">
                <a:solidFill>
                  <a:srgbClr val="5A3B00"/>
                </a:solidFill>
                <a:latin typeface="Calibri" pitchFamily="34" charset="0"/>
                <a:ea typeface="Calibri" pitchFamily="34" charset="-122"/>
                <a:cs typeface="Calibri" pitchFamily="34" charset="-120"/>
              </a:rPr>
              <a:t>claims and labels were LLM-generated and annotated, anchored to real ESG reports and news, not scraped from live ads.</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Two Classifiers, Compared on the Same Claims</a:t>
            </a:r>
            <a:endParaRPr lang="en-US" sz="2600" dirty="0"/>
          </a:p>
        </p:txBody>
      </p:sp>
      <p:sp>
        <p:nvSpPr>
          <p:cNvPr id="3" name="Shape 1"/>
          <p:cNvSpPr/>
          <p:nvPr/>
        </p:nvSpPr>
        <p:spPr>
          <a:xfrm>
            <a:off x="457200" y="1143000"/>
            <a:ext cx="4023360" cy="2880360"/>
          </a:xfrm>
          <a:prstGeom prst="roundRect">
            <a:avLst>
              <a:gd name="adj" fmla="val 2540"/>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4663440" y="1143000"/>
            <a:ext cx="4023360" cy="2880360"/>
          </a:xfrm>
          <a:prstGeom prst="roundRect">
            <a:avLst>
              <a:gd name="adj" fmla="val 2540"/>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640080" y="1280160"/>
            <a:ext cx="457200" cy="457200"/>
          </a:xfrm>
          <a:prstGeom prst="ellipse">
            <a:avLst/>
          </a:prstGeom>
          <a:solidFill>
            <a:srgbClr val="1F7A45"/>
          </a:solidFill>
          <a:ln w="12700">
            <a:solidFill>
              <a:srgbClr val="1F7A45"/>
            </a:solidFill>
            <a:prstDash val="solid"/>
          </a:ln>
        </p:spPr>
      </p:sp>
      <p:pic>
        <p:nvPicPr>
          <p:cNvPr id="6" name="Image 0" descr="preencoded.png">    </p:cNvPr>
          <p:cNvPicPr>
            <a:picLocks noChangeAspect="1"/>
          </p:cNvPicPr>
          <p:nvPr/>
        </p:nvPicPr>
        <p:blipFill>
          <a:blip r:embed="rId1"/>
          <a:stretch>
            <a:fillRect/>
          </a:stretch>
        </p:blipFill>
        <p:spPr>
          <a:xfrm>
            <a:off x="754380" y="1394460"/>
            <a:ext cx="228600" cy="228600"/>
          </a:xfrm>
          <a:prstGeom prst="rect">
            <a:avLst/>
          </a:prstGeom>
        </p:spPr>
      </p:pic>
      <p:sp>
        <p:nvSpPr>
          <p:cNvPr id="7" name="Text 4"/>
          <p:cNvSpPr txBox="1"/>
          <p:nvPr/>
        </p:nvSpPr>
        <p:spPr>
          <a:xfrm>
            <a:off x="1188720" y="1280160"/>
            <a:ext cx="3108960" cy="457200"/>
          </a:xfrm>
          <a:prstGeom prst="rect">
            <a:avLst/>
          </a:prstGeom>
          <a:noFill/>
          <a:ln/>
        </p:spPr>
        <p:txBody>
          <a:bodyPr wrap="square" lIns="0" tIns="0" rIns="0" bIns="0" rtlCol="0" anchor="ctr"/>
          <a:lstStyle/>
          <a:p>
            <a:pPr indent="0" marL="0">
              <a:buNone/>
            </a:pPr>
            <a:r>
              <a:rPr lang="en-US" sz="1600" b="1" dirty="0">
                <a:solidFill>
                  <a:srgbClr val="0F3D26"/>
                </a:solidFill>
                <a:latin typeface="Cambria" pitchFamily="34" charset="0"/>
                <a:ea typeface="Cambria" pitchFamily="34" charset="-122"/>
                <a:cs typeface="Cambria" pitchFamily="34" charset="-120"/>
              </a:rPr>
              <a:t>Rule-based lexicon</a:t>
            </a:r>
            <a:endParaRPr lang="en-US" sz="1600" dirty="0"/>
          </a:p>
        </p:txBody>
      </p:sp>
      <p:sp>
        <p:nvSpPr>
          <p:cNvPr id="8" name="Text 5"/>
          <p:cNvSpPr txBox="1"/>
          <p:nvPr/>
        </p:nvSpPr>
        <p:spPr>
          <a:xfrm>
            <a:off x="640080" y="1828800"/>
            <a:ext cx="3657600" cy="365760"/>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Transparent by construction. Scores each claim on four signal groups:</a:t>
            </a:r>
            <a:endParaRPr lang="en-US" sz="1050" dirty="0"/>
          </a:p>
        </p:txBody>
      </p:sp>
      <p:sp>
        <p:nvSpPr>
          <p:cNvPr id="9" name="Shape 6"/>
          <p:cNvSpPr/>
          <p:nvPr/>
        </p:nvSpPr>
        <p:spPr>
          <a:xfrm>
            <a:off x="658368" y="2313432"/>
            <a:ext cx="128016" cy="128016"/>
          </a:xfrm>
          <a:prstGeom prst="ellipse">
            <a:avLst/>
          </a:prstGeom>
          <a:solidFill>
            <a:srgbClr val="D2483F"/>
          </a:solidFill>
          <a:ln w="12700">
            <a:solidFill>
              <a:srgbClr val="D2483F"/>
            </a:solidFill>
            <a:prstDash val="solid"/>
          </a:ln>
        </p:spPr>
      </p:sp>
      <p:sp>
        <p:nvSpPr>
          <p:cNvPr id="10" name="Text 7"/>
          <p:cNvSpPr txBox="1"/>
          <p:nvPr/>
        </p:nvSpPr>
        <p:spPr>
          <a:xfrm>
            <a:off x="896112" y="2240280"/>
            <a:ext cx="3474720" cy="384048"/>
          </a:xfrm>
          <a:prstGeom prst="rect">
            <a:avLst/>
          </a:prstGeom>
          <a:noFill/>
          <a:ln/>
        </p:spPr>
        <p:txBody>
          <a:bodyPr wrap="square" lIns="0" tIns="0" rIns="0" bIns="0" rtlCol="0" anchor="t"/>
          <a:lstStyle/>
          <a:p>
            <a:pPr indent="0" marL="0">
              <a:buNone/>
            </a:pPr>
            <a:r>
              <a:rPr lang="en-US" sz="1050" b="1" dirty="0">
                <a:solidFill>
                  <a:srgbClr val="0F3D26"/>
                </a:solidFill>
                <a:latin typeface="Calibri" pitchFamily="34" charset="0"/>
                <a:ea typeface="Calibri" pitchFamily="34" charset="-122"/>
                <a:cs typeface="Calibri" pitchFamily="34" charset="-120"/>
              </a:rPr>
              <a:t>Vague terms  </a:t>
            </a:r>
            <a:pPr indent="0" marL="0">
              <a:buNone/>
            </a:pPr>
            <a:r>
              <a:rPr lang="en-US" sz="1050" dirty="0">
                <a:solidFill>
                  <a:srgbClr val="5F6F66"/>
                </a:solidFill>
                <a:latin typeface="Calibri" pitchFamily="34" charset="0"/>
                <a:ea typeface="Calibri" pitchFamily="34" charset="-122"/>
                <a:cs typeface="Calibri" pitchFamily="34" charset="-120"/>
              </a:rPr>
              <a:t>"eco-friendly", "green", "sustainable future"</a:t>
            </a:r>
            <a:endParaRPr lang="en-US" sz="1050" dirty="0"/>
          </a:p>
        </p:txBody>
      </p:sp>
      <p:sp>
        <p:nvSpPr>
          <p:cNvPr id="11" name="Shape 8"/>
          <p:cNvSpPr/>
          <p:nvPr/>
        </p:nvSpPr>
        <p:spPr>
          <a:xfrm>
            <a:off x="658368" y="2752344"/>
            <a:ext cx="128016" cy="128016"/>
          </a:xfrm>
          <a:prstGeom prst="ellipse">
            <a:avLst/>
          </a:prstGeom>
          <a:solidFill>
            <a:srgbClr val="D2483F"/>
          </a:solidFill>
          <a:ln w="12700">
            <a:solidFill>
              <a:srgbClr val="D2483F"/>
            </a:solidFill>
            <a:prstDash val="solid"/>
          </a:ln>
        </p:spPr>
      </p:sp>
      <p:sp>
        <p:nvSpPr>
          <p:cNvPr id="12" name="Text 9"/>
          <p:cNvSpPr txBox="1"/>
          <p:nvPr/>
        </p:nvSpPr>
        <p:spPr>
          <a:xfrm>
            <a:off x="896112" y="2679192"/>
            <a:ext cx="3474720" cy="384048"/>
          </a:xfrm>
          <a:prstGeom prst="rect">
            <a:avLst/>
          </a:prstGeom>
          <a:noFill/>
          <a:ln/>
        </p:spPr>
        <p:txBody>
          <a:bodyPr wrap="square" lIns="0" tIns="0" rIns="0" bIns="0" rtlCol="0" anchor="t"/>
          <a:lstStyle/>
          <a:p>
            <a:pPr indent="0" marL="0">
              <a:buNone/>
            </a:pPr>
            <a:r>
              <a:rPr lang="en-US" sz="1050" b="1" dirty="0">
                <a:solidFill>
                  <a:srgbClr val="0F3D26"/>
                </a:solidFill>
                <a:latin typeface="Calibri" pitchFamily="34" charset="0"/>
                <a:ea typeface="Calibri" pitchFamily="34" charset="-122"/>
                <a:cs typeface="Calibri" pitchFamily="34" charset="-120"/>
              </a:rPr>
              <a:t>Unsupported superlatives  </a:t>
            </a:r>
            <a:pPr indent="0" marL="0">
              <a:buNone/>
            </a:pPr>
            <a:r>
              <a:rPr lang="en-US" sz="1050" dirty="0">
                <a:solidFill>
                  <a:srgbClr val="5F6F66"/>
                </a:solidFill>
                <a:latin typeface="Calibri" pitchFamily="34" charset="0"/>
                <a:ea typeface="Calibri" pitchFamily="34" charset="-122"/>
                <a:cs typeface="Calibri" pitchFamily="34" charset="-120"/>
              </a:rPr>
              <a:t>"leading", "revolutionary", "100%"</a:t>
            </a:r>
            <a:endParaRPr lang="en-US" sz="1050" dirty="0"/>
          </a:p>
        </p:txBody>
      </p:sp>
      <p:sp>
        <p:nvSpPr>
          <p:cNvPr id="13" name="Shape 10"/>
          <p:cNvSpPr/>
          <p:nvPr/>
        </p:nvSpPr>
        <p:spPr>
          <a:xfrm>
            <a:off x="658368" y="3191256"/>
            <a:ext cx="128016" cy="128016"/>
          </a:xfrm>
          <a:prstGeom prst="ellipse">
            <a:avLst/>
          </a:prstGeom>
          <a:solidFill>
            <a:srgbClr val="F0A21A"/>
          </a:solidFill>
          <a:ln w="12700">
            <a:solidFill>
              <a:srgbClr val="F0A21A"/>
            </a:solidFill>
            <a:prstDash val="solid"/>
          </a:ln>
        </p:spPr>
      </p:sp>
      <p:sp>
        <p:nvSpPr>
          <p:cNvPr id="14" name="Text 11"/>
          <p:cNvSpPr txBox="1"/>
          <p:nvPr/>
        </p:nvSpPr>
        <p:spPr>
          <a:xfrm>
            <a:off x="896112" y="3118104"/>
            <a:ext cx="3474720" cy="384048"/>
          </a:xfrm>
          <a:prstGeom prst="rect">
            <a:avLst/>
          </a:prstGeom>
          <a:noFill/>
          <a:ln/>
        </p:spPr>
        <p:txBody>
          <a:bodyPr wrap="square" lIns="0" tIns="0" rIns="0" bIns="0" rtlCol="0" anchor="t"/>
          <a:lstStyle/>
          <a:p>
            <a:pPr indent="0" marL="0">
              <a:buNone/>
            </a:pPr>
            <a:r>
              <a:rPr lang="en-US" sz="1050" b="1" dirty="0">
                <a:solidFill>
                  <a:srgbClr val="0F3D26"/>
                </a:solidFill>
                <a:latin typeface="Calibri" pitchFamily="34" charset="0"/>
                <a:ea typeface="Calibri" pitchFamily="34" charset="-122"/>
                <a:cs typeface="Calibri" pitchFamily="34" charset="-120"/>
              </a:rPr>
              <a:t>Broad scope  </a:t>
            </a:r>
            <a:pPr indent="0" marL="0">
              <a:buNone/>
            </a:pPr>
            <a:r>
              <a:rPr lang="en-US" sz="1050" dirty="0">
                <a:solidFill>
                  <a:srgbClr val="5F6F66"/>
                </a:solidFill>
                <a:latin typeface="Calibri" pitchFamily="34" charset="0"/>
                <a:ea typeface="Calibri" pitchFamily="34" charset="-122"/>
                <a:cs typeface="Calibri" pitchFamily="34" charset="-120"/>
              </a:rPr>
              <a:t>"all", "every", "across its operations"</a:t>
            </a:r>
            <a:endParaRPr lang="en-US" sz="1050" dirty="0"/>
          </a:p>
        </p:txBody>
      </p:sp>
      <p:sp>
        <p:nvSpPr>
          <p:cNvPr id="15" name="Shape 12"/>
          <p:cNvSpPr/>
          <p:nvPr/>
        </p:nvSpPr>
        <p:spPr>
          <a:xfrm>
            <a:off x="658368" y="3630168"/>
            <a:ext cx="128016" cy="128016"/>
          </a:xfrm>
          <a:prstGeom prst="ellipse">
            <a:avLst/>
          </a:prstGeom>
          <a:solidFill>
            <a:srgbClr val="3FAE6A"/>
          </a:solidFill>
          <a:ln w="12700">
            <a:solidFill>
              <a:srgbClr val="3FAE6A"/>
            </a:solidFill>
            <a:prstDash val="solid"/>
          </a:ln>
        </p:spPr>
      </p:sp>
      <p:sp>
        <p:nvSpPr>
          <p:cNvPr id="16" name="Text 13"/>
          <p:cNvSpPr txBox="1"/>
          <p:nvPr/>
        </p:nvSpPr>
        <p:spPr>
          <a:xfrm>
            <a:off x="896112" y="3557016"/>
            <a:ext cx="3474720" cy="384048"/>
          </a:xfrm>
          <a:prstGeom prst="rect">
            <a:avLst/>
          </a:prstGeom>
          <a:noFill/>
          <a:ln/>
        </p:spPr>
        <p:txBody>
          <a:bodyPr wrap="square" lIns="0" tIns="0" rIns="0" bIns="0" rtlCol="0" anchor="t"/>
          <a:lstStyle/>
          <a:p>
            <a:pPr indent="0" marL="0">
              <a:buNone/>
            </a:pPr>
            <a:r>
              <a:rPr lang="en-US" sz="1050" b="1" dirty="0">
                <a:solidFill>
                  <a:srgbClr val="0F3D26"/>
                </a:solidFill>
                <a:latin typeface="Calibri" pitchFamily="34" charset="0"/>
                <a:ea typeface="Calibri" pitchFamily="34" charset="-122"/>
                <a:cs typeface="Calibri" pitchFamily="34" charset="-120"/>
              </a:rPr>
              <a:t>Evidence markers  </a:t>
            </a:r>
            <a:pPr indent="0" marL="0">
              <a:buNone/>
            </a:pPr>
            <a:r>
              <a:rPr lang="en-US" sz="1050" dirty="0">
                <a:solidFill>
                  <a:srgbClr val="5F6F66"/>
                </a:solidFill>
                <a:latin typeface="Calibri" pitchFamily="34" charset="0"/>
                <a:ea typeface="Calibri" pitchFamily="34" charset="-122"/>
                <a:cs typeface="Calibri" pitchFamily="34" charset="-120"/>
              </a:rPr>
              <a:t>numbers, dates, certifications</a:t>
            </a:r>
            <a:endParaRPr lang="en-US" sz="1050" dirty="0"/>
          </a:p>
        </p:txBody>
      </p:sp>
      <p:sp>
        <p:nvSpPr>
          <p:cNvPr id="17" name="Shape 14"/>
          <p:cNvSpPr/>
          <p:nvPr/>
        </p:nvSpPr>
        <p:spPr>
          <a:xfrm>
            <a:off x="4846320" y="1280160"/>
            <a:ext cx="457200" cy="457200"/>
          </a:xfrm>
          <a:prstGeom prst="ellipse">
            <a:avLst/>
          </a:prstGeom>
          <a:solidFill>
            <a:srgbClr val="1F7A45"/>
          </a:solidFill>
          <a:ln w="12700">
            <a:solidFill>
              <a:srgbClr val="1F7A45"/>
            </a:solidFill>
            <a:prstDash val="solid"/>
          </a:ln>
        </p:spPr>
      </p:sp>
      <p:pic>
        <p:nvPicPr>
          <p:cNvPr id="18" name="Image 1" descr="preencoded.png">    </p:cNvPr>
          <p:cNvPicPr>
            <a:picLocks noChangeAspect="1"/>
          </p:cNvPicPr>
          <p:nvPr/>
        </p:nvPicPr>
        <p:blipFill>
          <a:blip r:embed="rId2"/>
          <a:stretch>
            <a:fillRect/>
          </a:stretch>
        </p:blipFill>
        <p:spPr>
          <a:xfrm>
            <a:off x="4960620" y="1394460"/>
            <a:ext cx="228600" cy="228600"/>
          </a:xfrm>
          <a:prstGeom prst="rect">
            <a:avLst/>
          </a:prstGeom>
        </p:spPr>
      </p:pic>
      <p:sp>
        <p:nvSpPr>
          <p:cNvPr id="19" name="Text 15"/>
          <p:cNvSpPr txBox="1"/>
          <p:nvPr/>
        </p:nvSpPr>
        <p:spPr>
          <a:xfrm>
            <a:off x="5394960" y="1280160"/>
            <a:ext cx="3200400" cy="457200"/>
          </a:xfrm>
          <a:prstGeom prst="rect">
            <a:avLst/>
          </a:prstGeom>
          <a:noFill/>
          <a:ln/>
        </p:spPr>
        <p:txBody>
          <a:bodyPr wrap="square" lIns="0" tIns="0" rIns="0" bIns="0" rtlCol="0" anchor="ctr"/>
          <a:lstStyle/>
          <a:p>
            <a:pPr indent="0" marL="0">
              <a:buNone/>
            </a:pPr>
            <a:r>
              <a:rPr lang="en-US" sz="1600" b="1" dirty="0">
                <a:solidFill>
                  <a:srgbClr val="0F3D26"/>
                </a:solidFill>
                <a:latin typeface="Cambria" pitchFamily="34" charset="0"/>
                <a:ea typeface="Cambria" pitchFamily="34" charset="-122"/>
                <a:cs typeface="Cambria" pitchFamily="34" charset="-120"/>
              </a:rPr>
              <a:t>ML: TF-IDF + Logistic Regression</a:t>
            </a:r>
            <a:endParaRPr lang="en-US" sz="1600" dirty="0"/>
          </a:p>
        </p:txBody>
      </p:sp>
      <p:sp>
        <p:nvSpPr>
          <p:cNvPr id="20" name="Text 16"/>
          <p:cNvSpPr txBox="1"/>
          <p:nvPr/>
        </p:nvSpPr>
        <p:spPr>
          <a:xfrm>
            <a:off x="4846320" y="1828800"/>
            <a:ext cx="3657600" cy="274320"/>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Learns patterns automatically from labelled claims.</a:t>
            </a:r>
            <a:endParaRPr lang="en-US" sz="1050" dirty="0"/>
          </a:p>
        </p:txBody>
      </p:sp>
      <p:sp>
        <p:nvSpPr>
          <p:cNvPr id="21" name="Shape 17"/>
          <p:cNvSpPr/>
          <p:nvPr/>
        </p:nvSpPr>
        <p:spPr>
          <a:xfrm>
            <a:off x="4864608" y="2313432"/>
            <a:ext cx="128016" cy="128016"/>
          </a:xfrm>
          <a:prstGeom prst="ellipse">
            <a:avLst/>
          </a:prstGeom>
          <a:solidFill>
            <a:srgbClr val="1F7A45"/>
          </a:solidFill>
          <a:ln w="12700">
            <a:solidFill>
              <a:srgbClr val="1F7A45"/>
            </a:solidFill>
            <a:prstDash val="solid"/>
          </a:ln>
        </p:spPr>
      </p:sp>
      <p:sp>
        <p:nvSpPr>
          <p:cNvPr id="22" name="Text 18"/>
          <p:cNvSpPr txBox="1"/>
          <p:nvPr/>
        </p:nvSpPr>
        <p:spPr>
          <a:xfrm>
            <a:off x="5102352" y="2240280"/>
            <a:ext cx="3429000" cy="530352"/>
          </a:xfrm>
          <a:prstGeom prst="rect">
            <a:avLst/>
          </a:prstGeom>
          <a:noFill/>
          <a:ln/>
        </p:spPr>
        <p:txBody>
          <a:bodyPr wrap="square" lIns="0" tIns="0" rIns="0" bIns="0" rtlCol="0" anchor="t"/>
          <a:lstStyle/>
          <a:p>
            <a:pPr indent="0" marL="0">
              <a:buNone/>
            </a:pPr>
            <a:r>
              <a:rPr lang="en-US" sz="1050" b="1" dirty="0">
                <a:solidFill>
                  <a:srgbClr val="0F3D26"/>
                </a:solidFill>
                <a:latin typeface="Calibri" pitchFamily="34" charset="0"/>
                <a:ea typeface="Calibri" pitchFamily="34" charset="-122"/>
                <a:cs typeface="Calibri" pitchFamily="34" charset="-120"/>
              </a:rPr>
              <a:t>1-2 gram TF-IDF features  </a:t>
            </a:r>
            <a:pPr indent="0" marL="0">
              <a:buNone/>
            </a:pPr>
            <a:r>
              <a:rPr lang="en-US" sz="1050" dirty="0">
                <a:solidFill>
                  <a:srgbClr val="5F6F66"/>
                </a:solidFill>
                <a:latin typeface="Calibri" pitchFamily="34" charset="0"/>
                <a:ea typeface="Calibri" pitchFamily="34" charset="-122"/>
                <a:cs typeface="Calibri" pitchFamily="34" charset="-120"/>
              </a:rPr>
              <a:t>single words and short phrases</a:t>
            </a:r>
            <a:endParaRPr lang="en-US" sz="1050" dirty="0"/>
          </a:p>
        </p:txBody>
      </p:sp>
      <p:sp>
        <p:nvSpPr>
          <p:cNvPr id="23" name="Shape 19"/>
          <p:cNvSpPr/>
          <p:nvPr/>
        </p:nvSpPr>
        <p:spPr>
          <a:xfrm>
            <a:off x="4864608" y="2880360"/>
            <a:ext cx="128016" cy="128016"/>
          </a:xfrm>
          <a:prstGeom prst="ellipse">
            <a:avLst/>
          </a:prstGeom>
          <a:solidFill>
            <a:srgbClr val="1F7A45"/>
          </a:solidFill>
          <a:ln w="12700">
            <a:solidFill>
              <a:srgbClr val="1F7A45"/>
            </a:solidFill>
            <a:prstDash val="solid"/>
          </a:ln>
        </p:spPr>
      </p:sp>
      <p:sp>
        <p:nvSpPr>
          <p:cNvPr id="24" name="Text 20"/>
          <p:cNvSpPr txBox="1"/>
          <p:nvPr/>
        </p:nvSpPr>
        <p:spPr>
          <a:xfrm>
            <a:off x="5102352" y="2807208"/>
            <a:ext cx="3429000" cy="530352"/>
          </a:xfrm>
          <a:prstGeom prst="rect">
            <a:avLst/>
          </a:prstGeom>
          <a:noFill/>
          <a:ln/>
        </p:spPr>
        <p:txBody>
          <a:bodyPr wrap="square" lIns="0" tIns="0" rIns="0" bIns="0" rtlCol="0" anchor="t"/>
          <a:lstStyle/>
          <a:p>
            <a:pPr indent="0" marL="0">
              <a:buNone/>
            </a:pPr>
            <a:r>
              <a:rPr lang="en-US" sz="1050" b="1" dirty="0">
                <a:solidFill>
                  <a:srgbClr val="0F3D26"/>
                </a:solidFill>
                <a:latin typeface="Calibri" pitchFamily="34" charset="0"/>
                <a:ea typeface="Calibri" pitchFamily="34" charset="-122"/>
                <a:cs typeface="Calibri" pitchFamily="34" charset="-120"/>
              </a:rPr>
              <a:t>Logistic Regression  </a:t>
            </a:r>
            <a:pPr indent="0" marL="0">
              <a:buNone/>
            </a:pPr>
            <a:r>
              <a:rPr lang="en-US" sz="1050" dirty="0">
                <a:solidFill>
                  <a:srgbClr val="5F6F66"/>
                </a:solidFill>
                <a:latin typeface="Calibri" pitchFamily="34" charset="0"/>
                <a:ea typeface="Calibri" pitchFamily="34" charset="-122"/>
                <a:cs typeface="Calibri" pitchFamily="34" charset="-120"/>
              </a:rPr>
              <a:t>linear, so coefficients show which terms push a claim towards "greenwashing"</a:t>
            </a:r>
            <a:endParaRPr lang="en-US" sz="1050" dirty="0"/>
          </a:p>
        </p:txBody>
      </p:sp>
      <p:sp>
        <p:nvSpPr>
          <p:cNvPr id="25" name="Shape 21"/>
          <p:cNvSpPr/>
          <p:nvPr/>
        </p:nvSpPr>
        <p:spPr>
          <a:xfrm>
            <a:off x="4864608" y="3447288"/>
            <a:ext cx="128016" cy="128016"/>
          </a:xfrm>
          <a:prstGeom prst="ellipse">
            <a:avLst/>
          </a:prstGeom>
          <a:solidFill>
            <a:srgbClr val="1F7A45"/>
          </a:solidFill>
          <a:ln w="12700">
            <a:solidFill>
              <a:srgbClr val="1F7A45"/>
            </a:solidFill>
            <a:prstDash val="solid"/>
          </a:ln>
        </p:spPr>
      </p:sp>
      <p:sp>
        <p:nvSpPr>
          <p:cNvPr id="26" name="Text 22"/>
          <p:cNvSpPr txBox="1"/>
          <p:nvPr/>
        </p:nvSpPr>
        <p:spPr>
          <a:xfrm>
            <a:off x="5102352" y="3374136"/>
            <a:ext cx="3429000" cy="530352"/>
          </a:xfrm>
          <a:prstGeom prst="rect">
            <a:avLst/>
          </a:prstGeom>
          <a:noFill/>
          <a:ln/>
        </p:spPr>
        <p:txBody>
          <a:bodyPr wrap="square" lIns="0" tIns="0" rIns="0" bIns="0" rtlCol="0" anchor="t"/>
          <a:lstStyle/>
          <a:p>
            <a:pPr indent="0" marL="0">
              <a:buNone/>
            </a:pPr>
            <a:r>
              <a:rPr lang="en-US" sz="1050" b="1" dirty="0">
                <a:solidFill>
                  <a:srgbClr val="0F3D26"/>
                </a:solidFill>
                <a:latin typeface="Calibri" pitchFamily="34" charset="0"/>
                <a:ea typeface="Calibri" pitchFamily="34" charset="-122"/>
                <a:cs typeface="Calibri" pitchFamily="34" charset="-120"/>
              </a:rPr>
              <a:t>Train 434, test 186  </a:t>
            </a:r>
            <a:pPr indent="0" marL="0">
              <a:buNone/>
            </a:pPr>
            <a:r>
              <a:rPr lang="en-US" sz="1050" dirty="0">
                <a:solidFill>
                  <a:srgbClr val="5F6F66"/>
                </a:solidFill>
                <a:latin typeface="Calibri" pitchFamily="34" charset="0"/>
                <a:ea typeface="Calibri" pitchFamily="34" charset="-122"/>
                <a:cs typeface="Calibri" pitchFamily="34" charset="-120"/>
              </a:rPr>
              <a:t>evaluated on claims it never saw</a:t>
            </a:r>
            <a:endParaRPr lang="en-US" sz="1050" dirty="0"/>
          </a:p>
        </p:txBody>
      </p:sp>
      <p:sp>
        <p:nvSpPr>
          <p:cNvPr id="27" name="Shape 23"/>
          <p:cNvSpPr/>
          <p:nvPr/>
        </p:nvSpPr>
        <p:spPr>
          <a:xfrm>
            <a:off x="457200" y="4206240"/>
            <a:ext cx="8229600" cy="502920"/>
          </a:xfrm>
          <a:prstGeom prst="roundRect">
            <a:avLst>
              <a:gd name="adj" fmla="val 14545"/>
            </a:avLst>
          </a:prstGeom>
          <a:solidFill>
            <a:srgbClr val="0F3D26"/>
          </a:solidFill>
          <a:ln w="12700">
            <a:solidFill>
              <a:srgbClr val="0F3D26"/>
            </a:solidFill>
            <a:prstDash val="solid"/>
          </a:ln>
        </p:spPr>
      </p:sp>
      <p:sp>
        <p:nvSpPr>
          <p:cNvPr id="28" name="Text 24"/>
          <p:cNvSpPr txBox="1"/>
          <p:nvPr/>
        </p:nvSpPr>
        <p:spPr>
          <a:xfrm>
            <a:off x="685800" y="4206240"/>
            <a:ext cx="7772400" cy="502920"/>
          </a:xfrm>
          <a:prstGeom prst="rect">
            <a:avLst/>
          </a:prstGeom>
          <a:noFill/>
          <a:ln/>
        </p:spPr>
        <p:txBody>
          <a:bodyPr wrap="square" lIns="0" tIns="0" rIns="0" bIns="0" rtlCol="0" anchor="ctr"/>
          <a:lstStyle/>
          <a:p>
            <a:pPr indent="0" marL="0">
              <a:buNone/>
            </a:pPr>
            <a:r>
              <a:rPr lang="en-US" sz="1200" b="1" dirty="0">
                <a:solidFill>
                  <a:srgbClr val="F0A21A"/>
                </a:solidFill>
                <a:latin typeface="Calibri" pitchFamily="34" charset="0"/>
                <a:ea typeface="Calibri" pitchFamily="34" charset="-122"/>
                <a:cs typeface="Calibri" pitchFamily="34" charset="-120"/>
              </a:rPr>
              <a:t>Why both?  </a:t>
            </a:r>
            <a:pPr indent="0" marL="0">
              <a:buNone/>
            </a:pPr>
            <a:r>
              <a:rPr lang="en-US" sz="1200" dirty="0">
                <a:solidFill>
                  <a:srgbClr val="FFFFFF"/>
                </a:solidFill>
                <a:latin typeface="Calibri" pitchFamily="34" charset="0"/>
                <a:ea typeface="Calibri" pitchFamily="34" charset="-122"/>
                <a:cs typeface="Calibri" pitchFamily="34" charset="-120"/>
              </a:rPr>
              <a:t>The lexicon is a transparent baseline needing no training; the ML model shows what learning from labels adds.</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What the ML Model Learned</a:t>
            </a:r>
            <a:endParaRPr lang="en-US" sz="2600" dirty="0"/>
          </a:p>
        </p:txBody>
      </p:sp>
      <p:sp>
        <p:nvSpPr>
          <p:cNvPr id="3" name="Shape 1"/>
          <p:cNvSpPr/>
          <p:nvPr/>
        </p:nvSpPr>
        <p:spPr>
          <a:xfrm>
            <a:off x="457200" y="1143000"/>
            <a:ext cx="4206240" cy="1828800"/>
          </a:xfrm>
          <a:prstGeom prst="roundRect">
            <a:avLst>
              <a:gd name="adj" fmla="val 4000"/>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40080" y="1234440"/>
            <a:ext cx="3840480" cy="228600"/>
          </a:xfrm>
          <a:prstGeom prst="rect">
            <a:avLst/>
          </a:prstGeom>
          <a:noFill/>
          <a:ln/>
        </p:spPr>
        <p:txBody>
          <a:bodyPr wrap="square" lIns="0" tIns="0" rIns="0" bIns="0" rtlCol="0" anchor="t"/>
          <a:lstStyle/>
          <a:p>
            <a:pPr indent="0" marL="0">
              <a:buNone/>
            </a:pPr>
            <a:r>
              <a:rPr lang="en-US" sz="900" b="1" spc="150" kern="0" dirty="0">
                <a:solidFill>
                  <a:srgbClr val="5F6F66"/>
                </a:solidFill>
                <a:latin typeface="Calibri" pitchFamily="34" charset="0"/>
                <a:ea typeface="Calibri" pitchFamily="34" charset="-122"/>
                <a:cs typeface="Calibri" pitchFamily="34" charset="-120"/>
              </a:rPr>
              <a:t>TOP TERMS PUSHING TOWARDS "GREENWASHING"</a:t>
            </a:r>
            <a:endParaRPr lang="en-US" sz="900" dirty="0"/>
          </a:p>
        </p:txBody>
      </p:sp>
      <p:sp>
        <p:nvSpPr>
          <p:cNvPr id="5" name="Shape 3"/>
          <p:cNvSpPr/>
          <p:nvPr/>
        </p:nvSpPr>
        <p:spPr>
          <a:xfrm>
            <a:off x="640080" y="1600200"/>
            <a:ext cx="896112" cy="384048"/>
          </a:xfrm>
          <a:prstGeom prst="roundRect">
            <a:avLst>
              <a:gd name="adj" fmla="val 33333"/>
            </a:avLst>
          </a:prstGeom>
          <a:solidFill>
            <a:srgbClr val="E8F3EA"/>
          </a:solidFill>
          <a:ln w="9525">
            <a:solidFill>
              <a:srgbClr val="3FAE6A"/>
            </a:solidFill>
            <a:prstDash val="solid"/>
          </a:ln>
        </p:spPr>
      </p:sp>
      <p:sp>
        <p:nvSpPr>
          <p:cNvPr id="6" name="Text 4"/>
          <p:cNvSpPr txBox="1"/>
          <p:nvPr/>
        </p:nvSpPr>
        <p:spPr>
          <a:xfrm>
            <a:off x="640080" y="1600200"/>
            <a:ext cx="896112" cy="384048"/>
          </a:xfrm>
          <a:prstGeom prst="rect">
            <a:avLst/>
          </a:prstGeom>
          <a:noFill/>
          <a:ln/>
        </p:spPr>
        <p:txBody>
          <a:bodyPr wrap="square" lIns="0" tIns="0" rIns="0" bIns="0" rtlCol="0" anchor="ctr"/>
          <a:lstStyle/>
          <a:p>
            <a:pPr algn="ctr" indent="0" marL="0">
              <a:buNone/>
            </a:pPr>
            <a:r>
              <a:rPr lang="en-US" sz="1200" b="1" dirty="0">
                <a:solidFill>
                  <a:srgbClr val="1F7A45"/>
                </a:solidFill>
                <a:latin typeface="Calibri" pitchFamily="34" charset="0"/>
                <a:ea typeface="Calibri" pitchFamily="34" charset="-122"/>
                <a:cs typeface="Calibri" pitchFamily="34" charset="-120"/>
              </a:rPr>
              <a:t>million</a:t>
            </a:r>
            <a:endParaRPr lang="en-US" sz="1200" dirty="0"/>
          </a:p>
        </p:txBody>
      </p:sp>
      <p:sp>
        <p:nvSpPr>
          <p:cNvPr id="7" name="Shape 5"/>
          <p:cNvSpPr/>
          <p:nvPr/>
        </p:nvSpPr>
        <p:spPr>
          <a:xfrm>
            <a:off x="1618488" y="1600200"/>
            <a:ext cx="896112" cy="384048"/>
          </a:xfrm>
          <a:prstGeom prst="roundRect">
            <a:avLst>
              <a:gd name="adj" fmla="val 33333"/>
            </a:avLst>
          </a:prstGeom>
          <a:solidFill>
            <a:srgbClr val="E8F3EA"/>
          </a:solidFill>
          <a:ln w="9525">
            <a:solidFill>
              <a:srgbClr val="3FAE6A"/>
            </a:solidFill>
            <a:prstDash val="solid"/>
          </a:ln>
        </p:spPr>
      </p:sp>
      <p:sp>
        <p:nvSpPr>
          <p:cNvPr id="8" name="Text 6"/>
          <p:cNvSpPr txBox="1"/>
          <p:nvPr/>
        </p:nvSpPr>
        <p:spPr>
          <a:xfrm>
            <a:off x="1618488" y="1600200"/>
            <a:ext cx="896112" cy="384048"/>
          </a:xfrm>
          <a:prstGeom prst="rect">
            <a:avLst/>
          </a:prstGeom>
          <a:noFill/>
          <a:ln/>
        </p:spPr>
        <p:txBody>
          <a:bodyPr wrap="square" lIns="0" tIns="0" rIns="0" bIns="0" rtlCol="0" anchor="ctr"/>
          <a:lstStyle/>
          <a:p>
            <a:pPr algn="ctr" indent="0" marL="0">
              <a:buNone/>
            </a:pPr>
            <a:r>
              <a:rPr lang="en-US" sz="1200" b="1" dirty="0">
                <a:solidFill>
                  <a:srgbClr val="1F7A45"/>
                </a:solidFill>
                <a:latin typeface="Calibri" pitchFamily="34" charset="0"/>
                <a:ea typeface="Calibri" pitchFamily="34" charset="-122"/>
                <a:cs typeface="Calibri" pitchFamily="34" charset="-120"/>
              </a:rPr>
              <a:t>power</a:t>
            </a:r>
            <a:endParaRPr lang="en-US" sz="1200" dirty="0"/>
          </a:p>
        </p:txBody>
      </p:sp>
      <p:sp>
        <p:nvSpPr>
          <p:cNvPr id="9" name="Shape 7"/>
          <p:cNvSpPr/>
          <p:nvPr/>
        </p:nvSpPr>
        <p:spPr>
          <a:xfrm>
            <a:off x="2596896" y="1600200"/>
            <a:ext cx="896112" cy="384048"/>
          </a:xfrm>
          <a:prstGeom prst="roundRect">
            <a:avLst>
              <a:gd name="adj" fmla="val 33333"/>
            </a:avLst>
          </a:prstGeom>
          <a:solidFill>
            <a:srgbClr val="E8F3EA"/>
          </a:solidFill>
          <a:ln w="9525">
            <a:solidFill>
              <a:srgbClr val="3FAE6A"/>
            </a:solidFill>
            <a:prstDash val="solid"/>
          </a:ln>
        </p:spPr>
      </p:sp>
      <p:sp>
        <p:nvSpPr>
          <p:cNvPr id="10" name="Text 8"/>
          <p:cNvSpPr txBox="1"/>
          <p:nvPr/>
        </p:nvSpPr>
        <p:spPr>
          <a:xfrm>
            <a:off x="2596896" y="1600200"/>
            <a:ext cx="896112" cy="384048"/>
          </a:xfrm>
          <a:prstGeom prst="rect">
            <a:avLst/>
          </a:prstGeom>
          <a:noFill/>
          <a:ln/>
        </p:spPr>
        <p:txBody>
          <a:bodyPr wrap="square" lIns="0" tIns="0" rIns="0" bIns="0" rtlCol="0" anchor="ctr"/>
          <a:lstStyle/>
          <a:p>
            <a:pPr algn="ctr" indent="0" marL="0">
              <a:buNone/>
            </a:pPr>
            <a:r>
              <a:rPr lang="en-US" sz="1200" b="1" dirty="0">
                <a:solidFill>
                  <a:srgbClr val="1F7A45"/>
                </a:solidFill>
                <a:latin typeface="Calibri" pitchFamily="34" charset="0"/>
                <a:ea typeface="Calibri" pitchFamily="34" charset="-122"/>
                <a:cs typeface="Calibri" pitchFamily="34" charset="-120"/>
              </a:rPr>
              <a:t>2021</a:t>
            </a:r>
            <a:endParaRPr lang="en-US" sz="1200" dirty="0"/>
          </a:p>
        </p:txBody>
      </p:sp>
      <p:sp>
        <p:nvSpPr>
          <p:cNvPr id="11" name="Shape 9"/>
          <p:cNvSpPr/>
          <p:nvPr/>
        </p:nvSpPr>
        <p:spPr>
          <a:xfrm>
            <a:off x="3575304" y="1600200"/>
            <a:ext cx="896112" cy="384048"/>
          </a:xfrm>
          <a:prstGeom prst="roundRect">
            <a:avLst>
              <a:gd name="adj" fmla="val 33333"/>
            </a:avLst>
          </a:prstGeom>
          <a:solidFill>
            <a:srgbClr val="E8F3EA"/>
          </a:solidFill>
          <a:ln w="9525">
            <a:solidFill>
              <a:srgbClr val="3FAE6A"/>
            </a:solidFill>
            <a:prstDash val="solid"/>
          </a:ln>
        </p:spPr>
      </p:sp>
      <p:sp>
        <p:nvSpPr>
          <p:cNvPr id="12" name="Text 10"/>
          <p:cNvSpPr txBox="1"/>
          <p:nvPr/>
        </p:nvSpPr>
        <p:spPr>
          <a:xfrm>
            <a:off x="3575304" y="1600200"/>
            <a:ext cx="896112" cy="384048"/>
          </a:xfrm>
          <a:prstGeom prst="rect">
            <a:avLst/>
          </a:prstGeom>
          <a:noFill/>
          <a:ln/>
        </p:spPr>
        <p:txBody>
          <a:bodyPr wrap="square" lIns="0" tIns="0" rIns="0" bIns="0" rtlCol="0" anchor="ctr"/>
          <a:lstStyle/>
          <a:p>
            <a:pPr algn="ctr" indent="0" marL="0">
              <a:buNone/>
            </a:pPr>
            <a:r>
              <a:rPr lang="en-US" sz="1200" b="1" dirty="0">
                <a:solidFill>
                  <a:srgbClr val="1F7A45"/>
                </a:solidFill>
                <a:latin typeface="Calibri" pitchFamily="34" charset="0"/>
                <a:ea typeface="Calibri" pitchFamily="34" charset="-122"/>
                <a:cs typeface="Calibri" pitchFamily="34" charset="-120"/>
              </a:rPr>
              <a:t>electric</a:t>
            </a:r>
            <a:endParaRPr lang="en-US" sz="1200" dirty="0"/>
          </a:p>
        </p:txBody>
      </p:sp>
      <p:sp>
        <p:nvSpPr>
          <p:cNvPr id="13" name="Shape 11"/>
          <p:cNvSpPr/>
          <p:nvPr/>
        </p:nvSpPr>
        <p:spPr>
          <a:xfrm>
            <a:off x="640080" y="2167128"/>
            <a:ext cx="896112" cy="384048"/>
          </a:xfrm>
          <a:prstGeom prst="roundRect">
            <a:avLst>
              <a:gd name="adj" fmla="val 33333"/>
            </a:avLst>
          </a:prstGeom>
          <a:solidFill>
            <a:srgbClr val="E8F3EA"/>
          </a:solidFill>
          <a:ln w="9525">
            <a:solidFill>
              <a:srgbClr val="3FAE6A"/>
            </a:solidFill>
            <a:prstDash val="solid"/>
          </a:ln>
        </p:spPr>
      </p:sp>
      <p:sp>
        <p:nvSpPr>
          <p:cNvPr id="14" name="Text 12"/>
          <p:cNvSpPr txBox="1"/>
          <p:nvPr/>
        </p:nvSpPr>
        <p:spPr>
          <a:xfrm>
            <a:off x="640080" y="2167128"/>
            <a:ext cx="896112" cy="384048"/>
          </a:xfrm>
          <a:prstGeom prst="rect">
            <a:avLst/>
          </a:prstGeom>
          <a:noFill/>
          <a:ln/>
        </p:spPr>
        <p:txBody>
          <a:bodyPr wrap="square" lIns="0" tIns="0" rIns="0" bIns="0" rtlCol="0" anchor="ctr"/>
          <a:lstStyle/>
          <a:p>
            <a:pPr algn="ctr" indent="0" marL="0">
              <a:buNone/>
            </a:pPr>
            <a:r>
              <a:rPr lang="en-US" sz="1200" b="1" dirty="0">
                <a:solidFill>
                  <a:srgbClr val="1F7A45"/>
                </a:solidFill>
                <a:latin typeface="Calibri" pitchFamily="34" charset="0"/>
                <a:ea typeface="Calibri" pitchFamily="34" charset="-122"/>
                <a:cs typeface="Calibri" pitchFamily="34" charset="-120"/>
              </a:rPr>
              <a:t>program</a:t>
            </a:r>
            <a:endParaRPr lang="en-US" sz="1200" dirty="0"/>
          </a:p>
        </p:txBody>
      </p:sp>
      <p:sp>
        <p:nvSpPr>
          <p:cNvPr id="15" name="Shape 13"/>
          <p:cNvSpPr/>
          <p:nvPr/>
        </p:nvSpPr>
        <p:spPr>
          <a:xfrm>
            <a:off x="1618488" y="2167128"/>
            <a:ext cx="896112" cy="384048"/>
          </a:xfrm>
          <a:prstGeom prst="roundRect">
            <a:avLst>
              <a:gd name="adj" fmla="val 33333"/>
            </a:avLst>
          </a:prstGeom>
          <a:solidFill>
            <a:srgbClr val="FDF1D6"/>
          </a:solidFill>
          <a:ln w="9525">
            <a:solidFill>
              <a:srgbClr val="F0A21A"/>
            </a:solidFill>
            <a:prstDash val="solid"/>
          </a:ln>
        </p:spPr>
      </p:sp>
      <p:sp>
        <p:nvSpPr>
          <p:cNvPr id="16" name="Text 14"/>
          <p:cNvSpPr txBox="1"/>
          <p:nvPr/>
        </p:nvSpPr>
        <p:spPr>
          <a:xfrm>
            <a:off x="1618488" y="2167128"/>
            <a:ext cx="896112" cy="384048"/>
          </a:xfrm>
          <a:prstGeom prst="rect">
            <a:avLst/>
          </a:prstGeom>
          <a:noFill/>
          <a:ln/>
        </p:spPr>
        <p:txBody>
          <a:bodyPr wrap="square" lIns="0" tIns="0" rIns="0" bIns="0" rtlCol="0" anchor="ctr"/>
          <a:lstStyle/>
          <a:p>
            <a:pPr algn="ctr" indent="0" marL="0">
              <a:buNone/>
            </a:pPr>
            <a:r>
              <a:rPr lang="en-US" sz="1200" b="1" dirty="0">
                <a:solidFill>
                  <a:srgbClr val="8A5A00"/>
                </a:solidFill>
                <a:latin typeface="Calibri" pitchFamily="34" charset="0"/>
                <a:ea typeface="Calibri" pitchFamily="34" charset="-122"/>
                <a:cs typeface="Calibri" pitchFamily="34" charset="-120"/>
              </a:rPr>
              <a:t>aims</a:t>
            </a:r>
            <a:endParaRPr lang="en-US" sz="1200" dirty="0"/>
          </a:p>
        </p:txBody>
      </p:sp>
      <p:sp>
        <p:nvSpPr>
          <p:cNvPr id="17" name="Shape 15"/>
          <p:cNvSpPr/>
          <p:nvPr/>
        </p:nvSpPr>
        <p:spPr>
          <a:xfrm>
            <a:off x="2596896" y="2167128"/>
            <a:ext cx="896112" cy="384048"/>
          </a:xfrm>
          <a:prstGeom prst="roundRect">
            <a:avLst>
              <a:gd name="adj" fmla="val 33333"/>
            </a:avLst>
          </a:prstGeom>
          <a:solidFill>
            <a:srgbClr val="FDF1D6"/>
          </a:solidFill>
          <a:ln w="9525">
            <a:solidFill>
              <a:srgbClr val="F0A21A"/>
            </a:solidFill>
            <a:prstDash val="solid"/>
          </a:ln>
        </p:spPr>
      </p:sp>
      <p:sp>
        <p:nvSpPr>
          <p:cNvPr id="18" name="Text 16"/>
          <p:cNvSpPr txBox="1"/>
          <p:nvPr/>
        </p:nvSpPr>
        <p:spPr>
          <a:xfrm>
            <a:off x="2596896" y="2167128"/>
            <a:ext cx="896112" cy="384048"/>
          </a:xfrm>
          <a:prstGeom prst="rect">
            <a:avLst/>
          </a:prstGeom>
          <a:noFill/>
          <a:ln/>
        </p:spPr>
        <p:txBody>
          <a:bodyPr wrap="square" lIns="0" tIns="0" rIns="0" bIns="0" rtlCol="0" anchor="ctr"/>
          <a:lstStyle/>
          <a:p>
            <a:pPr algn="ctr" indent="0" marL="0">
              <a:buNone/>
            </a:pPr>
            <a:r>
              <a:rPr lang="en-US" sz="1200" b="1" dirty="0">
                <a:solidFill>
                  <a:srgbClr val="8A5A00"/>
                </a:solidFill>
                <a:latin typeface="Calibri" pitchFamily="34" charset="0"/>
                <a:ea typeface="Calibri" pitchFamily="34" charset="-122"/>
                <a:cs typeface="Calibri" pitchFamily="34" charset="-120"/>
              </a:rPr>
              <a:t>2040</a:t>
            </a:r>
            <a:endParaRPr lang="en-US" sz="1200" dirty="0"/>
          </a:p>
        </p:txBody>
      </p:sp>
      <p:sp>
        <p:nvSpPr>
          <p:cNvPr id="19" name="Shape 17"/>
          <p:cNvSpPr/>
          <p:nvPr/>
        </p:nvSpPr>
        <p:spPr>
          <a:xfrm>
            <a:off x="3575304" y="2167128"/>
            <a:ext cx="896112" cy="384048"/>
          </a:xfrm>
          <a:prstGeom prst="roundRect">
            <a:avLst>
              <a:gd name="adj" fmla="val 33333"/>
            </a:avLst>
          </a:prstGeom>
          <a:solidFill>
            <a:srgbClr val="FDF1D6"/>
          </a:solidFill>
          <a:ln w="9525">
            <a:solidFill>
              <a:srgbClr val="F0A21A"/>
            </a:solidFill>
            <a:prstDash val="solid"/>
          </a:ln>
        </p:spPr>
      </p:sp>
      <p:sp>
        <p:nvSpPr>
          <p:cNvPr id="20" name="Text 18"/>
          <p:cNvSpPr txBox="1"/>
          <p:nvPr/>
        </p:nvSpPr>
        <p:spPr>
          <a:xfrm>
            <a:off x="3575304" y="2167128"/>
            <a:ext cx="896112" cy="384048"/>
          </a:xfrm>
          <a:prstGeom prst="rect">
            <a:avLst/>
          </a:prstGeom>
          <a:noFill/>
          <a:ln/>
        </p:spPr>
        <p:txBody>
          <a:bodyPr wrap="square" lIns="0" tIns="0" rIns="0" bIns="0" rtlCol="0" anchor="ctr"/>
          <a:lstStyle/>
          <a:p>
            <a:pPr algn="ctr" indent="0" marL="0">
              <a:buNone/>
            </a:pPr>
            <a:r>
              <a:rPr lang="en-US" sz="1200" b="1" dirty="0">
                <a:solidFill>
                  <a:srgbClr val="8A5A00"/>
                </a:solidFill>
                <a:latin typeface="Calibri" pitchFamily="34" charset="0"/>
                <a:ea typeface="Calibri" pitchFamily="34" charset="-122"/>
                <a:cs typeface="Calibri" pitchFamily="34" charset="-120"/>
              </a:rPr>
              <a:t>plans</a:t>
            </a:r>
            <a:endParaRPr lang="en-US" sz="1200" dirty="0"/>
          </a:p>
        </p:txBody>
      </p:sp>
      <p:sp>
        <p:nvSpPr>
          <p:cNvPr id="21" name="Text 19"/>
          <p:cNvSpPr txBox="1"/>
          <p:nvPr/>
        </p:nvSpPr>
        <p:spPr>
          <a:xfrm>
            <a:off x="640080" y="2697480"/>
            <a:ext cx="3840480" cy="228600"/>
          </a:xfrm>
          <a:prstGeom prst="rect">
            <a:avLst/>
          </a:prstGeom>
          <a:noFill/>
          <a:ln/>
        </p:spPr>
        <p:txBody>
          <a:bodyPr wrap="square" lIns="0" tIns="0" rIns="0" bIns="0" rtlCol="0" anchor="t"/>
          <a:lstStyle/>
          <a:p>
            <a:pPr indent="0" marL="0">
              <a:buNone/>
            </a:pPr>
            <a:r>
              <a:rPr lang="en-US" sz="950" i="1" dirty="0">
                <a:solidFill>
                  <a:srgbClr val="5F6F66"/>
                </a:solidFill>
                <a:latin typeface="Calibri" pitchFamily="34" charset="0"/>
                <a:ea typeface="Calibri" pitchFamily="34" charset="-122"/>
                <a:cs typeface="Calibri" pitchFamily="34" charset="-120"/>
              </a:rPr>
              <a:t>Amber = future-tense commitment words</a:t>
            </a:r>
            <a:endParaRPr lang="en-US" sz="950" dirty="0"/>
          </a:p>
        </p:txBody>
      </p:sp>
      <p:sp>
        <p:nvSpPr>
          <p:cNvPr id="22" name="Shape 20"/>
          <p:cNvSpPr/>
          <p:nvPr/>
        </p:nvSpPr>
        <p:spPr>
          <a:xfrm>
            <a:off x="4846320" y="1143000"/>
            <a:ext cx="3840480" cy="1828800"/>
          </a:xfrm>
          <a:prstGeom prst="roundRect">
            <a:avLst>
              <a:gd name="adj" fmla="val 4000"/>
            </a:avLst>
          </a:prstGeom>
          <a:solidFill>
            <a:srgbClr val="0F3D26"/>
          </a:solidFill>
          <a:ln w="9525">
            <a:solidFill>
              <a:srgbClr val="0F3D26"/>
            </a:solidFill>
            <a:prstDash val="solid"/>
          </a:ln>
          <a:effectLst>
            <a:outerShdw sx="100000" sy="100000" kx="0" ky="0" algn="bl" rotWithShape="0" blurRad="101600" dist="25400" dir="5400000">
              <a:srgbClr val="000000">
                <a:alpha val="12000"/>
              </a:srgbClr>
            </a:outerShdw>
          </a:effectLst>
        </p:spPr>
      </p:sp>
      <p:sp>
        <p:nvSpPr>
          <p:cNvPr id="23" name="Text 21"/>
          <p:cNvSpPr txBox="1"/>
          <p:nvPr/>
        </p:nvSpPr>
        <p:spPr>
          <a:xfrm>
            <a:off x="5029200" y="1261872"/>
            <a:ext cx="3474720" cy="228600"/>
          </a:xfrm>
          <a:prstGeom prst="rect">
            <a:avLst/>
          </a:prstGeom>
          <a:noFill/>
          <a:ln/>
        </p:spPr>
        <p:txBody>
          <a:bodyPr wrap="square" lIns="0" tIns="0" rIns="0" bIns="0" rtlCol="0" anchor="t"/>
          <a:lstStyle/>
          <a:p>
            <a:pPr indent="0" marL="0">
              <a:buNone/>
            </a:pPr>
            <a:r>
              <a:rPr lang="en-US" sz="900" b="1" spc="200" kern="0" dirty="0">
                <a:solidFill>
                  <a:srgbClr val="F0A21A"/>
                </a:solidFill>
                <a:latin typeface="Calibri" pitchFamily="34" charset="0"/>
                <a:ea typeface="Calibri" pitchFamily="34" charset="-122"/>
                <a:cs typeface="Calibri" pitchFamily="34" charset="-120"/>
              </a:rPr>
              <a:t>KEY INSIGHT</a:t>
            </a:r>
            <a:endParaRPr lang="en-US" sz="900" dirty="0"/>
          </a:p>
        </p:txBody>
      </p:sp>
      <p:sp>
        <p:nvSpPr>
          <p:cNvPr id="24" name="Text 22"/>
          <p:cNvSpPr txBox="1"/>
          <p:nvPr/>
        </p:nvSpPr>
        <p:spPr>
          <a:xfrm>
            <a:off x="5029200" y="1536192"/>
            <a:ext cx="3474720" cy="5943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It is not just keying on words like "eco-friendly".</a:t>
            </a:r>
            <a:endParaRPr lang="en-US" sz="1500" dirty="0"/>
          </a:p>
        </p:txBody>
      </p:sp>
      <p:sp>
        <p:nvSpPr>
          <p:cNvPr id="25" name="Text 23"/>
          <p:cNvSpPr txBox="1"/>
          <p:nvPr/>
        </p:nvSpPr>
        <p:spPr>
          <a:xfrm>
            <a:off x="5029200" y="2176272"/>
            <a:ext cx="3474720" cy="731520"/>
          </a:xfrm>
          <a:prstGeom prst="rect">
            <a:avLst/>
          </a:prstGeom>
          <a:noFill/>
          <a:ln/>
        </p:spPr>
        <p:txBody>
          <a:bodyPr wrap="square" lIns="0" tIns="0" rIns="0" bIns="0" rtlCol="0" anchor="t"/>
          <a:lstStyle/>
          <a:p>
            <a:pPr indent="0" marL="0">
              <a:buNone/>
            </a:pPr>
            <a:r>
              <a:rPr lang="en-US" sz="1100" dirty="0">
                <a:solidFill>
                  <a:srgbClr val="CFE6D6"/>
                </a:solidFill>
                <a:latin typeface="Calibri" pitchFamily="34" charset="0"/>
                <a:ea typeface="Calibri" pitchFamily="34" charset="-122"/>
                <a:cs typeface="Calibri" pitchFamily="34" charset="-120"/>
              </a:rPr>
              <a:t>Future-tense commitments ("aims", "plans", a target year like 2040) are flagged more than completed, dated actions.</a:t>
            </a:r>
            <a:endParaRPr lang="en-US" sz="1100" dirty="0"/>
          </a:p>
        </p:txBody>
      </p:sp>
      <p:sp>
        <p:nvSpPr>
          <p:cNvPr id="26" name="Shape 24"/>
          <p:cNvSpPr/>
          <p:nvPr/>
        </p:nvSpPr>
        <p:spPr>
          <a:xfrm>
            <a:off x="457200" y="3154680"/>
            <a:ext cx="4023360" cy="1371600"/>
          </a:xfrm>
          <a:prstGeom prst="roundRect">
            <a:avLst>
              <a:gd name="adj" fmla="val 5333"/>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27" name="Shape 25"/>
          <p:cNvSpPr/>
          <p:nvPr/>
        </p:nvSpPr>
        <p:spPr>
          <a:xfrm>
            <a:off x="4663440" y="3154680"/>
            <a:ext cx="4023360" cy="1371600"/>
          </a:xfrm>
          <a:prstGeom prst="roundRect">
            <a:avLst>
              <a:gd name="adj" fmla="val 5333"/>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28" name="Shape 26"/>
          <p:cNvSpPr/>
          <p:nvPr/>
        </p:nvSpPr>
        <p:spPr>
          <a:xfrm>
            <a:off x="621792" y="3310128"/>
            <a:ext cx="457200" cy="457200"/>
          </a:xfrm>
          <a:prstGeom prst="ellipse">
            <a:avLst/>
          </a:prstGeom>
          <a:solidFill>
            <a:srgbClr val="F0A21A"/>
          </a:solidFill>
          <a:ln w="12700">
            <a:solidFill>
              <a:srgbClr val="F0A21A"/>
            </a:solidFill>
            <a:prstDash val="solid"/>
          </a:ln>
        </p:spPr>
      </p:sp>
      <p:pic>
        <p:nvPicPr>
          <p:cNvPr id="29" name="Image 0" descr="preencoded.png">    </p:cNvPr>
          <p:cNvPicPr>
            <a:picLocks noChangeAspect="1"/>
          </p:cNvPicPr>
          <p:nvPr/>
        </p:nvPicPr>
        <p:blipFill>
          <a:blip r:embed="rId1"/>
          <a:stretch>
            <a:fillRect/>
          </a:stretch>
        </p:blipFill>
        <p:spPr>
          <a:xfrm>
            <a:off x="736092" y="3424428"/>
            <a:ext cx="228600" cy="228600"/>
          </a:xfrm>
          <a:prstGeom prst="rect">
            <a:avLst/>
          </a:prstGeom>
        </p:spPr>
      </p:pic>
      <p:sp>
        <p:nvSpPr>
          <p:cNvPr id="30" name="Text 27"/>
          <p:cNvSpPr txBox="1"/>
          <p:nvPr/>
        </p:nvSpPr>
        <p:spPr>
          <a:xfrm>
            <a:off x="1188720" y="3310128"/>
            <a:ext cx="3108960" cy="457200"/>
          </a:xfrm>
          <a:prstGeom prst="rect">
            <a:avLst/>
          </a:prstGeom>
          <a:noFill/>
          <a:ln/>
        </p:spPr>
        <p:txBody>
          <a:bodyPr wrap="square" lIns="0" tIns="0" rIns="0" bIns="0" rtlCol="0" anchor="ctr"/>
          <a:lstStyle/>
          <a:p>
            <a:pPr indent="0" marL="0">
              <a:buNone/>
            </a:pPr>
            <a:r>
              <a:rPr lang="en-US" sz="1300" b="1" dirty="0">
                <a:solidFill>
                  <a:srgbClr val="0F3D26"/>
                </a:solidFill>
                <a:latin typeface="Calibri" pitchFamily="34" charset="0"/>
                <a:ea typeface="Calibri" pitchFamily="34" charset="-122"/>
                <a:cs typeface="Calibri" pitchFamily="34" charset="-120"/>
              </a:rPr>
              <a:t>Common dataset pattern</a:t>
            </a:r>
            <a:endParaRPr lang="en-US" sz="1300" dirty="0"/>
          </a:p>
        </p:txBody>
      </p:sp>
      <p:sp>
        <p:nvSpPr>
          <p:cNvPr id="31" name="Text 28"/>
          <p:cNvSpPr txBox="1"/>
          <p:nvPr/>
        </p:nvSpPr>
        <p:spPr>
          <a:xfrm>
            <a:off x="640080" y="3840480"/>
            <a:ext cx="3657600" cy="594360"/>
          </a:xfrm>
          <a:prstGeom prst="rect">
            <a:avLst/>
          </a:prstGeom>
          <a:noFill/>
          <a:ln/>
        </p:spPr>
        <p:txBody>
          <a:bodyPr wrap="square" lIns="0" tIns="0" rIns="0" bIns="0" rtlCol="0" anchor="t"/>
          <a:lstStyle/>
          <a:p>
            <a:pPr indent="0" marL="0">
              <a:buNone/>
            </a:pPr>
            <a:r>
              <a:rPr lang="en-US" sz="1100" dirty="0">
                <a:solidFill>
                  <a:srgbClr val="5F6F66"/>
                </a:solidFill>
                <a:latin typeface="Calibri" pitchFamily="34" charset="0"/>
                <a:ea typeface="Calibri" pitchFamily="34" charset="-122"/>
                <a:cs typeface="Calibri" pitchFamily="34" charset="-120"/>
              </a:rPr>
              <a:t>A future target or small pilot is presented as an achieved, company-wide result.</a:t>
            </a:r>
            <a:endParaRPr lang="en-US" sz="1100" dirty="0"/>
          </a:p>
        </p:txBody>
      </p:sp>
      <p:sp>
        <p:nvSpPr>
          <p:cNvPr id="32" name="Shape 29"/>
          <p:cNvSpPr/>
          <p:nvPr/>
        </p:nvSpPr>
        <p:spPr>
          <a:xfrm>
            <a:off x="4828032" y="3310128"/>
            <a:ext cx="457200" cy="457200"/>
          </a:xfrm>
          <a:prstGeom prst="ellipse">
            <a:avLst/>
          </a:prstGeom>
          <a:solidFill>
            <a:srgbClr val="1F7A45"/>
          </a:solidFill>
          <a:ln w="12700">
            <a:solidFill>
              <a:srgbClr val="1F7A45"/>
            </a:solidFill>
            <a:prstDash val="solid"/>
          </a:ln>
        </p:spPr>
      </p:sp>
      <p:pic>
        <p:nvPicPr>
          <p:cNvPr id="33" name="Image 1" descr="preencoded.png">    </p:cNvPr>
          <p:cNvPicPr>
            <a:picLocks noChangeAspect="1"/>
          </p:cNvPicPr>
          <p:nvPr/>
        </p:nvPicPr>
        <p:blipFill>
          <a:blip r:embed="rId2"/>
          <a:stretch>
            <a:fillRect/>
          </a:stretch>
        </p:blipFill>
        <p:spPr>
          <a:xfrm>
            <a:off x="4942332" y="3424428"/>
            <a:ext cx="228600" cy="228600"/>
          </a:xfrm>
          <a:prstGeom prst="rect">
            <a:avLst/>
          </a:prstGeom>
        </p:spPr>
      </p:pic>
      <p:sp>
        <p:nvSpPr>
          <p:cNvPr id="34" name="Text 30"/>
          <p:cNvSpPr txBox="1"/>
          <p:nvPr/>
        </p:nvSpPr>
        <p:spPr>
          <a:xfrm>
            <a:off x="5394960" y="3310128"/>
            <a:ext cx="3108960" cy="457200"/>
          </a:xfrm>
          <a:prstGeom prst="rect">
            <a:avLst/>
          </a:prstGeom>
          <a:noFill/>
          <a:ln/>
        </p:spPr>
        <p:txBody>
          <a:bodyPr wrap="square" lIns="0" tIns="0" rIns="0" bIns="0" rtlCol="0" anchor="ctr"/>
          <a:lstStyle/>
          <a:p>
            <a:pPr indent="0" marL="0">
              <a:buNone/>
            </a:pPr>
            <a:r>
              <a:rPr lang="en-US" sz="1300" b="1" dirty="0">
                <a:solidFill>
                  <a:srgbClr val="0F3D26"/>
                </a:solidFill>
                <a:latin typeface="Calibri" pitchFamily="34" charset="0"/>
                <a:ea typeface="Calibri" pitchFamily="34" charset="-122"/>
                <a:cs typeface="Calibri" pitchFamily="34" charset="-120"/>
              </a:rPr>
              <a:t>Why it matters</a:t>
            </a:r>
            <a:endParaRPr lang="en-US" sz="1300" dirty="0"/>
          </a:p>
        </p:txBody>
      </p:sp>
      <p:sp>
        <p:nvSpPr>
          <p:cNvPr id="35" name="Text 31"/>
          <p:cNvSpPr txBox="1"/>
          <p:nvPr/>
        </p:nvSpPr>
        <p:spPr>
          <a:xfrm>
            <a:off x="4846320" y="3840480"/>
            <a:ext cx="3657600" cy="594360"/>
          </a:xfrm>
          <a:prstGeom prst="rect">
            <a:avLst/>
          </a:prstGeom>
          <a:noFill/>
          <a:ln/>
        </p:spPr>
        <p:txBody>
          <a:bodyPr wrap="square" lIns="0" tIns="0" rIns="0" bIns="0" rtlCol="0" anchor="t"/>
          <a:lstStyle/>
          <a:p>
            <a:pPr indent="0" marL="0">
              <a:buNone/>
            </a:pPr>
            <a:r>
              <a:rPr lang="en-US" sz="1100" dirty="0">
                <a:solidFill>
                  <a:srgbClr val="5F6F66"/>
                </a:solidFill>
                <a:latin typeface="Calibri" pitchFamily="34" charset="0"/>
                <a:ea typeface="Calibri" pitchFamily="34" charset="-122"/>
                <a:cs typeface="Calibri" pitchFamily="34" charset="-120"/>
              </a:rPr>
              <a:t>The model learned a real marketing tactic, not just a word list, which supports trust in the verdicts.</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Worked Example: Why a Qualifier Changes the Verdict</a:t>
            </a:r>
            <a:endParaRPr lang="en-US" sz="2600" dirty="0"/>
          </a:p>
        </p:txBody>
      </p:sp>
      <p:sp>
        <p:nvSpPr>
          <p:cNvPr id="3" name="Shape 1"/>
          <p:cNvSpPr/>
          <p:nvPr/>
        </p:nvSpPr>
        <p:spPr>
          <a:xfrm>
            <a:off x="457200" y="1143000"/>
            <a:ext cx="4023360" cy="2788920"/>
          </a:xfrm>
          <a:prstGeom prst="roundRect">
            <a:avLst>
              <a:gd name="adj" fmla="val 2623"/>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40080" y="1261872"/>
            <a:ext cx="1828800" cy="201168"/>
          </a:xfrm>
          <a:prstGeom prst="rect">
            <a:avLst/>
          </a:prstGeom>
          <a:noFill/>
          <a:ln/>
        </p:spPr>
        <p:txBody>
          <a:bodyPr wrap="square" lIns="0" tIns="0" rIns="0" bIns="0" rtlCol="0" anchor="t"/>
          <a:lstStyle/>
          <a:p>
            <a:pPr indent="0" marL="0">
              <a:buNone/>
            </a:pPr>
            <a:r>
              <a:rPr lang="en-US" sz="900" b="1" spc="200" kern="0" dirty="0">
                <a:solidFill>
                  <a:srgbClr val="5F6F66"/>
                </a:solidFill>
                <a:latin typeface="Calibri" pitchFamily="34" charset="0"/>
                <a:ea typeface="Calibri" pitchFamily="34" charset="-122"/>
                <a:cs typeface="Calibri" pitchFamily="34" charset="-120"/>
              </a:rPr>
              <a:t>CLAIM A</a:t>
            </a:r>
            <a:endParaRPr lang="en-US" sz="900" dirty="0"/>
          </a:p>
        </p:txBody>
      </p:sp>
      <p:sp>
        <p:nvSpPr>
          <p:cNvPr id="5" name="Text 3"/>
          <p:cNvSpPr txBox="1"/>
          <p:nvPr/>
        </p:nvSpPr>
        <p:spPr>
          <a:xfrm>
            <a:off x="640080" y="1508760"/>
            <a:ext cx="3657600" cy="731520"/>
          </a:xfrm>
          <a:prstGeom prst="rect">
            <a:avLst/>
          </a:prstGeom>
          <a:noFill/>
          <a:ln/>
        </p:spPr>
        <p:txBody>
          <a:bodyPr wrap="square" lIns="0" tIns="0" rIns="0" bIns="0" rtlCol="0" anchor="t"/>
          <a:lstStyle/>
          <a:p>
            <a:pPr indent="0" marL="0">
              <a:buNone/>
            </a:pPr>
            <a:r>
              <a:rPr lang="en-US" sz="1500" i="1" dirty="0">
                <a:solidFill>
                  <a:srgbClr val="0F3D26"/>
                </a:solidFill>
                <a:latin typeface="Cambria" pitchFamily="34" charset="0"/>
                <a:ea typeface="Cambria" pitchFamily="34" charset="-122"/>
                <a:cs typeface="Cambria" pitchFamily="34" charset="-120"/>
              </a:rPr>
              <a:t>"Amazon powers 100% of its company activities with renewable energy."</a:t>
            </a:r>
            <a:endParaRPr lang="en-US" sz="1500" dirty="0"/>
          </a:p>
        </p:txBody>
      </p:sp>
      <p:sp>
        <p:nvSpPr>
          <p:cNvPr id="6" name="Shape 4"/>
          <p:cNvSpPr/>
          <p:nvPr/>
        </p:nvSpPr>
        <p:spPr>
          <a:xfrm>
            <a:off x="640080" y="2331720"/>
            <a:ext cx="1005840" cy="274320"/>
          </a:xfrm>
          <a:prstGeom prst="roundRect">
            <a:avLst>
              <a:gd name="adj" fmla="val 46667"/>
            </a:avLst>
          </a:prstGeom>
          <a:solidFill>
            <a:srgbClr val="D2483F"/>
          </a:solidFill>
          <a:ln w="12700">
            <a:solidFill>
              <a:srgbClr val="D2483F"/>
            </a:solidFill>
            <a:prstDash val="solid"/>
          </a:ln>
        </p:spPr>
      </p:sp>
      <p:sp>
        <p:nvSpPr>
          <p:cNvPr id="7" name="Text 5"/>
          <p:cNvSpPr txBox="1"/>
          <p:nvPr/>
        </p:nvSpPr>
        <p:spPr>
          <a:xfrm>
            <a:off x="640080" y="2331720"/>
            <a:ext cx="100584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FLAGGED</a:t>
            </a:r>
            <a:endParaRPr lang="en-US" sz="1000" dirty="0"/>
          </a:p>
        </p:txBody>
      </p:sp>
      <p:sp>
        <p:nvSpPr>
          <p:cNvPr id="8" name="Text 6"/>
          <p:cNvSpPr txBox="1"/>
          <p:nvPr/>
        </p:nvSpPr>
        <p:spPr>
          <a:xfrm>
            <a:off x="1783080" y="2331720"/>
            <a:ext cx="1371600" cy="274320"/>
          </a:xfrm>
          <a:prstGeom prst="rect">
            <a:avLst/>
          </a:prstGeom>
          <a:noFill/>
          <a:ln/>
        </p:spPr>
        <p:txBody>
          <a:bodyPr wrap="square" lIns="0" tIns="0" rIns="0" bIns="0" rtlCol="0" anchor="ctr"/>
          <a:lstStyle/>
          <a:p>
            <a:pPr indent="0" marL="0">
              <a:buNone/>
            </a:pPr>
            <a:r>
              <a:rPr lang="en-US" sz="1100" dirty="0">
                <a:solidFill>
                  <a:srgbClr val="5F6F66"/>
                </a:solidFill>
                <a:latin typeface="Calibri" pitchFamily="34" charset="0"/>
                <a:ea typeface="Calibri" pitchFamily="34" charset="-122"/>
                <a:cs typeface="Calibri" pitchFamily="34" charset="-120"/>
              </a:rPr>
              <a:t>confidence 78%</a:t>
            </a:r>
            <a:endParaRPr lang="en-US" sz="1100" dirty="0"/>
          </a:p>
        </p:txBody>
      </p:sp>
      <p:sp>
        <p:nvSpPr>
          <p:cNvPr id="9" name="Shape 7"/>
          <p:cNvSpPr/>
          <p:nvPr/>
        </p:nvSpPr>
        <p:spPr>
          <a:xfrm>
            <a:off x="640080" y="2743200"/>
            <a:ext cx="3657600" cy="128016"/>
          </a:xfrm>
          <a:prstGeom prst="roundRect">
            <a:avLst>
              <a:gd name="adj" fmla="val 50000"/>
            </a:avLst>
          </a:prstGeom>
          <a:solidFill>
            <a:srgbClr val="D9E3DB"/>
          </a:solidFill>
          <a:ln w="12700">
            <a:solidFill>
              <a:srgbClr val="D9E3DB"/>
            </a:solidFill>
            <a:prstDash val="solid"/>
          </a:ln>
        </p:spPr>
      </p:sp>
      <p:sp>
        <p:nvSpPr>
          <p:cNvPr id="10" name="Shape 8"/>
          <p:cNvSpPr/>
          <p:nvPr/>
        </p:nvSpPr>
        <p:spPr>
          <a:xfrm>
            <a:off x="640080" y="2743200"/>
            <a:ext cx="2852928" cy="128016"/>
          </a:xfrm>
          <a:prstGeom prst="roundRect">
            <a:avLst>
              <a:gd name="adj" fmla="val 50000"/>
            </a:avLst>
          </a:prstGeom>
          <a:solidFill>
            <a:srgbClr val="D2483F"/>
          </a:solidFill>
          <a:ln w="12700">
            <a:solidFill>
              <a:srgbClr val="D2483F"/>
            </a:solidFill>
            <a:prstDash val="solid"/>
          </a:ln>
        </p:spPr>
      </p:sp>
      <p:sp>
        <p:nvSpPr>
          <p:cNvPr id="11" name="Text 9"/>
          <p:cNvSpPr txBox="1"/>
          <p:nvPr/>
        </p:nvSpPr>
        <p:spPr>
          <a:xfrm>
            <a:off x="640080" y="3017520"/>
            <a:ext cx="3657600" cy="457200"/>
          </a:xfrm>
          <a:prstGeom prst="rect">
            <a:avLst/>
          </a:prstGeom>
          <a:noFill/>
          <a:ln/>
        </p:spPr>
        <p:txBody>
          <a:bodyPr wrap="square" lIns="0" tIns="0" rIns="0" bIns="0" rtlCol="0" anchor="t"/>
          <a:lstStyle/>
          <a:p>
            <a:pPr indent="0" marL="0">
              <a:buNone/>
            </a:pPr>
            <a:r>
              <a:rPr lang="en-US" sz="1100" b="1" dirty="0">
                <a:solidFill>
                  <a:srgbClr val="1D2B24"/>
                </a:solidFill>
                <a:latin typeface="Calibri" pitchFamily="34" charset="0"/>
                <a:ea typeface="Calibri" pitchFamily="34" charset="-122"/>
                <a:cs typeface="Calibri" pitchFamily="34" charset="-120"/>
              </a:rPr>
              <a:t>Evidence: </a:t>
            </a:r>
            <a:pPr indent="0" marL="0">
              <a:buNone/>
            </a:pPr>
            <a:r>
              <a:rPr lang="en-US" sz="1100" dirty="0">
                <a:solidFill>
                  <a:srgbClr val="1D2B24"/>
                </a:solidFill>
                <a:latin typeface="Calibri" pitchFamily="34" charset="0"/>
                <a:ea typeface="Calibri" pitchFamily="34" charset="-122"/>
                <a:cs typeface="Calibri" pitchFamily="34" charset="-120"/>
              </a:rPr>
              <a:t>no date or completion qualifier. An absolute claim ("100%") with no "by [year]".</a:t>
            </a:r>
            <a:endParaRPr lang="en-US" sz="1100" dirty="0"/>
          </a:p>
        </p:txBody>
      </p:sp>
      <p:sp>
        <p:nvSpPr>
          <p:cNvPr id="12" name="Shape 10"/>
          <p:cNvSpPr/>
          <p:nvPr/>
        </p:nvSpPr>
        <p:spPr>
          <a:xfrm>
            <a:off x="640080" y="3520440"/>
            <a:ext cx="1143000" cy="274320"/>
          </a:xfrm>
          <a:prstGeom prst="roundRect">
            <a:avLst>
              <a:gd name="adj" fmla="val 46667"/>
            </a:avLst>
          </a:prstGeom>
          <a:solidFill>
            <a:srgbClr val="FBE7E5"/>
          </a:solidFill>
          <a:ln w="9525">
            <a:solidFill>
              <a:srgbClr val="D2483F"/>
            </a:solidFill>
            <a:prstDash val="solid"/>
          </a:ln>
        </p:spPr>
      </p:sp>
      <p:sp>
        <p:nvSpPr>
          <p:cNvPr id="13" name="Text 11"/>
          <p:cNvSpPr txBox="1"/>
          <p:nvPr/>
        </p:nvSpPr>
        <p:spPr>
          <a:xfrm>
            <a:off x="640080" y="3520440"/>
            <a:ext cx="1143000" cy="274320"/>
          </a:xfrm>
          <a:prstGeom prst="rect">
            <a:avLst/>
          </a:prstGeom>
          <a:noFill/>
          <a:ln/>
        </p:spPr>
        <p:txBody>
          <a:bodyPr wrap="square" lIns="0" tIns="0" rIns="0" bIns="0" rtlCol="0" anchor="ctr"/>
          <a:lstStyle/>
          <a:p>
            <a:pPr algn="ctr" indent="0" marL="0">
              <a:buNone/>
            </a:pPr>
            <a:r>
              <a:rPr lang="en-US" sz="950" b="1" dirty="0">
                <a:solidFill>
                  <a:srgbClr val="D2483F"/>
                </a:solidFill>
                <a:latin typeface="Calibri" pitchFamily="34" charset="0"/>
                <a:ea typeface="Calibri" pitchFamily="34" charset="-122"/>
                <a:cs typeface="Calibri" pitchFamily="34" charset="-120"/>
              </a:rPr>
              <a:t>Absolute: 100%</a:t>
            </a:r>
            <a:endParaRPr lang="en-US" sz="950" dirty="0"/>
          </a:p>
        </p:txBody>
      </p:sp>
      <p:sp>
        <p:nvSpPr>
          <p:cNvPr id="14" name="Shape 12"/>
          <p:cNvSpPr/>
          <p:nvPr/>
        </p:nvSpPr>
        <p:spPr>
          <a:xfrm>
            <a:off x="1874520" y="3520440"/>
            <a:ext cx="1143000" cy="274320"/>
          </a:xfrm>
          <a:prstGeom prst="roundRect">
            <a:avLst>
              <a:gd name="adj" fmla="val 46667"/>
            </a:avLst>
          </a:prstGeom>
          <a:solidFill>
            <a:srgbClr val="FBE7E5"/>
          </a:solidFill>
          <a:ln w="9525">
            <a:solidFill>
              <a:srgbClr val="D2483F"/>
            </a:solidFill>
            <a:prstDash val="solid"/>
          </a:ln>
        </p:spPr>
      </p:sp>
      <p:sp>
        <p:nvSpPr>
          <p:cNvPr id="15" name="Text 13"/>
          <p:cNvSpPr txBox="1"/>
          <p:nvPr/>
        </p:nvSpPr>
        <p:spPr>
          <a:xfrm>
            <a:off x="1874520" y="3520440"/>
            <a:ext cx="1143000" cy="274320"/>
          </a:xfrm>
          <a:prstGeom prst="rect">
            <a:avLst/>
          </a:prstGeom>
          <a:noFill/>
          <a:ln/>
        </p:spPr>
        <p:txBody>
          <a:bodyPr wrap="square" lIns="0" tIns="0" rIns="0" bIns="0" rtlCol="0" anchor="ctr"/>
          <a:lstStyle/>
          <a:p>
            <a:pPr algn="ctr" indent="0" marL="0">
              <a:buNone/>
            </a:pPr>
            <a:r>
              <a:rPr lang="en-US" sz="950" b="1" dirty="0">
                <a:solidFill>
                  <a:srgbClr val="D2483F"/>
                </a:solidFill>
                <a:latin typeface="Calibri" pitchFamily="34" charset="0"/>
                <a:ea typeface="Calibri" pitchFamily="34" charset="-122"/>
                <a:cs typeface="Calibri" pitchFamily="34" charset="-120"/>
              </a:rPr>
              <a:t>No year</a:t>
            </a:r>
            <a:endParaRPr lang="en-US" sz="950" dirty="0"/>
          </a:p>
        </p:txBody>
      </p:sp>
      <p:sp>
        <p:nvSpPr>
          <p:cNvPr id="16" name="Shape 14"/>
          <p:cNvSpPr/>
          <p:nvPr/>
        </p:nvSpPr>
        <p:spPr>
          <a:xfrm>
            <a:off x="3108960" y="3520440"/>
            <a:ext cx="1143000" cy="274320"/>
          </a:xfrm>
          <a:prstGeom prst="roundRect">
            <a:avLst>
              <a:gd name="adj" fmla="val 46667"/>
            </a:avLst>
          </a:prstGeom>
          <a:solidFill>
            <a:srgbClr val="FBE7E5"/>
          </a:solidFill>
          <a:ln w="9525">
            <a:solidFill>
              <a:srgbClr val="D2483F"/>
            </a:solidFill>
            <a:prstDash val="solid"/>
          </a:ln>
        </p:spPr>
      </p:sp>
      <p:sp>
        <p:nvSpPr>
          <p:cNvPr id="17" name="Text 15"/>
          <p:cNvSpPr txBox="1"/>
          <p:nvPr/>
        </p:nvSpPr>
        <p:spPr>
          <a:xfrm>
            <a:off x="3108960" y="3520440"/>
            <a:ext cx="1143000" cy="274320"/>
          </a:xfrm>
          <a:prstGeom prst="rect">
            <a:avLst/>
          </a:prstGeom>
          <a:noFill/>
          <a:ln/>
        </p:spPr>
        <p:txBody>
          <a:bodyPr wrap="square" lIns="0" tIns="0" rIns="0" bIns="0" rtlCol="0" anchor="ctr"/>
          <a:lstStyle/>
          <a:p>
            <a:pPr algn="ctr" indent="0" marL="0">
              <a:buNone/>
            </a:pPr>
            <a:r>
              <a:rPr lang="en-US" sz="950" b="1" dirty="0">
                <a:solidFill>
                  <a:srgbClr val="D2483F"/>
                </a:solidFill>
                <a:latin typeface="Calibri" pitchFamily="34" charset="0"/>
                <a:ea typeface="Calibri" pitchFamily="34" charset="-122"/>
                <a:cs typeface="Calibri" pitchFamily="34" charset="-120"/>
              </a:rPr>
              <a:t>No qualifier</a:t>
            </a:r>
            <a:endParaRPr lang="en-US" sz="950" dirty="0"/>
          </a:p>
        </p:txBody>
      </p:sp>
      <p:sp>
        <p:nvSpPr>
          <p:cNvPr id="18" name="Shape 16"/>
          <p:cNvSpPr/>
          <p:nvPr/>
        </p:nvSpPr>
        <p:spPr>
          <a:xfrm>
            <a:off x="4663440" y="1143000"/>
            <a:ext cx="4023360" cy="2788920"/>
          </a:xfrm>
          <a:prstGeom prst="roundRect">
            <a:avLst>
              <a:gd name="adj" fmla="val 2623"/>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4846320" y="1261872"/>
            <a:ext cx="3200400" cy="201168"/>
          </a:xfrm>
          <a:prstGeom prst="rect">
            <a:avLst/>
          </a:prstGeom>
          <a:noFill/>
          <a:ln/>
        </p:spPr>
        <p:txBody>
          <a:bodyPr wrap="square" lIns="0" tIns="0" rIns="0" bIns="0" rtlCol="0" anchor="t"/>
          <a:lstStyle/>
          <a:p>
            <a:pPr indent="0" marL="0">
              <a:buNone/>
            </a:pPr>
            <a:r>
              <a:rPr lang="en-US" sz="900" b="1" spc="200" kern="0" dirty="0">
                <a:solidFill>
                  <a:srgbClr val="5F6F66"/>
                </a:solidFill>
                <a:latin typeface="Calibri" pitchFamily="34" charset="0"/>
                <a:ea typeface="Calibri" pitchFamily="34" charset="-122"/>
                <a:cs typeface="Calibri" pitchFamily="34" charset="-120"/>
              </a:rPr>
              <a:t>CLAIM B (QUALIFIED)</a:t>
            </a:r>
            <a:endParaRPr lang="en-US" sz="900" dirty="0"/>
          </a:p>
        </p:txBody>
      </p:sp>
      <p:sp>
        <p:nvSpPr>
          <p:cNvPr id="20" name="Text 18"/>
          <p:cNvSpPr txBox="1"/>
          <p:nvPr/>
        </p:nvSpPr>
        <p:spPr>
          <a:xfrm>
            <a:off x="4846320" y="1508760"/>
            <a:ext cx="3657600" cy="731520"/>
          </a:xfrm>
          <a:prstGeom prst="rect">
            <a:avLst/>
          </a:prstGeom>
          <a:noFill/>
          <a:ln/>
        </p:spPr>
        <p:txBody>
          <a:bodyPr wrap="square" lIns="0" tIns="0" rIns="0" bIns="0" rtlCol="0" anchor="t"/>
          <a:lstStyle/>
          <a:p>
            <a:pPr indent="0" marL="0">
              <a:buNone/>
            </a:pPr>
            <a:r>
              <a:rPr lang="en-US" sz="1500" i="1" dirty="0">
                <a:solidFill>
                  <a:srgbClr val="0F3D26"/>
                </a:solidFill>
                <a:latin typeface="Cambria" pitchFamily="34" charset="0"/>
                <a:ea typeface="Cambria" pitchFamily="34" charset="-122"/>
                <a:cs typeface="Cambria" pitchFamily="34" charset="-120"/>
              </a:rPr>
              <a:t>"... on track to power 100% ... by 2025." (qualified version, abridged)</a:t>
            </a:r>
            <a:endParaRPr lang="en-US" sz="1500" dirty="0"/>
          </a:p>
        </p:txBody>
      </p:sp>
      <p:sp>
        <p:nvSpPr>
          <p:cNvPr id="21" name="Shape 19"/>
          <p:cNvSpPr/>
          <p:nvPr/>
        </p:nvSpPr>
        <p:spPr>
          <a:xfrm>
            <a:off x="4846320" y="2331720"/>
            <a:ext cx="1188720" cy="274320"/>
          </a:xfrm>
          <a:prstGeom prst="roundRect">
            <a:avLst>
              <a:gd name="adj" fmla="val 46667"/>
            </a:avLst>
          </a:prstGeom>
          <a:solidFill>
            <a:srgbClr val="3FAE6A"/>
          </a:solidFill>
          <a:ln w="12700">
            <a:solidFill>
              <a:srgbClr val="3FAE6A"/>
            </a:solidFill>
            <a:prstDash val="solid"/>
          </a:ln>
        </p:spPr>
      </p:sp>
      <p:sp>
        <p:nvSpPr>
          <p:cNvPr id="22" name="Text 20"/>
          <p:cNvSpPr txBox="1"/>
          <p:nvPr/>
        </p:nvSpPr>
        <p:spPr>
          <a:xfrm>
            <a:off x="4846320" y="2331720"/>
            <a:ext cx="11887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 FLAGGED</a:t>
            </a:r>
            <a:endParaRPr lang="en-US" sz="1000" dirty="0"/>
          </a:p>
        </p:txBody>
      </p:sp>
      <p:sp>
        <p:nvSpPr>
          <p:cNvPr id="23" name="Text 21"/>
          <p:cNvSpPr txBox="1"/>
          <p:nvPr/>
        </p:nvSpPr>
        <p:spPr>
          <a:xfrm>
            <a:off x="6172200" y="2331720"/>
            <a:ext cx="1828800" cy="274320"/>
          </a:xfrm>
          <a:prstGeom prst="rect">
            <a:avLst/>
          </a:prstGeom>
          <a:noFill/>
          <a:ln/>
        </p:spPr>
        <p:txBody>
          <a:bodyPr wrap="square" lIns="0" tIns="0" rIns="0" bIns="0" rtlCol="0" anchor="ctr"/>
          <a:lstStyle/>
          <a:p>
            <a:pPr indent="0" marL="0">
              <a:buNone/>
            </a:pPr>
            <a:r>
              <a:rPr lang="en-US" sz="1100" dirty="0">
                <a:solidFill>
                  <a:srgbClr val="5F6F66"/>
                </a:solidFill>
                <a:latin typeface="Calibri" pitchFamily="34" charset="0"/>
                <a:ea typeface="Calibri" pitchFamily="34" charset="-122"/>
                <a:cs typeface="Calibri" pitchFamily="34" charset="-120"/>
              </a:rPr>
              <a:t>correctly left alone</a:t>
            </a:r>
            <a:endParaRPr lang="en-US" sz="1100" dirty="0"/>
          </a:p>
        </p:txBody>
      </p:sp>
      <p:sp>
        <p:nvSpPr>
          <p:cNvPr id="24" name="Shape 22"/>
          <p:cNvSpPr/>
          <p:nvPr/>
        </p:nvSpPr>
        <p:spPr>
          <a:xfrm>
            <a:off x="4846320" y="2743200"/>
            <a:ext cx="3657600" cy="128016"/>
          </a:xfrm>
          <a:prstGeom prst="roundRect">
            <a:avLst>
              <a:gd name="adj" fmla="val 50000"/>
            </a:avLst>
          </a:prstGeom>
          <a:solidFill>
            <a:srgbClr val="D9E3DB"/>
          </a:solidFill>
          <a:ln w="12700">
            <a:solidFill>
              <a:srgbClr val="D9E3DB"/>
            </a:solidFill>
            <a:prstDash val="solid"/>
          </a:ln>
        </p:spPr>
      </p:sp>
      <p:sp>
        <p:nvSpPr>
          <p:cNvPr id="25" name="Shape 23"/>
          <p:cNvSpPr/>
          <p:nvPr/>
        </p:nvSpPr>
        <p:spPr>
          <a:xfrm>
            <a:off x="4846320" y="2743200"/>
            <a:ext cx="1097280" cy="128016"/>
          </a:xfrm>
          <a:prstGeom prst="roundRect">
            <a:avLst>
              <a:gd name="adj" fmla="val 50000"/>
            </a:avLst>
          </a:prstGeom>
          <a:solidFill>
            <a:srgbClr val="3FAE6A"/>
          </a:solidFill>
          <a:ln w="12700">
            <a:solidFill>
              <a:srgbClr val="3FAE6A"/>
            </a:solidFill>
            <a:prstDash val="solid"/>
          </a:ln>
        </p:spPr>
      </p:sp>
      <p:sp>
        <p:nvSpPr>
          <p:cNvPr id="26" name="Text 24"/>
          <p:cNvSpPr txBox="1"/>
          <p:nvPr/>
        </p:nvSpPr>
        <p:spPr>
          <a:xfrm>
            <a:off x="4846320" y="3017520"/>
            <a:ext cx="3657600" cy="457200"/>
          </a:xfrm>
          <a:prstGeom prst="rect">
            <a:avLst/>
          </a:prstGeom>
          <a:noFill/>
          <a:ln/>
        </p:spPr>
        <p:txBody>
          <a:bodyPr wrap="square" lIns="0" tIns="0" rIns="0" bIns="0" rtlCol="0" anchor="t"/>
          <a:lstStyle/>
          <a:p>
            <a:pPr indent="0" marL="0">
              <a:buNone/>
            </a:pPr>
            <a:r>
              <a:rPr lang="en-US" sz="1100" b="1" dirty="0">
                <a:solidFill>
                  <a:srgbClr val="1D2B24"/>
                </a:solidFill>
                <a:latin typeface="Calibri" pitchFamily="34" charset="0"/>
                <a:ea typeface="Calibri" pitchFamily="34" charset="-122"/>
                <a:cs typeface="Calibri" pitchFamily="34" charset="-120"/>
              </a:rPr>
              <a:t>Evidence: </a:t>
            </a:r>
            <a:pPr indent="0" marL="0">
              <a:buNone/>
            </a:pPr>
            <a:r>
              <a:rPr lang="en-US" sz="1100" dirty="0">
                <a:solidFill>
                  <a:srgbClr val="1D2B24"/>
                </a:solidFill>
                <a:latin typeface="Calibri" pitchFamily="34" charset="0"/>
                <a:ea typeface="Calibri" pitchFamily="34" charset="-122"/>
                <a:cs typeface="Calibri" pitchFamily="34" charset="-120"/>
              </a:rPr>
              <a:t>"on track" and a target year give the claim a checkable timeframe.</a:t>
            </a:r>
            <a:endParaRPr lang="en-US" sz="1100" dirty="0"/>
          </a:p>
        </p:txBody>
      </p:sp>
      <p:sp>
        <p:nvSpPr>
          <p:cNvPr id="27" name="Shape 25"/>
          <p:cNvSpPr/>
          <p:nvPr/>
        </p:nvSpPr>
        <p:spPr>
          <a:xfrm>
            <a:off x="4846320" y="3520440"/>
            <a:ext cx="1143000" cy="274320"/>
          </a:xfrm>
          <a:prstGeom prst="roundRect">
            <a:avLst>
              <a:gd name="adj" fmla="val 46667"/>
            </a:avLst>
          </a:prstGeom>
          <a:solidFill>
            <a:srgbClr val="E8F3EA"/>
          </a:solidFill>
          <a:ln w="9525">
            <a:solidFill>
              <a:srgbClr val="3FAE6A"/>
            </a:solidFill>
            <a:prstDash val="solid"/>
          </a:ln>
        </p:spPr>
      </p:sp>
      <p:sp>
        <p:nvSpPr>
          <p:cNvPr id="28" name="Text 26"/>
          <p:cNvSpPr txBox="1"/>
          <p:nvPr/>
        </p:nvSpPr>
        <p:spPr>
          <a:xfrm>
            <a:off x="4846320" y="3520440"/>
            <a:ext cx="1143000" cy="274320"/>
          </a:xfrm>
          <a:prstGeom prst="rect">
            <a:avLst/>
          </a:prstGeom>
          <a:noFill/>
          <a:ln/>
        </p:spPr>
        <p:txBody>
          <a:bodyPr wrap="square" lIns="0" tIns="0" rIns="0" bIns="0" rtlCol="0" anchor="ctr"/>
          <a:lstStyle/>
          <a:p>
            <a:pPr algn="ctr" indent="0" marL="0">
              <a:buNone/>
            </a:pPr>
            <a:r>
              <a:rPr lang="en-US" sz="950" b="1" dirty="0">
                <a:solidFill>
                  <a:srgbClr val="1F7A45"/>
                </a:solidFill>
                <a:latin typeface="Calibri" pitchFamily="34" charset="0"/>
                <a:ea typeface="Calibri" pitchFamily="34" charset="-122"/>
                <a:cs typeface="Calibri" pitchFamily="34" charset="-120"/>
              </a:rPr>
              <a:t>On track</a:t>
            </a:r>
            <a:endParaRPr lang="en-US" sz="950" dirty="0"/>
          </a:p>
        </p:txBody>
      </p:sp>
      <p:sp>
        <p:nvSpPr>
          <p:cNvPr id="29" name="Shape 27"/>
          <p:cNvSpPr/>
          <p:nvPr/>
        </p:nvSpPr>
        <p:spPr>
          <a:xfrm>
            <a:off x="6080760" y="3520440"/>
            <a:ext cx="1143000" cy="274320"/>
          </a:xfrm>
          <a:prstGeom prst="roundRect">
            <a:avLst>
              <a:gd name="adj" fmla="val 46667"/>
            </a:avLst>
          </a:prstGeom>
          <a:solidFill>
            <a:srgbClr val="E8F3EA"/>
          </a:solidFill>
          <a:ln w="9525">
            <a:solidFill>
              <a:srgbClr val="3FAE6A"/>
            </a:solidFill>
            <a:prstDash val="solid"/>
          </a:ln>
        </p:spPr>
      </p:sp>
      <p:sp>
        <p:nvSpPr>
          <p:cNvPr id="30" name="Text 28"/>
          <p:cNvSpPr txBox="1"/>
          <p:nvPr/>
        </p:nvSpPr>
        <p:spPr>
          <a:xfrm>
            <a:off x="6080760" y="3520440"/>
            <a:ext cx="1143000" cy="274320"/>
          </a:xfrm>
          <a:prstGeom prst="rect">
            <a:avLst/>
          </a:prstGeom>
          <a:noFill/>
          <a:ln/>
        </p:spPr>
        <p:txBody>
          <a:bodyPr wrap="square" lIns="0" tIns="0" rIns="0" bIns="0" rtlCol="0" anchor="ctr"/>
          <a:lstStyle/>
          <a:p>
            <a:pPr algn="ctr" indent="0" marL="0">
              <a:buNone/>
            </a:pPr>
            <a:r>
              <a:rPr lang="en-US" sz="950" b="1" dirty="0">
                <a:solidFill>
                  <a:srgbClr val="1F7A45"/>
                </a:solidFill>
                <a:latin typeface="Calibri" pitchFamily="34" charset="0"/>
                <a:ea typeface="Calibri" pitchFamily="34" charset="-122"/>
                <a:cs typeface="Calibri" pitchFamily="34" charset="-120"/>
              </a:rPr>
              <a:t>Target: 2025</a:t>
            </a:r>
            <a:endParaRPr lang="en-US" sz="950" dirty="0"/>
          </a:p>
        </p:txBody>
      </p:sp>
      <p:sp>
        <p:nvSpPr>
          <p:cNvPr id="31" name="Shape 29"/>
          <p:cNvSpPr/>
          <p:nvPr/>
        </p:nvSpPr>
        <p:spPr>
          <a:xfrm>
            <a:off x="7315200" y="3520440"/>
            <a:ext cx="1143000" cy="274320"/>
          </a:xfrm>
          <a:prstGeom prst="roundRect">
            <a:avLst>
              <a:gd name="adj" fmla="val 46667"/>
            </a:avLst>
          </a:prstGeom>
          <a:solidFill>
            <a:srgbClr val="E8F3EA"/>
          </a:solidFill>
          <a:ln w="9525">
            <a:solidFill>
              <a:srgbClr val="3FAE6A"/>
            </a:solidFill>
            <a:prstDash val="solid"/>
          </a:ln>
        </p:spPr>
      </p:sp>
      <p:sp>
        <p:nvSpPr>
          <p:cNvPr id="32" name="Text 30"/>
          <p:cNvSpPr txBox="1"/>
          <p:nvPr/>
        </p:nvSpPr>
        <p:spPr>
          <a:xfrm>
            <a:off x="7315200" y="3520440"/>
            <a:ext cx="1143000" cy="274320"/>
          </a:xfrm>
          <a:prstGeom prst="rect">
            <a:avLst/>
          </a:prstGeom>
          <a:noFill/>
          <a:ln/>
        </p:spPr>
        <p:txBody>
          <a:bodyPr wrap="square" lIns="0" tIns="0" rIns="0" bIns="0" rtlCol="0" anchor="ctr"/>
          <a:lstStyle/>
          <a:p>
            <a:pPr algn="ctr" indent="0" marL="0">
              <a:buNone/>
            </a:pPr>
            <a:r>
              <a:rPr lang="en-US" sz="950" b="1" dirty="0">
                <a:solidFill>
                  <a:srgbClr val="1F7A45"/>
                </a:solidFill>
                <a:latin typeface="Calibri" pitchFamily="34" charset="0"/>
                <a:ea typeface="Calibri" pitchFamily="34" charset="-122"/>
                <a:cs typeface="Calibri" pitchFamily="34" charset="-120"/>
              </a:rPr>
              <a:t>Time-bound</a:t>
            </a:r>
            <a:endParaRPr lang="en-US" sz="950" dirty="0"/>
          </a:p>
        </p:txBody>
      </p:sp>
      <p:sp>
        <p:nvSpPr>
          <p:cNvPr id="33" name="Shape 31"/>
          <p:cNvSpPr/>
          <p:nvPr/>
        </p:nvSpPr>
        <p:spPr>
          <a:xfrm>
            <a:off x="457200" y="4114800"/>
            <a:ext cx="8229600" cy="566928"/>
          </a:xfrm>
          <a:prstGeom prst="roundRect">
            <a:avLst>
              <a:gd name="adj" fmla="val 12903"/>
            </a:avLst>
          </a:prstGeom>
          <a:solidFill>
            <a:srgbClr val="E8F3EA"/>
          </a:solidFill>
          <a:ln w="9525">
            <a:solidFill>
              <a:srgbClr val="3FAE6A"/>
            </a:solidFill>
            <a:prstDash val="solid"/>
          </a:ln>
        </p:spPr>
      </p:sp>
      <p:sp>
        <p:nvSpPr>
          <p:cNvPr id="34" name="Text 32"/>
          <p:cNvSpPr txBox="1"/>
          <p:nvPr/>
        </p:nvSpPr>
        <p:spPr>
          <a:xfrm>
            <a:off x="640080" y="4114800"/>
            <a:ext cx="7863840" cy="566928"/>
          </a:xfrm>
          <a:prstGeom prst="rect">
            <a:avLst/>
          </a:prstGeom>
          <a:noFill/>
          <a:ln/>
        </p:spPr>
        <p:txBody>
          <a:bodyPr wrap="square" lIns="0" tIns="0" rIns="0" bIns="0" rtlCol="0" anchor="ctr"/>
          <a:lstStyle/>
          <a:p>
            <a:pPr indent="0" marL="0">
              <a:buNone/>
            </a:pPr>
            <a:r>
              <a:rPr lang="en-US" sz="1150" b="1" dirty="0">
                <a:solidFill>
                  <a:srgbClr val="1F7A45"/>
                </a:solidFill>
                <a:latin typeface="Calibri" pitchFamily="34" charset="0"/>
                <a:ea typeface="Calibri" pitchFamily="34" charset="-122"/>
                <a:cs typeface="Calibri" pitchFamily="34" charset="-120"/>
              </a:rPr>
              <a:t>Takeaway:  </a:t>
            </a:r>
            <a:pPr indent="0" marL="0">
              <a:buNone/>
            </a:pPr>
            <a:r>
              <a:rPr lang="en-US" sz="1150" dirty="0">
                <a:solidFill>
                  <a:srgbClr val="1D2B24"/>
                </a:solidFill>
                <a:latin typeface="Calibri" pitchFamily="34" charset="0"/>
                <a:ea typeface="Calibri" pitchFamily="34" charset="-122"/>
                <a:cs typeface="Calibri" pitchFamily="34" charset="-120"/>
              </a:rPr>
              <a:t>GreenLens separates absolute, unqualified claims from qualified, time-bound ones, the same distinction a human reviewer would draw.</a:t>
            </a:r>
            <a:endParaRPr lang="en-US" sz="11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Model Performance</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4114800" cy="914400"/>
        </p:xfrm>
        <a:graphic>
          <a:graphicData uri="http://schemas.openxmlformats.org/drawingml/2006/table">
            <a:tbl>
              <a:tblPr/>
              <a:tblGrid>
                <a:gridCol w="1554480"/>
                <a:gridCol w="640080"/>
                <a:gridCol w="640080"/>
                <a:gridCol w="640080"/>
                <a:gridCol w="640080"/>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0F3D2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Acc</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0F3D2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Prec</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0F3D2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Rec</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0F3D26"/>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0F3D26"/>
                    </a:solidFill>
                  </a:tcPr>
                </a:tc>
              </a:tr>
              <a:tr h="347472">
                <a:tc>
                  <a:txBody>
                    <a:bodyPr/>
                    <a:lstStyle/>
                    <a:p>
                      <a:pPr indent="0" marL="0">
                        <a:buNone/>
                      </a:pPr>
                      <a:r>
                        <a:rPr lang="en-US" sz="1050" b="1" dirty="0">
                          <a:solidFill>
                            <a:srgbClr val="1D2B24"/>
                          </a:solidFill>
                          <a:latin typeface="Calibri" pitchFamily="34" charset="0"/>
                          <a:ea typeface="Calibri" pitchFamily="34" charset="-122"/>
                          <a:cs typeface="Calibri" pitchFamily="34" charset="-120"/>
                        </a:rPr>
                        <a:t>Rule-based lexicon</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2B24"/>
                          </a:solidFill>
                          <a:latin typeface="Calibri" pitchFamily="34" charset="0"/>
                          <a:ea typeface="Calibri" pitchFamily="34" charset="-122"/>
                          <a:cs typeface="Calibri" pitchFamily="34" charset="-120"/>
                        </a:rPr>
                        <a:t>69.4%</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2B24"/>
                          </a:solidFill>
                          <a:latin typeface="Calibri" pitchFamily="34" charset="0"/>
                          <a:ea typeface="Calibri" pitchFamily="34" charset="-122"/>
                          <a:cs typeface="Calibri" pitchFamily="34" charset="-120"/>
                        </a:rPr>
                        <a:t>58.6%</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2B24"/>
                          </a:solidFill>
                          <a:latin typeface="Calibri" pitchFamily="34" charset="0"/>
                          <a:ea typeface="Calibri" pitchFamily="34" charset="-122"/>
                          <a:cs typeface="Calibri" pitchFamily="34" charset="-120"/>
                        </a:rPr>
                        <a:t>52.9%</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D2B24"/>
                          </a:solidFill>
                          <a:latin typeface="Calibri" pitchFamily="34" charset="0"/>
                          <a:ea typeface="Calibri" pitchFamily="34" charset="-122"/>
                          <a:cs typeface="Calibri" pitchFamily="34" charset="-120"/>
                        </a:rPr>
                        <a:t>0.556</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r>
              <a:tr h="347472">
                <a:tc>
                  <a:txBody>
                    <a:bodyPr/>
                    <a:lstStyle/>
                    <a:p>
                      <a:pPr indent="0" marL="0">
                        <a:buNone/>
                      </a:pPr>
                      <a:r>
                        <a:rPr lang="en-US" sz="1050" b="1" dirty="0">
                          <a:solidFill>
                            <a:srgbClr val="1D2B24"/>
                          </a:solidFill>
                          <a:latin typeface="Calibri" pitchFamily="34" charset="0"/>
                          <a:ea typeface="Calibri" pitchFamily="34" charset="-122"/>
                          <a:cs typeface="Calibri" pitchFamily="34" charset="-120"/>
                        </a:rPr>
                        <a:t>ML: TF-IDF + LogReg</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E8F3EA"/>
                    </a:solidFill>
                  </a:tcPr>
                </a:tc>
                <a:tc>
                  <a:txBody>
                    <a:bodyPr/>
                    <a:lstStyle/>
                    <a:p>
                      <a:pPr algn="ctr" indent="0" marL="0">
                        <a:buNone/>
                      </a:pPr>
                      <a:r>
                        <a:rPr lang="en-US" sz="1050" b="1" dirty="0">
                          <a:solidFill>
                            <a:srgbClr val="1F7A45"/>
                          </a:solidFill>
                          <a:latin typeface="Calibri" pitchFamily="34" charset="0"/>
                          <a:ea typeface="Calibri" pitchFamily="34" charset="-122"/>
                          <a:cs typeface="Calibri" pitchFamily="34" charset="-120"/>
                        </a:rPr>
                        <a:t>74.2%</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E8F3EA"/>
                    </a:solidFill>
                  </a:tcPr>
                </a:tc>
                <a:tc>
                  <a:txBody>
                    <a:bodyPr/>
                    <a:lstStyle/>
                    <a:p>
                      <a:pPr algn="ctr" indent="0" marL="0">
                        <a:buNone/>
                      </a:pPr>
                      <a:r>
                        <a:rPr lang="en-US" sz="1050" b="1" dirty="0">
                          <a:solidFill>
                            <a:srgbClr val="1F7A45"/>
                          </a:solidFill>
                          <a:latin typeface="Calibri" pitchFamily="34" charset="0"/>
                          <a:ea typeface="Calibri" pitchFamily="34" charset="-122"/>
                          <a:cs typeface="Calibri" pitchFamily="34" charset="-120"/>
                        </a:rPr>
                        <a:t>66.7%</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E8F3EA"/>
                    </a:solidFill>
                  </a:tcPr>
                </a:tc>
                <a:tc>
                  <a:txBody>
                    <a:bodyPr/>
                    <a:lstStyle/>
                    <a:p>
                      <a:pPr algn="ctr" indent="0" marL="0">
                        <a:buNone/>
                      </a:pPr>
                      <a:r>
                        <a:rPr lang="en-US" sz="1050" b="1" dirty="0">
                          <a:solidFill>
                            <a:srgbClr val="1F7A45"/>
                          </a:solidFill>
                          <a:latin typeface="Calibri" pitchFamily="34" charset="0"/>
                          <a:ea typeface="Calibri" pitchFamily="34" charset="-122"/>
                          <a:cs typeface="Calibri" pitchFamily="34" charset="-120"/>
                        </a:rPr>
                        <a:t>58.8%</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E8F3EA"/>
                    </a:solidFill>
                  </a:tcPr>
                </a:tc>
                <a:tc>
                  <a:txBody>
                    <a:bodyPr/>
                    <a:lstStyle/>
                    <a:p>
                      <a:pPr algn="ctr" indent="0" marL="0">
                        <a:buNone/>
                      </a:pPr>
                      <a:r>
                        <a:rPr lang="en-US" sz="1050" b="1" dirty="0">
                          <a:solidFill>
                            <a:srgbClr val="1F7A45"/>
                          </a:solidFill>
                          <a:latin typeface="Calibri" pitchFamily="34" charset="0"/>
                          <a:ea typeface="Calibri" pitchFamily="34" charset="-122"/>
                          <a:cs typeface="Calibri" pitchFamily="34" charset="-120"/>
                        </a:rPr>
                        <a:t>0.625</a:t>
                      </a:r>
                      <a:endParaRPr lang="en-US" sz="105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E8F3EA"/>
                    </a:solidFill>
                  </a:tcPr>
                </a:tc>
              </a:tr>
            </a:tbl>
          </a:graphicData>
        </a:graphic>
      </p:graphicFrame>
      <p:sp>
        <p:nvSpPr>
          <p:cNvPr id="4" name="Shape 1"/>
          <p:cNvSpPr/>
          <p:nvPr/>
        </p:nvSpPr>
        <p:spPr>
          <a:xfrm>
            <a:off x="457200" y="2331720"/>
            <a:ext cx="1965960" cy="1143000"/>
          </a:xfrm>
          <a:prstGeom prst="roundRect">
            <a:avLst>
              <a:gd name="adj" fmla="val 6400"/>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5" name="Text 2"/>
          <p:cNvSpPr txBox="1"/>
          <p:nvPr/>
        </p:nvSpPr>
        <p:spPr>
          <a:xfrm>
            <a:off x="457200" y="2423160"/>
            <a:ext cx="1965960" cy="548640"/>
          </a:xfrm>
          <a:prstGeom prst="rect">
            <a:avLst/>
          </a:prstGeom>
          <a:noFill/>
          <a:ln/>
        </p:spPr>
        <p:txBody>
          <a:bodyPr wrap="square" lIns="0" tIns="0" rIns="0" bIns="0" rtlCol="0" anchor="t"/>
          <a:lstStyle/>
          <a:p>
            <a:pPr algn="ctr" indent="0" marL="0">
              <a:buNone/>
            </a:pPr>
            <a:r>
              <a:rPr lang="en-US" sz="3000" b="1" dirty="0">
                <a:solidFill>
                  <a:srgbClr val="5F6F66"/>
                </a:solidFill>
                <a:latin typeface="Cambria" pitchFamily="34" charset="0"/>
                <a:ea typeface="Cambria" pitchFamily="34" charset="-122"/>
                <a:cs typeface="Cambria" pitchFamily="34" charset="-120"/>
              </a:rPr>
              <a:t>0.556</a:t>
            </a:r>
            <a:endParaRPr lang="en-US" sz="3000" dirty="0"/>
          </a:p>
        </p:txBody>
      </p:sp>
      <p:sp>
        <p:nvSpPr>
          <p:cNvPr id="6" name="Text 3"/>
          <p:cNvSpPr txBox="1"/>
          <p:nvPr/>
        </p:nvSpPr>
        <p:spPr>
          <a:xfrm>
            <a:off x="457200" y="2926080"/>
            <a:ext cx="1965960" cy="457200"/>
          </a:xfrm>
          <a:prstGeom prst="rect">
            <a:avLst/>
          </a:prstGeom>
          <a:noFill/>
          <a:ln/>
        </p:spPr>
        <p:txBody>
          <a:bodyPr wrap="square" lIns="0" tIns="0" rIns="0" bIns="0" rtlCol="0" anchor="t"/>
          <a:lstStyle/>
          <a:p>
            <a:pPr algn="ctr" indent="0" marL="0">
              <a:buNone/>
            </a:pPr>
            <a:r>
              <a:rPr lang="en-US" sz="1000" dirty="0">
                <a:solidFill>
                  <a:srgbClr val="5F6F66"/>
                </a:solidFill>
                <a:latin typeface="Calibri" pitchFamily="34" charset="0"/>
                <a:ea typeface="Calibri" pitchFamily="34" charset="-122"/>
                <a:cs typeface="Calibri" pitchFamily="34" charset="-120"/>
              </a:rPr>
              <a:t>Rule-based F1</a:t>
            </a:r>
            <a:endParaRPr lang="en-US" sz="1000" dirty="0"/>
          </a:p>
          <a:p>
            <a:pPr algn="ctr" indent="0" marL="0">
              <a:buNone/>
            </a:pPr>
            <a:r>
              <a:rPr lang="en-US" sz="1000" dirty="0">
                <a:solidFill>
                  <a:srgbClr val="5F6F66"/>
                </a:solidFill>
                <a:latin typeface="Calibri" pitchFamily="34" charset="0"/>
                <a:ea typeface="Calibri" pitchFamily="34" charset="-122"/>
                <a:cs typeface="Calibri" pitchFamily="34" charset="-120"/>
              </a:rPr>
              <a:t>(all 620 claims)</a:t>
            </a:r>
            <a:endParaRPr lang="en-US" sz="1000" dirty="0"/>
          </a:p>
        </p:txBody>
      </p:sp>
      <p:sp>
        <p:nvSpPr>
          <p:cNvPr id="7" name="Shape 4"/>
          <p:cNvSpPr/>
          <p:nvPr/>
        </p:nvSpPr>
        <p:spPr>
          <a:xfrm>
            <a:off x="2606040" y="2331720"/>
            <a:ext cx="1965960" cy="1143000"/>
          </a:xfrm>
          <a:prstGeom prst="roundRect">
            <a:avLst>
              <a:gd name="adj" fmla="val 6400"/>
            </a:avLst>
          </a:prstGeom>
          <a:solidFill>
            <a:srgbClr val="0F3D26"/>
          </a:solidFill>
          <a:ln w="9525">
            <a:solidFill>
              <a:srgbClr val="0F3D26"/>
            </a:solidFill>
            <a:prstDash val="solid"/>
          </a:ln>
          <a:effectLst>
            <a:outerShdw sx="100000" sy="100000" kx="0" ky="0" algn="bl" rotWithShape="0" blurRad="101600" dist="25400" dir="5400000">
              <a:srgbClr val="000000">
                <a:alpha val="12000"/>
              </a:srgbClr>
            </a:outerShdw>
          </a:effectLst>
        </p:spPr>
      </p:sp>
      <p:sp>
        <p:nvSpPr>
          <p:cNvPr id="8" name="Text 5"/>
          <p:cNvSpPr txBox="1"/>
          <p:nvPr/>
        </p:nvSpPr>
        <p:spPr>
          <a:xfrm>
            <a:off x="2606040" y="2423160"/>
            <a:ext cx="1965960" cy="548640"/>
          </a:xfrm>
          <a:prstGeom prst="rect">
            <a:avLst/>
          </a:prstGeom>
          <a:noFill/>
          <a:ln/>
        </p:spPr>
        <p:txBody>
          <a:bodyPr wrap="square" lIns="0" tIns="0" rIns="0" bIns="0" rtlCol="0" anchor="t"/>
          <a:lstStyle/>
          <a:p>
            <a:pPr algn="ctr" indent="0" marL="0">
              <a:buNone/>
            </a:pPr>
            <a:r>
              <a:rPr lang="en-US" sz="3000" b="1" dirty="0">
                <a:solidFill>
                  <a:srgbClr val="F0A21A"/>
                </a:solidFill>
                <a:latin typeface="Cambria" pitchFamily="34" charset="0"/>
                <a:ea typeface="Cambria" pitchFamily="34" charset="-122"/>
                <a:cs typeface="Cambria" pitchFamily="34" charset="-120"/>
              </a:rPr>
              <a:t>0.625</a:t>
            </a:r>
            <a:endParaRPr lang="en-US" sz="3000" dirty="0"/>
          </a:p>
        </p:txBody>
      </p:sp>
      <p:sp>
        <p:nvSpPr>
          <p:cNvPr id="9" name="Text 6"/>
          <p:cNvSpPr txBox="1"/>
          <p:nvPr/>
        </p:nvSpPr>
        <p:spPr>
          <a:xfrm>
            <a:off x="2606040" y="2926080"/>
            <a:ext cx="1965960" cy="457200"/>
          </a:xfrm>
          <a:prstGeom prst="rect">
            <a:avLst/>
          </a:prstGeom>
          <a:noFill/>
          <a:ln/>
        </p:spPr>
        <p:txBody>
          <a:bodyPr wrap="square" lIns="0" tIns="0" rIns="0" bIns="0" rtlCol="0" anchor="t"/>
          <a:lstStyle/>
          <a:p>
            <a:pPr algn="ctr" indent="0" marL="0">
              <a:buNone/>
            </a:pPr>
            <a:r>
              <a:rPr lang="en-US" sz="1000" dirty="0">
                <a:solidFill>
                  <a:srgbClr val="CFE6D6"/>
                </a:solidFill>
                <a:latin typeface="Calibri" pitchFamily="34" charset="0"/>
                <a:ea typeface="Calibri" pitchFamily="34" charset="-122"/>
                <a:cs typeface="Calibri" pitchFamily="34" charset="-120"/>
              </a:rPr>
              <a:t>ML F1</a:t>
            </a:r>
            <a:endParaRPr lang="en-US" sz="1000" dirty="0"/>
          </a:p>
          <a:p>
            <a:pPr algn="ctr" indent="0" marL="0">
              <a:buNone/>
            </a:pPr>
            <a:r>
              <a:rPr lang="en-US" sz="1000" dirty="0">
                <a:solidFill>
                  <a:srgbClr val="CFE6D6"/>
                </a:solidFill>
                <a:latin typeface="Calibri" pitchFamily="34" charset="0"/>
                <a:ea typeface="Calibri" pitchFamily="34" charset="-122"/>
                <a:cs typeface="Calibri" pitchFamily="34" charset="-120"/>
              </a:rPr>
              <a:t>(held-out test split)</a:t>
            </a:r>
            <a:endParaRPr lang="en-US" sz="1000" dirty="0"/>
          </a:p>
        </p:txBody>
      </p:sp>
      <p:sp>
        <p:nvSpPr>
          <p:cNvPr id="10" name="Shape 7"/>
          <p:cNvSpPr/>
          <p:nvPr/>
        </p:nvSpPr>
        <p:spPr>
          <a:xfrm>
            <a:off x="4754880" y="1143000"/>
            <a:ext cx="3931920" cy="2331720"/>
          </a:xfrm>
          <a:prstGeom prst="roundRect">
            <a:avLst>
              <a:gd name="adj" fmla="val 3137"/>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graphicFrame>
        <p:nvGraphicFramePr>
          <p:cNvPr id="11" name="Chart 0" descr=""/>
          <p:cNvGraphicFramePr/>
          <p:nvPr/>
        </p:nvGraphicFramePr>
        <p:xfrm>
          <a:off x="4846320" y="1188720"/>
          <a:ext cx="3749040" cy="224028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457200" y="3657600"/>
            <a:ext cx="8229600" cy="1024128"/>
          </a:xfrm>
          <a:prstGeom prst="roundRect">
            <a:avLst>
              <a:gd name="adj" fmla="val 7143"/>
            </a:avLst>
          </a:prstGeom>
          <a:solidFill>
            <a:srgbClr val="E8F3EA"/>
          </a:solidFill>
          <a:ln w="9525">
            <a:solidFill>
              <a:srgbClr val="3FAE6A"/>
            </a:solidFill>
            <a:prstDash val="solid"/>
          </a:ln>
          <a:effectLst>
            <a:outerShdw sx="100000" sy="100000" kx="0" ky="0" algn="bl" rotWithShape="0" blurRad="101600" dist="25400" dir="5400000">
              <a:srgbClr val="000000">
                <a:alpha val="12000"/>
              </a:srgbClr>
            </a:outerShdw>
          </a:effectLst>
        </p:spPr>
      </p:sp>
      <p:sp>
        <p:nvSpPr>
          <p:cNvPr id="13" name="Shape 9"/>
          <p:cNvSpPr/>
          <p:nvPr/>
        </p:nvSpPr>
        <p:spPr>
          <a:xfrm>
            <a:off x="621792" y="3840480"/>
            <a:ext cx="457200" cy="457200"/>
          </a:xfrm>
          <a:prstGeom prst="ellipse">
            <a:avLst/>
          </a:prstGeom>
          <a:solidFill>
            <a:srgbClr val="1F7A45"/>
          </a:solidFill>
          <a:ln w="12700">
            <a:solidFill>
              <a:srgbClr val="1F7A45"/>
            </a:solidFill>
            <a:prstDash val="solid"/>
          </a:ln>
        </p:spPr>
      </p:sp>
      <p:pic>
        <p:nvPicPr>
          <p:cNvPr id="14" name="Image 0" descr="preencoded.png">    </p:cNvPr>
          <p:cNvPicPr>
            <a:picLocks noChangeAspect="1"/>
          </p:cNvPicPr>
          <p:nvPr/>
        </p:nvPicPr>
        <p:blipFill>
          <a:blip r:embed="rId2"/>
          <a:stretch>
            <a:fillRect/>
          </a:stretch>
        </p:blipFill>
        <p:spPr>
          <a:xfrm>
            <a:off x="736092" y="3954780"/>
            <a:ext cx="228600" cy="228600"/>
          </a:xfrm>
          <a:prstGeom prst="rect">
            <a:avLst/>
          </a:prstGeom>
        </p:spPr>
      </p:pic>
      <p:sp>
        <p:nvSpPr>
          <p:cNvPr id="15" name="Text 10"/>
          <p:cNvSpPr txBox="1"/>
          <p:nvPr/>
        </p:nvSpPr>
        <p:spPr>
          <a:xfrm>
            <a:off x="1234440" y="3703320"/>
            <a:ext cx="7315200" cy="914400"/>
          </a:xfrm>
          <a:prstGeom prst="rect">
            <a:avLst/>
          </a:prstGeom>
          <a:noFill/>
          <a:ln/>
        </p:spPr>
        <p:txBody>
          <a:bodyPr wrap="square" lIns="0" tIns="0" rIns="0" bIns="0" rtlCol="0" anchor="ctr"/>
          <a:lstStyle/>
          <a:p>
            <a:pPr indent="0" marL="0">
              <a:buNone/>
            </a:pPr>
            <a:r>
              <a:rPr lang="en-US" sz="1100" b="1" dirty="0">
                <a:solidFill>
                  <a:srgbClr val="1F7A45"/>
                </a:solidFill>
                <a:latin typeface="Calibri" pitchFamily="34" charset="0"/>
                <a:ea typeface="Calibri" pitchFamily="34" charset="-122"/>
                <a:cs typeface="Calibri" pitchFamily="34" charset="-120"/>
              </a:rPr>
              <a:t>Key observation. </a:t>
            </a:r>
            <a:pPr indent="0" marL="0">
              <a:buNone/>
            </a:pPr>
            <a:r>
              <a:rPr lang="en-US" sz="1100" dirty="0">
                <a:solidFill>
                  <a:srgbClr val="1D2B24"/>
                </a:solidFill>
                <a:latin typeface="Calibri" pitchFamily="34" charset="0"/>
                <a:ea typeface="Calibri" pitchFamily="34" charset="-122"/>
                <a:cs typeface="Calibri" pitchFamily="34" charset="-120"/>
              </a:rPr>
              <a:t>The ML model beats the rule-based lexicon on every metric (+4.8 pts accuracy, +8.1 pts precision, +5.9 pts recall) while the lexicon needs no training. </a:t>
            </a:r>
            <a:pPr indent="0" marL="0">
              <a:buNone/>
            </a:pPr>
            <a:r>
              <a:rPr lang="en-US" sz="1100" i="1" dirty="0">
                <a:solidFill>
                  <a:srgbClr val="5F6F66"/>
                </a:solidFill>
                <a:latin typeface="Calibri" pitchFamily="34" charset="0"/>
                <a:ea typeface="Calibri" pitchFamily="34" charset="-122"/>
                <a:cs typeface="Calibri" pitchFamily="34" charset="-120"/>
              </a:rPr>
              <a:t>Note: the lexicon is scored on all 620 claims, the ML model on 186 unseen ones, so the comparison is indicative rather than strictly like-for-like.</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Audit Finding: Where the Model Struggles</a:t>
            </a:r>
            <a:endParaRPr lang="en-US" sz="2600" dirty="0"/>
          </a:p>
        </p:txBody>
      </p:sp>
      <p:sp>
        <p:nvSpPr>
          <p:cNvPr id="3" name="Shape 1"/>
          <p:cNvSpPr/>
          <p:nvPr/>
        </p:nvSpPr>
        <p:spPr>
          <a:xfrm>
            <a:off x="457200" y="1143000"/>
            <a:ext cx="4206240" cy="2697480"/>
          </a:xfrm>
          <a:prstGeom prst="roundRect">
            <a:avLst>
              <a:gd name="adj" fmla="val 2712"/>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graphicFrame>
        <p:nvGraphicFramePr>
          <p:cNvPr id="4" name="Chart 0" descr=""/>
          <p:cNvGraphicFramePr/>
          <p:nvPr/>
        </p:nvGraphicFramePr>
        <p:xfrm>
          <a:off x="548640" y="1188720"/>
          <a:ext cx="4023360" cy="260604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846320" y="1143000"/>
          <a:ext cx="3840480" cy="914400"/>
        </p:xfrm>
        <a:graphic>
          <a:graphicData uri="http://schemas.openxmlformats.org/drawingml/2006/table">
            <a:tbl>
              <a:tblPr/>
              <a:tblGrid>
                <a:gridCol w="1371600"/>
                <a:gridCol w="548640"/>
                <a:gridCol w="640080"/>
                <a:gridCol w="640080"/>
                <a:gridCol w="64008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Subgroup</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0F3D2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0F3D2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Acc</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0F3D2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Prec</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0F3D26"/>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Rec</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0F3D26"/>
                    </a:solidFill>
                  </a:tcPr>
                </a:tc>
              </a:tr>
              <a:tr h="329184">
                <a:tc>
                  <a:txBody>
                    <a:bodyPr/>
                    <a:lstStyle/>
                    <a:p>
                      <a:pPr indent="0" marL="0">
                        <a:buNone/>
                      </a:pPr>
                      <a:r>
                        <a:rPr lang="en-US" sz="1000" b="1" dirty="0">
                          <a:solidFill>
                            <a:srgbClr val="1D2B24"/>
                          </a:solidFill>
                          <a:latin typeface="Calibri" pitchFamily="34" charset="0"/>
                          <a:ea typeface="Calibri" pitchFamily="34" charset="-122"/>
                          <a:cs typeface="Calibri" pitchFamily="34" charset="-120"/>
                        </a:rPr>
                        <a:t>Short</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333</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.724</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.741</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.581</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D2483F"/>
                          </a:solidFill>
                          <a:latin typeface="Calibri" pitchFamily="34" charset="0"/>
                          <a:ea typeface="Calibri" pitchFamily="34" charset="-122"/>
                          <a:cs typeface="Calibri" pitchFamily="34" charset="-120"/>
                        </a:rPr>
                        <a:t>Long</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287</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.659</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.379</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.429</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D2B24"/>
                          </a:solidFill>
                          <a:latin typeface="Calibri" pitchFamily="34" charset="0"/>
                          <a:ea typeface="Calibri" pitchFamily="34" charset="-122"/>
                          <a:cs typeface="Calibri" pitchFamily="34" charset="-120"/>
                        </a:rPr>
                        <a:t>Plain statement</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515</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.717</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.526</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.458</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D2483F"/>
                          </a:solidFill>
                          <a:latin typeface="Calibri" pitchFamily="34" charset="0"/>
                          <a:ea typeface="Calibri" pitchFamily="34" charset="-122"/>
                          <a:cs typeface="Calibri" pitchFamily="34" charset="-120"/>
                        </a:rPr>
                        <a:t>Quoted slogan</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105</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.581</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.700</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D2B24"/>
                          </a:solidFill>
                          <a:latin typeface="Calibri" pitchFamily="34" charset="0"/>
                          <a:ea typeface="Calibri" pitchFamily="34" charset="-122"/>
                          <a:cs typeface="Calibri" pitchFamily="34" charset="-120"/>
                        </a:rPr>
                        <a:t>.681</a:t>
                      </a:r>
                      <a:endParaRPr lang="en-US" sz="1000" dirty="0">
                        <a:latin typeface="Calibri" charset="0"/>
                        <a:ea typeface="Calibri" charset="0"/>
                        <a:cs typeface="Calibri" charset="0"/>
                      </a:endParaRPr>
                    </a:p>
                  </a:txBody>
                  <a:tcPr marL="91440" marR="91440" marT="45720" marB="45720" anchor="ctr">
                    <a:lnL w="9525" cap="flat" cmpd="sng" algn="ctr">
                      <a:solidFill>
                        <a:srgbClr val="D9E3DB"/>
                      </a:solidFill>
                      <a:prstDash val="solid"/>
                      <a:round/>
                      <a:headEnd type="none" w="med" len="med"/>
                      <a:tailEnd type="none" w="med" len="med"/>
                    </a:lnL>
                    <a:lnR w="9525" cap="flat" cmpd="sng" algn="ctr">
                      <a:solidFill>
                        <a:srgbClr val="D9E3DB"/>
                      </a:solidFill>
                      <a:prstDash val="solid"/>
                      <a:round/>
                      <a:headEnd type="none" w="med" len="med"/>
                      <a:tailEnd type="none" w="med" len="med"/>
                    </a:lnR>
                    <a:lnT w="9525" cap="flat" cmpd="sng" algn="ctr">
                      <a:solidFill>
                        <a:srgbClr val="D9E3DB"/>
                      </a:solidFill>
                      <a:prstDash val="solid"/>
                      <a:round/>
                      <a:headEnd type="none" w="med" len="med"/>
                      <a:tailEnd type="none" w="med" len="med"/>
                    </a:lnT>
                    <a:lnB w="9525" cap="flat" cmpd="sng" algn="ctr">
                      <a:solidFill>
                        <a:srgbClr val="D9E3DB"/>
                      </a:solidFill>
                      <a:prstDash val="solid"/>
                      <a:round/>
                      <a:headEnd type="none" w="med" len="med"/>
                      <a:tailEnd type="none" w="med" len="med"/>
                    </a:lnB>
                    <a:solidFill>
                      <a:srgbClr val="FFFFFF"/>
                    </a:solidFill>
                  </a:tcPr>
                </a:tc>
              </a:tr>
            </a:tbl>
          </a:graphicData>
        </a:graphic>
      </p:graphicFrame>
      <p:sp>
        <p:nvSpPr>
          <p:cNvPr id="6" name="Shape 2"/>
          <p:cNvSpPr/>
          <p:nvPr/>
        </p:nvSpPr>
        <p:spPr>
          <a:xfrm>
            <a:off x="4846320" y="2926080"/>
            <a:ext cx="1828800" cy="914400"/>
          </a:xfrm>
          <a:prstGeom prst="roundRect">
            <a:avLst>
              <a:gd name="adj" fmla="val 8000"/>
            </a:avLst>
          </a:prstGeom>
          <a:solidFill>
            <a:srgbClr val="FBE7E5"/>
          </a:solidFill>
          <a:ln w="9525">
            <a:solidFill>
              <a:srgbClr val="D2483F"/>
            </a:solidFill>
            <a:prstDash val="solid"/>
          </a:ln>
          <a:effectLst>
            <a:outerShdw sx="100000" sy="100000" kx="0" ky="0" algn="bl" rotWithShape="0" blurRad="101600" dist="25400" dir="5400000">
              <a:srgbClr val="000000">
                <a:alpha val="12000"/>
              </a:srgbClr>
            </a:outerShdw>
          </a:effectLst>
        </p:spPr>
      </p:sp>
      <p:sp>
        <p:nvSpPr>
          <p:cNvPr id="7" name="Text 3"/>
          <p:cNvSpPr txBox="1"/>
          <p:nvPr/>
        </p:nvSpPr>
        <p:spPr>
          <a:xfrm>
            <a:off x="4846320" y="2999232"/>
            <a:ext cx="1828800" cy="457200"/>
          </a:xfrm>
          <a:prstGeom prst="rect">
            <a:avLst/>
          </a:prstGeom>
          <a:noFill/>
          <a:ln/>
        </p:spPr>
        <p:txBody>
          <a:bodyPr wrap="square" lIns="0" tIns="0" rIns="0" bIns="0" rtlCol="0" anchor="t"/>
          <a:lstStyle/>
          <a:p>
            <a:pPr algn="ctr" indent="0" marL="0">
              <a:buNone/>
            </a:pPr>
            <a:r>
              <a:rPr lang="en-US" sz="2200" b="1" dirty="0">
                <a:solidFill>
                  <a:srgbClr val="D2483F"/>
                </a:solidFill>
                <a:latin typeface="Cambria" pitchFamily="34" charset="0"/>
                <a:ea typeface="Cambria" pitchFamily="34" charset="-122"/>
                <a:cs typeface="Cambria" pitchFamily="34" charset="-120"/>
              </a:rPr>
              <a:t>-13.6 pts</a:t>
            </a:r>
            <a:endParaRPr lang="en-US" sz="2200" dirty="0"/>
          </a:p>
        </p:txBody>
      </p:sp>
      <p:sp>
        <p:nvSpPr>
          <p:cNvPr id="8" name="Text 4"/>
          <p:cNvSpPr txBox="1"/>
          <p:nvPr/>
        </p:nvSpPr>
        <p:spPr>
          <a:xfrm>
            <a:off x="4846320" y="3474720"/>
            <a:ext cx="1828800" cy="274320"/>
          </a:xfrm>
          <a:prstGeom prst="rect">
            <a:avLst/>
          </a:prstGeom>
          <a:noFill/>
          <a:ln/>
        </p:spPr>
        <p:txBody>
          <a:bodyPr wrap="square" lIns="0" tIns="0" rIns="0" bIns="0" rtlCol="0" anchor="t"/>
          <a:lstStyle/>
          <a:p>
            <a:pPr algn="ctr" indent="0" marL="0">
              <a:buNone/>
            </a:pPr>
            <a:r>
              <a:rPr lang="en-US" sz="1000" dirty="0">
                <a:solidFill>
                  <a:srgbClr val="5F6F66"/>
                </a:solidFill>
                <a:latin typeface="Calibri" pitchFamily="34" charset="0"/>
                <a:ea typeface="Calibri" pitchFamily="34" charset="-122"/>
                <a:cs typeface="Calibri" pitchFamily="34" charset="-120"/>
              </a:rPr>
              <a:t>slogans vs plain</a:t>
            </a:r>
            <a:endParaRPr lang="en-US" sz="1000" dirty="0"/>
          </a:p>
        </p:txBody>
      </p:sp>
      <p:sp>
        <p:nvSpPr>
          <p:cNvPr id="9" name="Shape 5"/>
          <p:cNvSpPr/>
          <p:nvPr/>
        </p:nvSpPr>
        <p:spPr>
          <a:xfrm>
            <a:off x="6858000" y="2926080"/>
            <a:ext cx="1828800" cy="914400"/>
          </a:xfrm>
          <a:prstGeom prst="roundRect">
            <a:avLst>
              <a:gd name="adj" fmla="val 8000"/>
            </a:avLst>
          </a:prstGeom>
          <a:solidFill>
            <a:srgbClr val="FDF1D6"/>
          </a:solidFill>
          <a:ln w="9525">
            <a:solidFill>
              <a:srgbClr val="F0A21A"/>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6858000" y="2999232"/>
            <a:ext cx="1828800" cy="457200"/>
          </a:xfrm>
          <a:prstGeom prst="rect">
            <a:avLst/>
          </a:prstGeom>
          <a:noFill/>
          <a:ln/>
        </p:spPr>
        <p:txBody>
          <a:bodyPr wrap="square" lIns="0" tIns="0" rIns="0" bIns="0" rtlCol="0" anchor="t"/>
          <a:lstStyle/>
          <a:p>
            <a:pPr algn="ctr" indent="0" marL="0">
              <a:buNone/>
            </a:pPr>
            <a:r>
              <a:rPr lang="en-US" sz="2200" b="1" dirty="0">
                <a:solidFill>
                  <a:srgbClr val="8A5A00"/>
                </a:solidFill>
                <a:latin typeface="Cambria" pitchFamily="34" charset="0"/>
                <a:ea typeface="Cambria" pitchFamily="34" charset="-122"/>
                <a:cs typeface="Cambria" pitchFamily="34" charset="-120"/>
              </a:rPr>
              <a:t>-6.5 pts</a:t>
            </a:r>
            <a:endParaRPr lang="en-US" sz="2200" dirty="0"/>
          </a:p>
        </p:txBody>
      </p:sp>
      <p:sp>
        <p:nvSpPr>
          <p:cNvPr id="11" name="Text 7"/>
          <p:cNvSpPr txBox="1"/>
          <p:nvPr/>
        </p:nvSpPr>
        <p:spPr>
          <a:xfrm>
            <a:off x="6858000" y="3474720"/>
            <a:ext cx="1828800" cy="274320"/>
          </a:xfrm>
          <a:prstGeom prst="rect">
            <a:avLst/>
          </a:prstGeom>
          <a:noFill/>
          <a:ln/>
        </p:spPr>
        <p:txBody>
          <a:bodyPr wrap="square" lIns="0" tIns="0" rIns="0" bIns="0" rtlCol="0" anchor="t"/>
          <a:lstStyle/>
          <a:p>
            <a:pPr algn="ctr" indent="0" marL="0">
              <a:buNone/>
            </a:pPr>
            <a:r>
              <a:rPr lang="en-US" sz="1000" dirty="0">
                <a:solidFill>
                  <a:srgbClr val="5F6F66"/>
                </a:solidFill>
                <a:latin typeface="Calibri" pitchFamily="34" charset="0"/>
                <a:ea typeface="Calibri" pitchFamily="34" charset="-122"/>
                <a:cs typeface="Calibri" pitchFamily="34" charset="-120"/>
              </a:rPr>
              <a:t>long vs short</a:t>
            </a:r>
            <a:endParaRPr lang="en-US" sz="1000" dirty="0"/>
          </a:p>
        </p:txBody>
      </p:sp>
      <p:sp>
        <p:nvSpPr>
          <p:cNvPr id="12" name="Shape 8"/>
          <p:cNvSpPr/>
          <p:nvPr/>
        </p:nvSpPr>
        <p:spPr>
          <a:xfrm>
            <a:off x="457200" y="4023360"/>
            <a:ext cx="8229600" cy="658368"/>
          </a:xfrm>
          <a:prstGeom prst="roundRect">
            <a:avLst>
              <a:gd name="adj" fmla="val 11111"/>
            </a:avLst>
          </a:prstGeom>
          <a:solidFill>
            <a:srgbClr val="0F3D26"/>
          </a:solidFill>
          <a:ln w="12700">
            <a:solidFill>
              <a:srgbClr val="0F3D26"/>
            </a:solidFill>
            <a:prstDash val="solid"/>
          </a:ln>
        </p:spPr>
      </p:sp>
      <p:sp>
        <p:nvSpPr>
          <p:cNvPr id="13" name="Shape 9"/>
          <p:cNvSpPr/>
          <p:nvPr/>
        </p:nvSpPr>
        <p:spPr>
          <a:xfrm>
            <a:off x="594360" y="4114800"/>
            <a:ext cx="457200" cy="457200"/>
          </a:xfrm>
          <a:prstGeom prst="ellipse">
            <a:avLst/>
          </a:prstGeom>
          <a:solidFill>
            <a:srgbClr val="F0A21A"/>
          </a:solidFill>
          <a:ln w="12700">
            <a:solidFill>
              <a:srgbClr val="F0A21A"/>
            </a:solidFill>
            <a:prstDash val="solid"/>
          </a:ln>
        </p:spPr>
      </p:sp>
      <p:pic>
        <p:nvPicPr>
          <p:cNvPr id="14" name="Image 0" descr="preencoded.png">    </p:cNvPr>
          <p:cNvPicPr>
            <a:picLocks noChangeAspect="1"/>
          </p:cNvPicPr>
          <p:nvPr/>
        </p:nvPicPr>
        <p:blipFill>
          <a:blip r:embed="rId2"/>
          <a:stretch>
            <a:fillRect/>
          </a:stretch>
        </p:blipFill>
        <p:spPr>
          <a:xfrm>
            <a:off x="708660" y="4229100"/>
            <a:ext cx="228600" cy="228600"/>
          </a:xfrm>
          <a:prstGeom prst="rect">
            <a:avLst/>
          </a:prstGeom>
        </p:spPr>
      </p:pic>
      <p:sp>
        <p:nvSpPr>
          <p:cNvPr id="15" name="Text 10"/>
          <p:cNvSpPr txBox="1"/>
          <p:nvPr/>
        </p:nvSpPr>
        <p:spPr>
          <a:xfrm>
            <a:off x="1188720" y="4023360"/>
            <a:ext cx="7315200" cy="658368"/>
          </a:xfrm>
          <a:prstGeom prst="rect">
            <a:avLst/>
          </a:prstGeom>
          <a:noFill/>
          <a:ln/>
        </p:spPr>
        <p:txBody>
          <a:bodyPr wrap="square" lIns="0" tIns="0" rIns="0" bIns="0" rtlCol="0" anchor="ctr"/>
          <a:lstStyle/>
          <a:p>
            <a:pPr indent="0" marL="0">
              <a:buNone/>
            </a:pPr>
            <a:r>
              <a:rPr lang="en-US" sz="1100" b="1" dirty="0">
                <a:solidFill>
                  <a:srgbClr val="F0A21A"/>
                </a:solidFill>
                <a:latin typeface="Calibri" pitchFamily="34" charset="0"/>
                <a:ea typeface="Calibri" pitchFamily="34" charset="-122"/>
                <a:cs typeface="Calibri" pitchFamily="34" charset="-120"/>
              </a:rPr>
              <a:t>Main finding: </a:t>
            </a:r>
            <a:pPr indent="0" marL="0">
              <a:buNone/>
            </a:pPr>
            <a:r>
              <a:rPr lang="en-US" sz="1100" dirty="0">
                <a:solidFill>
                  <a:srgbClr val="FFFFFF"/>
                </a:solidFill>
                <a:latin typeface="Calibri" pitchFamily="34" charset="0"/>
                <a:ea typeface="Calibri" pitchFamily="34" charset="-122"/>
                <a:cs typeface="Calibri" pitchFamily="34" charset="-120"/>
              </a:rPr>
              <a:t>weaker on catchy quoted slogans, the exact register real ads use. Long claims often bury a vague aspiration inside an otherwise factual sentence, which the lexicon under-weights.</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What GreenLens Found Across 620 Claims</a:t>
            </a:r>
            <a:endParaRPr lang="en-US" sz="2600" dirty="0"/>
          </a:p>
        </p:txBody>
      </p:sp>
      <p:sp>
        <p:nvSpPr>
          <p:cNvPr id="3" name="Shape 1"/>
          <p:cNvSpPr/>
          <p:nvPr/>
        </p:nvSpPr>
        <p:spPr>
          <a:xfrm>
            <a:off x="457200" y="1097280"/>
            <a:ext cx="1920240" cy="868680"/>
          </a:xfrm>
          <a:prstGeom prst="roundRect">
            <a:avLst>
              <a:gd name="adj" fmla="val 8421"/>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457200" y="1143000"/>
            <a:ext cx="1920240" cy="502920"/>
          </a:xfrm>
          <a:prstGeom prst="rect">
            <a:avLst/>
          </a:prstGeom>
          <a:noFill/>
          <a:ln/>
        </p:spPr>
        <p:txBody>
          <a:bodyPr wrap="square" lIns="0" tIns="0" rIns="0" bIns="0" rtlCol="0" anchor="t"/>
          <a:lstStyle/>
          <a:p>
            <a:pPr algn="ctr" indent="0" marL="0">
              <a:buNone/>
            </a:pPr>
            <a:r>
              <a:rPr lang="en-US" sz="2800" b="1" dirty="0">
                <a:solidFill>
                  <a:srgbClr val="1F7A45"/>
                </a:solidFill>
                <a:latin typeface="Cambria" pitchFamily="34" charset="0"/>
                <a:ea typeface="Cambria" pitchFamily="34" charset="-122"/>
                <a:cs typeface="Cambria" pitchFamily="34" charset="-120"/>
              </a:rPr>
              <a:t>620</a:t>
            </a:r>
            <a:endParaRPr lang="en-US" sz="2800" dirty="0"/>
          </a:p>
        </p:txBody>
      </p:sp>
      <p:sp>
        <p:nvSpPr>
          <p:cNvPr id="5" name="Text 3"/>
          <p:cNvSpPr txBox="1"/>
          <p:nvPr/>
        </p:nvSpPr>
        <p:spPr>
          <a:xfrm>
            <a:off x="457200" y="1645920"/>
            <a:ext cx="1920240" cy="274320"/>
          </a:xfrm>
          <a:prstGeom prst="rect">
            <a:avLst/>
          </a:prstGeom>
          <a:noFill/>
          <a:ln/>
        </p:spPr>
        <p:txBody>
          <a:bodyPr wrap="square" lIns="0" tIns="0" rIns="0" bIns="0" rtlCol="0" anchor="t"/>
          <a:lstStyle/>
          <a:p>
            <a:pPr algn="ctr" indent="0" marL="0">
              <a:buNone/>
            </a:pPr>
            <a:r>
              <a:rPr lang="en-US" sz="1050" dirty="0">
                <a:solidFill>
                  <a:srgbClr val="5F6F66"/>
                </a:solidFill>
                <a:latin typeface="Calibri" pitchFamily="34" charset="0"/>
                <a:ea typeface="Calibri" pitchFamily="34" charset="-122"/>
                <a:cs typeface="Calibri" pitchFamily="34" charset="-120"/>
              </a:rPr>
              <a:t>claims audited</a:t>
            </a:r>
            <a:endParaRPr lang="en-US" sz="1050" dirty="0"/>
          </a:p>
        </p:txBody>
      </p:sp>
      <p:sp>
        <p:nvSpPr>
          <p:cNvPr id="6" name="Shape 4"/>
          <p:cNvSpPr/>
          <p:nvPr/>
        </p:nvSpPr>
        <p:spPr>
          <a:xfrm>
            <a:off x="2542032" y="1097280"/>
            <a:ext cx="1920240" cy="868680"/>
          </a:xfrm>
          <a:prstGeom prst="roundRect">
            <a:avLst>
              <a:gd name="adj" fmla="val 8421"/>
            </a:avLst>
          </a:prstGeom>
          <a:solidFill>
            <a:srgbClr val="0F3D26"/>
          </a:solidFill>
          <a:ln w="9525">
            <a:solidFill>
              <a:srgbClr val="0F3D26"/>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2542032" y="1143000"/>
            <a:ext cx="1920240" cy="502920"/>
          </a:xfrm>
          <a:prstGeom prst="rect">
            <a:avLst/>
          </a:prstGeom>
          <a:noFill/>
          <a:ln/>
        </p:spPr>
        <p:txBody>
          <a:bodyPr wrap="square" lIns="0" tIns="0" rIns="0" bIns="0" rtlCol="0" anchor="t"/>
          <a:lstStyle/>
          <a:p>
            <a:pPr algn="ctr" indent="0" marL="0">
              <a:buNone/>
            </a:pPr>
            <a:r>
              <a:rPr lang="en-US" sz="2800" b="1" dirty="0">
                <a:solidFill>
                  <a:srgbClr val="F0A21A"/>
                </a:solidFill>
                <a:latin typeface="Cambria" pitchFamily="34" charset="0"/>
                <a:ea typeface="Cambria" pitchFamily="34" charset="-122"/>
                <a:cs typeface="Cambria" pitchFamily="34" charset="-120"/>
              </a:rPr>
              <a:t>203</a:t>
            </a:r>
            <a:endParaRPr lang="en-US" sz="2800" dirty="0"/>
          </a:p>
        </p:txBody>
      </p:sp>
      <p:sp>
        <p:nvSpPr>
          <p:cNvPr id="8" name="Text 6"/>
          <p:cNvSpPr txBox="1"/>
          <p:nvPr/>
        </p:nvSpPr>
        <p:spPr>
          <a:xfrm>
            <a:off x="2542032" y="1645920"/>
            <a:ext cx="1920240" cy="274320"/>
          </a:xfrm>
          <a:prstGeom prst="rect">
            <a:avLst/>
          </a:prstGeom>
          <a:noFill/>
          <a:ln/>
        </p:spPr>
        <p:txBody>
          <a:bodyPr wrap="square" lIns="0" tIns="0" rIns="0" bIns="0" rtlCol="0" anchor="t"/>
          <a:lstStyle/>
          <a:p>
            <a:pPr algn="ctr" indent="0" marL="0">
              <a:buNone/>
            </a:pPr>
            <a:r>
              <a:rPr lang="en-US" sz="1050" dirty="0">
                <a:solidFill>
                  <a:srgbClr val="CFE6D6"/>
                </a:solidFill>
                <a:latin typeface="Calibri" pitchFamily="34" charset="0"/>
                <a:ea typeface="Calibri" pitchFamily="34" charset="-122"/>
                <a:cs typeface="Calibri" pitchFamily="34" charset="-120"/>
              </a:rPr>
              <a:t>flagged (33%)</a:t>
            </a:r>
            <a:endParaRPr lang="en-US" sz="1050" dirty="0"/>
          </a:p>
        </p:txBody>
      </p:sp>
      <p:sp>
        <p:nvSpPr>
          <p:cNvPr id="9" name="Shape 7"/>
          <p:cNvSpPr/>
          <p:nvPr/>
        </p:nvSpPr>
        <p:spPr>
          <a:xfrm>
            <a:off x="4626864" y="1097280"/>
            <a:ext cx="1920240" cy="868680"/>
          </a:xfrm>
          <a:prstGeom prst="roundRect">
            <a:avLst>
              <a:gd name="adj" fmla="val 8421"/>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4626864" y="1143000"/>
            <a:ext cx="1920240" cy="502920"/>
          </a:xfrm>
          <a:prstGeom prst="rect">
            <a:avLst/>
          </a:prstGeom>
          <a:noFill/>
          <a:ln/>
        </p:spPr>
        <p:txBody>
          <a:bodyPr wrap="square" lIns="0" tIns="0" rIns="0" bIns="0" rtlCol="0" anchor="t"/>
          <a:lstStyle/>
          <a:p>
            <a:pPr algn="ctr" indent="0" marL="0">
              <a:buNone/>
            </a:pPr>
            <a:r>
              <a:rPr lang="en-US" sz="2800" b="1" dirty="0">
                <a:solidFill>
                  <a:srgbClr val="1F7A45"/>
                </a:solidFill>
                <a:latin typeface="Cambria" pitchFamily="34" charset="0"/>
                <a:ea typeface="Cambria" pitchFamily="34" charset="-122"/>
                <a:cs typeface="Cambria" pitchFamily="34" charset="-120"/>
              </a:rPr>
              <a:t>27</a:t>
            </a:r>
            <a:endParaRPr lang="en-US" sz="2800" dirty="0"/>
          </a:p>
        </p:txBody>
      </p:sp>
      <p:sp>
        <p:nvSpPr>
          <p:cNvPr id="11" name="Text 9"/>
          <p:cNvSpPr txBox="1"/>
          <p:nvPr/>
        </p:nvSpPr>
        <p:spPr>
          <a:xfrm>
            <a:off x="4626864" y="1645920"/>
            <a:ext cx="1920240" cy="274320"/>
          </a:xfrm>
          <a:prstGeom prst="rect">
            <a:avLst/>
          </a:prstGeom>
          <a:noFill/>
          <a:ln/>
        </p:spPr>
        <p:txBody>
          <a:bodyPr wrap="square" lIns="0" tIns="0" rIns="0" bIns="0" rtlCol="0" anchor="t"/>
          <a:lstStyle/>
          <a:p>
            <a:pPr algn="ctr" indent="0" marL="0">
              <a:buNone/>
            </a:pPr>
            <a:r>
              <a:rPr lang="en-US" sz="1050" dirty="0">
                <a:solidFill>
                  <a:srgbClr val="5F6F66"/>
                </a:solidFill>
                <a:latin typeface="Calibri" pitchFamily="34" charset="0"/>
                <a:ea typeface="Calibri" pitchFamily="34" charset="-122"/>
                <a:cs typeface="Calibri" pitchFamily="34" charset="-120"/>
              </a:rPr>
              <a:t>companies covered</a:t>
            </a:r>
            <a:endParaRPr lang="en-US" sz="1050" dirty="0"/>
          </a:p>
        </p:txBody>
      </p:sp>
      <p:sp>
        <p:nvSpPr>
          <p:cNvPr id="12" name="Shape 10"/>
          <p:cNvSpPr/>
          <p:nvPr/>
        </p:nvSpPr>
        <p:spPr>
          <a:xfrm>
            <a:off x="6711696" y="1097280"/>
            <a:ext cx="1920240" cy="868680"/>
          </a:xfrm>
          <a:prstGeom prst="roundRect">
            <a:avLst>
              <a:gd name="adj" fmla="val 8421"/>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6711696" y="1143000"/>
            <a:ext cx="1920240" cy="502920"/>
          </a:xfrm>
          <a:prstGeom prst="rect">
            <a:avLst/>
          </a:prstGeom>
          <a:noFill/>
          <a:ln/>
        </p:spPr>
        <p:txBody>
          <a:bodyPr wrap="square" lIns="0" tIns="0" rIns="0" bIns="0" rtlCol="0" anchor="t"/>
          <a:lstStyle/>
          <a:p>
            <a:pPr algn="ctr" indent="0" marL="0">
              <a:buNone/>
            </a:pPr>
            <a:r>
              <a:rPr lang="en-US" sz="2800" b="1" dirty="0">
                <a:solidFill>
                  <a:srgbClr val="1F7A45"/>
                </a:solidFill>
                <a:latin typeface="Cambria" pitchFamily="34" charset="0"/>
                <a:ea typeface="Cambria" pitchFamily="34" charset="-122"/>
                <a:cs typeface="Cambria" pitchFamily="34" charset="-120"/>
              </a:rPr>
              <a:t>69%</a:t>
            </a:r>
            <a:endParaRPr lang="en-US" sz="2800" dirty="0"/>
          </a:p>
        </p:txBody>
      </p:sp>
      <p:sp>
        <p:nvSpPr>
          <p:cNvPr id="14" name="Text 12"/>
          <p:cNvSpPr txBox="1"/>
          <p:nvPr/>
        </p:nvSpPr>
        <p:spPr>
          <a:xfrm>
            <a:off x="6711696" y="1645920"/>
            <a:ext cx="1920240" cy="274320"/>
          </a:xfrm>
          <a:prstGeom prst="rect">
            <a:avLst/>
          </a:prstGeom>
          <a:noFill/>
          <a:ln/>
        </p:spPr>
        <p:txBody>
          <a:bodyPr wrap="square" lIns="0" tIns="0" rIns="0" bIns="0" rtlCol="0" anchor="t"/>
          <a:lstStyle/>
          <a:p>
            <a:pPr algn="ctr" indent="0" marL="0">
              <a:buNone/>
            </a:pPr>
            <a:r>
              <a:rPr lang="en-US" sz="1050" dirty="0">
                <a:solidFill>
                  <a:srgbClr val="5F6F66"/>
                </a:solidFill>
                <a:latin typeface="Calibri" pitchFamily="34" charset="0"/>
                <a:ea typeface="Calibri" pitchFamily="34" charset="-122"/>
                <a:cs typeface="Calibri" pitchFamily="34" charset="-120"/>
              </a:rPr>
              <a:t>agreement with gold labels</a:t>
            </a:r>
            <a:endParaRPr lang="en-US" sz="1050" dirty="0"/>
          </a:p>
        </p:txBody>
      </p:sp>
      <p:sp>
        <p:nvSpPr>
          <p:cNvPr id="15" name="Shape 13"/>
          <p:cNvSpPr/>
          <p:nvPr/>
        </p:nvSpPr>
        <p:spPr>
          <a:xfrm>
            <a:off x="457200" y="2148840"/>
            <a:ext cx="4023360" cy="2514600"/>
          </a:xfrm>
          <a:prstGeom prst="roundRect">
            <a:avLst>
              <a:gd name="adj" fmla="val 2909"/>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4663440" y="2148840"/>
            <a:ext cx="4023360" cy="2514600"/>
          </a:xfrm>
          <a:prstGeom prst="roundRect">
            <a:avLst>
              <a:gd name="adj" fmla="val 2909"/>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graphicFrame>
        <p:nvGraphicFramePr>
          <p:cNvPr id="17" name="Chart 0" descr=""/>
          <p:cNvGraphicFramePr/>
          <p:nvPr/>
        </p:nvGraphicFramePr>
        <p:xfrm>
          <a:off x="548640" y="2194560"/>
          <a:ext cx="3840480" cy="2423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Chart 1" descr=""/>
          <p:cNvGraphicFramePr/>
          <p:nvPr/>
        </p:nvGraphicFramePr>
        <p:xfrm>
          <a:off x="4754880" y="2194560"/>
          <a:ext cx="3840480" cy="242316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Live Demo: The GreenLens Dashboard</a:t>
            </a:r>
            <a:endParaRPr lang="en-US" sz="2600" dirty="0"/>
          </a:p>
        </p:txBody>
      </p:sp>
      <p:sp>
        <p:nvSpPr>
          <p:cNvPr id="3" name="Shape 1"/>
          <p:cNvSpPr/>
          <p:nvPr/>
        </p:nvSpPr>
        <p:spPr>
          <a:xfrm>
            <a:off x="457200" y="1143000"/>
            <a:ext cx="5394960" cy="2743200"/>
          </a:xfrm>
          <a:prstGeom prst="roundRect">
            <a:avLst>
              <a:gd name="adj" fmla="val 2667"/>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pic>
        <p:nvPicPr>
          <p:cNvPr id="4" name="Image 0" descr="/home/claude/demo_crop.png">    </p:cNvPr>
          <p:cNvPicPr>
            <a:picLocks noChangeAspect="1"/>
          </p:cNvPicPr>
          <p:nvPr/>
        </p:nvPicPr>
        <p:blipFill>
          <a:blip r:embed="rId1"/>
          <a:stretch>
            <a:fillRect/>
          </a:stretch>
        </p:blipFill>
        <p:spPr>
          <a:xfrm>
            <a:off x="530352" y="1216152"/>
            <a:ext cx="5248656" cy="2468880"/>
          </a:xfrm>
          <a:prstGeom prst="rect">
            <a:avLst/>
          </a:prstGeom>
        </p:spPr>
      </p:pic>
      <p:sp>
        <p:nvSpPr>
          <p:cNvPr id="5" name="Text 2"/>
          <p:cNvSpPr txBox="1"/>
          <p:nvPr/>
        </p:nvSpPr>
        <p:spPr>
          <a:xfrm>
            <a:off x="457200" y="3931920"/>
            <a:ext cx="5394960" cy="228600"/>
          </a:xfrm>
          <a:prstGeom prst="rect">
            <a:avLst/>
          </a:prstGeom>
          <a:noFill/>
          <a:ln/>
        </p:spPr>
        <p:txBody>
          <a:bodyPr wrap="square" lIns="0" tIns="0" rIns="0" bIns="0" rtlCol="0" anchor="t"/>
          <a:lstStyle/>
          <a:p>
            <a:pPr algn="ctr" indent="0" marL="0">
              <a:buNone/>
            </a:pPr>
            <a:r>
              <a:rPr lang="en-US" sz="950" i="1" dirty="0">
                <a:solidFill>
                  <a:srgbClr val="5F6F66"/>
                </a:solidFill>
                <a:latin typeface="Calibri" pitchFamily="34" charset="0"/>
                <a:ea typeface="Calibri" pitchFamily="34" charset="-122"/>
                <a:cs typeface="Calibri" pitchFamily="34" charset="-120"/>
              </a:rPr>
              <a:t>Claim ledger filtered to "Flagged": 203 of 620 claims shown</a:t>
            </a:r>
            <a:endParaRPr lang="en-US" sz="950" dirty="0"/>
          </a:p>
        </p:txBody>
      </p:sp>
      <p:sp>
        <p:nvSpPr>
          <p:cNvPr id="6" name="Shape 3"/>
          <p:cNvSpPr/>
          <p:nvPr/>
        </p:nvSpPr>
        <p:spPr>
          <a:xfrm>
            <a:off x="6035040" y="1143000"/>
            <a:ext cx="2651760" cy="594360"/>
          </a:xfrm>
          <a:prstGeom prst="roundRect">
            <a:avLst>
              <a:gd name="adj" fmla="val 12308"/>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144768" y="1271016"/>
            <a:ext cx="347472" cy="347472"/>
          </a:xfrm>
          <a:prstGeom prst="ellipse">
            <a:avLst/>
          </a:prstGeom>
          <a:solidFill>
            <a:srgbClr val="1F7A45"/>
          </a:solidFill>
          <a:ln w="12700">
            <a:solidFill>
              <a:srgbClr val="1F7A45"/>
            </a:solidFill>
            <a:prstDash val="solid"/>
          </a:ln>
        </p:spPr>
      </p:sp>
      <p:sp>
        <p:nvSpPr>
          <p:cNvPr id="8" name="Text 5"/>
          <p:cNvSpPr txBox="1"/>
          <p:nvPr/>
        </p:nvSpPr>
        <p:spPr>
          <a:xfrm>
            <a:off x="6144768" y="12710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6"/>
          <p:cNvSpPr txBox="1"/>
          <p:nvPr/>
        </p:nvSpPr>
        <p:spPr>
          <a:xfrm>
            <a:off x="6583680" y="1197864"/>
            <a:ext cx="2011680" cy="228600"/>
          </a:xfrm>
          <a:prstGeom prst="rect">
            <a:avLst/>
          </a:prstGeom>
          <a:noFill/>
          <a:ln/>
        </p:spPr>
        <p:txBody>
          <a:bodyPr wrap="square" lIns="0" tIns="0" rIns="0" bIns="0" rtlCol="0" anchor="t"/>
          <a:lstStyle/>
          <a:p>
            <a:pPr indent="0" marL="0">
              <a:buNone/>
            </a:pPr>
            <a:r>
              <a:rPr lang="en-US" sz="1150" b="1" dirty="0">
                <a:solidFill>
                  <a:srgbClr val="0F3D26"/>
                </a:solidFill>
                <a:latin typeface="Calibri" pitchFamily="34" charset="0"/>
                <a:ea typeface="Calibri" pitchFamily="34" charset="-122"/>
                <a:cs typeface="Calibri" pitchFamily="34" charset="-120"/>
              </a:rPr>
              <a:t>Filter</a:t>
            </a:r>
            <a:endParaRPr lang="en-US" sz="1150" dirty="0"/>
          </a:p>
        </p:txBody>
      </p:sp>
      <p:sp>
        <p:nvSpPr>
          <p:cNvPr id="10" name="Text 7"/>
          <p:cNvSpPr txBox="1"/>
          <p:nvPr/>
        </p:nvSpPr>
        <p:spPr>
          <a:xfrm>
            <a:off x="6583680" y="1426464"/>
            <a:ext cx="2057400" cy="292608"/>
          </a:xfrm>
          <a:prstGeom prst="rect">
            <a:avLst/>
          </a:prstGeom>
          <a:noFill/>
          <a:ln/>
        </p:spPr>
        <p:txBody>
          <a:bodyPr wrap="square" lIns="0" tIns="0" rIns="0" bIns="0" rtlCol="0" anchor="t"/>
          <a:lstStyle/>
          <a:p>
            <a:pPr indent="0" marL="0">
              <a:buNone/>
            </a:pPr>
            <a:r>
              <a:rPr lang="en-US" sz="950" dirty="0">
                <a:solidFill>
                  <a:srgbClr val="5F6F66"/>
                </a:solidFill>
                <a:latin typeface="Calibri" pitchFamily="34" charset="0"/>
                <a:ea typeface="Calibri" pitchFamily="34" charset="-122"/>
                <a:cs typeface="Calibri" pitchFamily="34" charset="-120"/>
              </a:rPr>
              <a:t>Pick Flagged, Clean, a company or an industry.</a:t>
            </a:r>
            <a:endParaRPr lang="en-US" sz="950" dirty="0"/>
          </a:p>
        </p:txBody>
      </p:sp>
      <p:sp>
        <p:nvSpPr>
          <p:cNvPr id="11" name="Shape 8"/>
          <p:cNvSpPr/>
          <p:nvPr/>
        </p:nvSpPr>
        <p:spPr>
          <a:xfrm>
            <a:off x="6035040" y="1828800"/>
            <a:ext cx="2651760" cy="594360"/>
          </a:xfrm>
          <a:prstGeom prst="roundRect">
            <a:avLst>
              <a:gd name="adj" fmla="val 12308"/>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6144768" y="1956816"/>
            <a:ext cx="347472" cy="347472"/>
          </a:xfrm>
          <a:prstGeom prst="ellipse">
            <a:avLst/>
          </a:prstGeom>
          <a:solidFill>
            <a:srgbClr val="1F7A45"/>
          </a:solidFill>
          <a:ln w="12700">
            <a:solidFill>
              <a:srgbClr val="1F7A45"/>
            </a:solidFill>
            <a:prstDash val="solid"/>
          </a:ln>
        </p:spPr>
      </p:sp>
      <p:sp>
        <p:nvSpPr>
          <p:cNvPr id="13" name="Text 10"/>
          <p:cNvSpPr txBox="1"/>
          <p:nvPr/>
        </p:nvSpPr>
        <p:spPr>
          <a:xfrm>
            <a:off x="6144768" y="19568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6583680" y="1883664"/>
            <a:ext cx="2011680" cy="228600"/>
          </a:xfrm>
          <a:prstGeom prst="rect">
            <a:avLst/>
          </a:prstGeom>
          <a:noFill/>
          <a:ln/>
        </p:spPr>
        <p:txBody>
          <a:bodyPr wrap="square" lIns="0" tIns="0" rIns="0" bIns="0" rtlCol="0" anchor="t"/>
          <a:lstStyle/>
          <a:p>
            <a:pPr indent="0" marL="0">
              <a:buNone/>
            </a:pPr>
            <a:r>
              <a:rPr lang="en-US" sz="1150" b="1" dirty="0">
                <a:solidFill>
                  <a:srgbClr val="0F3D26"/>
                </a:solidFill>
                <a:latin typeface="Calibri" pitchFamily="34" charset="0"/>
                <a:ea typeface="Calibri" pitchFamily="34" charset="-122"/>
                <a:cs typeface="Calibri" pitchFamily="34" charset="-120"/>
              </a:rPr>
              <a:t>Select</a:t>
            </a:r>
            <a:endParaRPr lang="en-US" sz="1150" dirty="0"/>
          </a:p>
        </p:txBody>
      </p:sp>
      <p:sp>
        <p:nvSpPr>
          <p:cNvPr id="15" name="Text 12"/>
          <p:cNvSpPr txBox="1"/>
          <p:nvPr/>
        </p:nvSpPr>
        <p:spPr>
          <a:xfrm>
            <a:off x="6583680" y="2112264"/>
            <a:ext cx="2057400" cy="292608"/>
          </a:xfrm>
          <a:prstGeom prst="rect">
            <a:avLst/>
          </a:prstGeom>
          <a:noFill/>
          <a:ln/>
        </p:spPr>
        <p:txBody>
          <a:bodyPr wrap="square" lIns="0" tIns="0" rIns="0" bIns="0" rtlCol="0" anchor="t"/>
          <a:lstStyle/>
          <a:p>
            <a:pPr indent="0" marL="0">
              <a:buNone/>
            </a:pPr>
            <a:r>
              <a:rPr lang="en-US" sz="950" dirty="0">
                <a:solidFill>
                  <a:srgbClr val="5F6F66"/>
                </a:solidFill>
                <a:latin typeface="Calibri" pitchFamily="34" charset="0"/>
                <a:ea typeface="Calibri" pitchFamily="34" charset="-122"/>
                <a:cs typeface="Calibri" pitchFamily="34" charset="-120"/>
              </a:rPr>
              <a:t>Click any claim to open its full explanation.</a:t>
            </a:r>
            <a:endParaRPr lang="en-US" sz="950" dirty="0"/>
          </a:p>
        </p:txBody>
      </p:sp>
      <p:sp>
        <p:nvSpPr>
          <p:cNvPr id="16" name="Shape 13"/>
          <p:cNvSpPr/>
          <p:nvPr/>
        </p:nvSpPr>
        <p:spPr>
          <a:xfrm>
            <a:off x="6035040" y="2514600"/>
            <a:ext cx="2651760" cy="594360"/>
          </a:xfrm>
          <a:prstGeom prst="roundRect">
            <a:avLst>
              <a:gd name="adj" fmla="val 12308"/>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6144768" y="2642616"/>
            <a:ext cx="347472" cy="347472"/>
          </a:xfrm>
          <a:prstGeom prst="ellipse">
            <a:avLst/>
          </a:prstGeom>
          <a:solidFill>
            <a:srgbClr val="1F7A45"/>
          </a:solidFill>
          <a:ln w="12700">
            <a:solidFill>
              <a:srgbClr val="1F7A45"/>
            </a:solidFill>
            <a:prstDash val="solid"/>
          </a:ln>
        </p:spPr>
      </p:sp>
      <p:sp>
        <p:nvSpPr>
          <p:cNvPr id="18" name="Text 15"/>
          <p:cNvSpPr txBox="1"/>
          <p:nvPr/>
        </p:nvSpPr>
        <p:spPr>
          <a:xfrm>
            <a:off x="6144768" y="26426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6583680" y="2569464"/>
            <a:ext cx="2011680" cy="228600"/>
          </a:xfrm>
          <a:prstGeom prst="rect">
            <a:avLst/>
          </a:prstGeom>
          <a:noFill/>
          <a:ln/>
        </p:spPr>
        <p:txBody>
          <a:bodyPr wrap="square" lIns="0" tIns="0" rIns="0" bIns="0" rtlCol="0" anchor="t"/>
          <a:lstStyle/>
          <a:p>
            <a:pPr indent="0" marL="0">
              <a:buNone/>
            </a:pPr>
            <a:r>
              <a:rPr lang="en-US" sz="1150" b="1" dirty="0">
                <a:solidFill>
                  <a:srgbClr val="0F3D26"/>
                </a:solidFill>
                <a:latin typeface="Calibri" pitchFamily="34" charset="0"/>
                <a:ea typeface="Calibri" pitchFamily="34" charset="-122"/>
                <a:cs typeface="Calibri" pitchFamily="34" charset="-120"/>
              </a:rPr>
              <a:t>Inspect</a:t>
            </a:r>
            <a:endParaRPr lang="en-US" sz="1150" dirty="0"/>
          </a:p>
        </p:txBody>
      </p:sp>
      <p:sp>
        <p:nvSpPr>
          <p:cNvPr id="20" name="Text 17"/>
          <p:cNvSpPr txBox="1"/>
          <p:nvPr/>
        </p:nvSpPr>
        <p:spPr>
          <a:xfrm>
            <a:off x="6583680" y="2798064"/>
            <a:ext cx="2057400" cy="292608"/>
          </a:xfrm>
          <a:prstGeom prst="rect">
            <a:avLst/>
          </a:prstGeom>
          <a:noFill/>
          <a:ln/>
        </p:spPr>
        <p:txBody>
          <a:bodyPr wrap="square" lIns="0" tIns="0" rIns="0" bIns="0" rtlCol="0" anchor="t"/>
          <a:lstStyle/>
          <a:p>
            <a:pPr indent="0" marL="0">
              <a:buNone/>
            </a:pPr>
            <a:r>
              <a:rPr lang="en-US" sz="950" dirty="0">
                <a:solidFill>
                  <a:srgbClr val="5F6F66"/>
                </a:solidFill>
                <a:latin typeface="Calibri" pitchFamily="34" charset="0"/>
                <a:ea typeface="Calibri" pitchFamily="34" charset="-122"/>
                <a:cs typeface="Calibri" pitchFamily="34" charset="-120"/>
              </a:rPr>
              <a:t>See highlighted suspicious words.</a:t>
            </a:r>
            <a:endParaRPr lang="en-US" sz="950" dirty="0"/>
          </a:p>
        </p:txBody>
      </p:sp>
      <p:sp>
        <p:nvSpPr>
          <p:cNvPr id="21" name="Shape 18"/>
          <p:cNvSpPr/>
          <p:nvPr/>
        </p:nvSpPr>
        <p:spPr>
          <a:xfrm>
            <a:off x="6035040" y="3200400"/>
            <a:ext cx="2651760" cy="594360"/>
          </a:xfrm>
          <a:prstGeom prst="roundRect">
            <a:avLst>
              <a:gd name="adj" fmla="val 12308"/>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22" name="Shape 19"/>
          <p:cNvSpPr/>
          <p:nvPr/>
        </p:nvSpPr>
        <p:spPr>
          <a:xfrm>
            <a:off x="6144768" y="3328416"/>
            <a:ext cx="347472" cy="347472"/>
          </a:xfrm>
          <a:prstGeom prst="ellipse">
            <a:avLst/>
          </a:prstGeom>
          <a:solidFill>
            <a:srgbClr val="1F7A45"/>
          </a:solidFill>
          <a:ln w="12700">
            <a:solidFill>
              <a:srgbClr val="1F7A45"/>
            </a:solidFill>
            <a:prstDash val="solid"/>
          </a:ln>
        </p:spPr>
      </p:sp>
      <p:sp>
        <p:nvSpPr>
          <p:cNvPr id="23" name="Text 20"/>
          <p:cNvSpPr txBox="1"/>
          <p:nvPr/>
        </p:nvSpPr>
        <p:spPr>
          <a:xfrm>
            <a:off x="6144768" y="332841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1"/>
          <p:cNvSpPr txBox="1"/>
          <p:nvPr/>
        </p:nvSpPr>
        <p:spPr>
          <a:xfrm>
            <a:off x="6583680" y="3255264"/>
            <a:ext cx="2011680" cy="228600"/>
          </a:xfrm>
          <a:prstGeom prst="rect">
            <a:avLst/>
          </a:prstGeom>
          <a:noFill/>
          <a:ln/>
        </p:spPr>
        <p:txBody>
          <a:bodyPr wrap="square" lIns="0" tIns="0" rIns="0" bIns="0" rtlCol="0" anchor="t"/>
          <a:lstStyle/>
          <a:p>
            <a:pPr indent="0" marL="0">
              <a:buNone/>
            </a:pPr>
            <a:r>
              <a:rPr lang="en-US" sz="1150" b="1" dirty="0">
                <a:solidFill>
                  <a:srgbClr val="0F3D26"/>
                </a:solidFill>
                <a:latin typeface="Calibri" pitchFamily="34" charset="0"/>
                <a:ea typeface="Calibri" pitchFamily="34" charset="-122"/>
                <a:cs typeface="Calibri" pitchFamily="34" charset="-120"/>
              </a:rPr>
              <a:t>Understand</a:t>
            </a:r>
            <a:endParaRPr lang="en-US" sz="1150" dirty="0"/>
          </a:p>
        </p:txBody>
      </p:sp>
      <p:sp>
        <p:nvSpPr>
          <p:cNvPr id="25" name="Text 22"/>
          <p:cNvSpPr txBox="1"/>
          <p:nvPr/>
        </p:nvSpPr>
        <p:spPr>
          <a:xfrm>
            <a:off x="6583680" y="3483864"/>
            <a:ext cx="2057400" cy="292608"/>
          </a:xfrm>
          <a:prstGeom prst="rect">
            <a:avLst/>
          </a:prstGeom>
          <a:noFill/>
          <a:ln/>
        </p:spPr>
        <p:txBody>
          <a:bodyPr wrap="square" lIns="0" tIns="0" rIns="0" bIns="0" rtlCol="0" anchor="t"/>
          <a:lstStyle/>
          <a:p>
            <a:pPr indent="0" marL="0">
              <a:buNone/>
            </a:pPr>
            <a:r>
              <a:rPr lang="en-US" sz="950" dirty="0">
                <a:solidFill>
                  <a:srgbClr val="5F6F66"/>
                </a:solidFill>
                <a:latin typeface="Calibri" pitchFamily="34" charset="0"/>
                <a:ea typeface="Calibri" pitchFamily="34" charset="-122"/>
                <a:cs typeface="Calibri" pitchFamily="34" charset="-120"/>
              </a:rPr>
              <a:t>Read the reasons and confidence behind the verdict.</a:t>
            </a:r>
            <a:endParaRPr lang="en-US" sz="950" dirty="0"/>
          </a:p>
        </p:txBody>
      </p:sp>
      <p:sp>
        <p:nvSpPr>
          <p:cNvPr id="26" name="Shape 23"/>
          <p:cNvSpPr/>
          <p:nvPr/>
        </p:nvSpPr>
        <p:spPr>
          <a:xfrm>
            <a:off x="457200" y="4251960"/>
            <a:ext cx="8229600" cy="457200"/>
          </a:xfrm>
          <a:prstGeom prst="roundRect">
            <a:avLst>
              <a:gd name="adj" fmla="val 16000"/>
            </a:avLst>
          </a:prstGeom>
          <a:solidFill>
            <a:srgbClr val="E8F3EA"/>
          </a:solidFill>
          <a:ln w="9525">
            <a:solidFill>
              <a:srgbClr val="3FAE6A"/>
            </a:solidFill>
            <a:prstDash val="solid"/>
          </a:ln>
        </p:spPr>
      </p:sp>
      <p:sp>
        <p:nvSpPr>
          <p:cNvPr id="27" name="Text 24"/>
          <p:cNvSpPr txBox="1"/>
          <p:nvPr/>
        </p:nvSpPr>
        <p:spPr>
          <a:xfrm>
            <a:off x="640080" y="4251960"/>
            <a:ext cx="7863840" cy="457200"/>
          </a:xfrm>
          <a:prstGeom prst="rect">
            <a:avLst/>
          </a:prstGeom>
          <a:noFill/>
          <a:ln/>
        </p:spPr>
        <p:txBody>
          <a:bodyPr wrap="square" lIns="0" tIns="0" rIns="0" bIns="0" rtlCol="0" anchor="ctr"/>
          <a:lstStyle/>
          <a:p>
            <a:pPr indent="0" marL="0">
              <a:buNone/>
            </a:pPr>
            <a:r>
              <a:rPr lang="en-US" sz="1100" b="1" dirty="0">
                <a:solidFill>
                  <a:srgbClr val="1F7A45"/>
                </a:solidFill>
                <a:latin typeface="Calibri" pitchFamily="34" charset="0"/>
                <a:ea typeface="Calibri" pitchFamily="34" charset="-122"/>
                <a:cs typeface="Calibri" pitchFamily="34" charset="-120"/>
              </a:rPr>
              <a:t>Also: </a:t>
            </a:r>
            <a:pPr indent="0" marL="0">
              <a:buNone/>
            </a:pPr>
            <a:r>
              <a:rPr lang="en-US" sz="1100" dirty="0">
                <a:solidFill>
                  <a:srgbClr val="1D2B24"/>
                </a:solidFill>
                <a:latin typeface="Calibri" pitchFamily="34" charset="0"/>
                <a:ea typeface="Calibri" pitchFamily="34" charset="-122"/>
                <a:cs typeface="Calibri" pitchFamily="34" charset="-120"/>
              </a:rPr>
              <a:t>free-text search, sort by risk or specificity, and export the filtered list to CSV.</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Limitations &amp; Responsible Use</a:t>
            </a:r>
            <a:endParaRPr lang="en-US" sz="2600" dirty="0"/>
          </a:p>
        </p:txBody>
      </p:sp>
      <p:sp>
        <p:nvSpPr>
          <p:cNvPr id="3" name="Shape 1"/>
          <p:cNvSpPr/>
          <p:nvPr/>
        </p:nvSpPr>
        <p:spPr>
          <a:xfrm>
            <a:off x="457200" y="1143000"/>
            <a:ext cx="2615184" cy="2377440"/>
          </a:xfrm>
          <a:prstGeom prst="roundRect">
            <a:avLst>
              <a:gd name="adj" fmla="val 3077"/>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640080" y="1325880"/>
            <a:ext cx="502920" cy="502920"/>
          </a:xfrm>
          <a:prstGeom prst="ellipse">
            <a:avLst/>
          </a:prstGeom>
          <a:solidFill>
            <a:srgbClr val="F0A21A"/>
          </a:solidFill>
          <a:ln w="12700">
            <a:solidFill>
              <a:srgbClr val="F0A21A"/>
            </a:solidFill>
            <a:prstDash val="solid"/>
          </a:ln>
        </p:spPr>
      </p:sp>
      <p:pic>
        <p:nvPicPr>
          <p:cNvPr id="5" name="Image 0" descr="preencoded.png">    </p:cNvPr>
          <p:cNvPicPr>
            <a:picLocks noChangeAspect="1"/>
          </p:cNvPicPr>
          <p:nvPr/>
        </p:nvPicPr>
        <p:blipFill>
          <a:blip r:embed="rId1"/>
          <a:stretch>
            <a:fillRect/>
          </a:stretch>
        </p:blipFill>
        <p:spPr>
          <a:xfrm>
            <a:off x="765810" y="1451610"/>
            <a:ext cx="251460" cy="251460"/>
          </a:xfrm>
          <a:prstGeom prst="rect">
            <a:avLst/>
          </a:prstGeom>
        </p:spPr>
      </p:pic>
      <p:sp>
        <p:nvSpPr>
          <p:cNvPr id="6" name="Text 3"/>
          <p:cNvSpPr txBox="1"/>
          <p:nvPr/>
        </p:nvSpPr>
        <p:spPr>
          <a:xfrm>
            <a:off x="1234440" y="1325880"/>
            <a:ext cx="1737360" cy="182880"/>
          </a:xfrm>
          <a:prstGeom prst="rect">
            <a:avLst/>
          </a:prstGeom>
          <a:noFill/>
          <a:ln/>
        </p:spPr>
        <p:txBody>
          <a:bodyPr wrap="square" lIns="0" tIns="0" rIns="0" bIns="0" rtlCol="0" anchor="t"/>
          <a:lstStyle/>
          <a:p>
            <a:pPr indent="0" marL="0">
              <a:buNone/>
            </a:pPr>
            <a:r>
              <a:rPr lang="en-US" sz="850" b="1" spc="150" kern="0" dirty="0">
                <a:solidFill>
                  <a:srgbClr val="5F6F66"/>
                </a:solidFill>
                <a:latin typeface="Calibri" pitchFamily="34" charset="0"/>
                <a:ea typeface="Calibri" pitchFamily="34" charset="-122"/>
                <a:cs typeface="Calibri" pitchFamily="34" charset="-120"/>
              </a:rPr>
              <a:t>LIMITATION 1</a:t>
            </a:r>
            <a:endParaRPr lang="en-US" sz="850" dirty="0"/>
          </a:p>
        </p:txBody>
      </p:sp>
      <p:sp>
        <p:nvSpPr>
          <p:cNvPr id="7" name="Text 4"/>
          <p:cNvSpPr txBox="1"/>
          <p:nvPr/>
        </p:nvSpPr>
        <p:spPr>
          <a:xfrm>
            <a:off x="1234440" y="1508760"/>
            <a:ext cx="1783080" cy="365760"/>
          </a:xfrm>
          <a:prstGeom prst="rect">
            <a:avLst/>
          </a:prstGeom>
          <a:noFill/>
          <a:ln/>
        </p:spPr>
        <p:txBody>
          <a:bodyPr wrap="square" lIns="0" tIns="0" rIns="0" bIns="0" rtlCol="0" anchor="t"/>
          <a:lstStyle/>
          <a:p>
            <a:pPr indent="0" marL="0">
              <a:buNone/>
            </a:pPr>
            <a:r>
              <a:rPr lang="en-US" sz="1300" b="1" dirty="0">
                <a:solidFill>
                  <a:srgbClr val="0F3D26"/>
                </a:solidFill>
                <a:latin typeface="Cambria" pitchFamily="34" charset="0"/>
                <a:ea typeface="Cambria" pitchFamily="34" charset="-122"/>
                <a:cs typeface="Cambria" pitchFamily="34" charset="-120"/>
              </a:rPr>
              <a:t>Semi-synthetic data</a:t>
            </a:r>
            <a:endParaRPr lang="en-US" sz="1300" dirty="0"/>
          </a:p>
        </p:txBody>
      </p:sp>
      <p:sp>
        <p:nvSpPr>
          <p:cNvPr id="8" name="Text 5"/>
          <p:cNvSpPr txBox="1"/>
          <p:nvPr/>
        </p:nvSpPr>
        <p:spPr>
          <a:xfrm>
            <a:off x="640080" y="2103120"/>
            <a:ext cx="2286000" cy="1371600"/>
          </a:xfrm>
          <a:prstGeom prst="rect">
            <a:avLst/>
          </a:prstGeom>
          <a:noFill/>
          <a:ln/>
        </p:spPr>
        <p:txBody>
          <a:bodyPr wrap="square" lIns="0" tIns="0" rIns="0" bIns="0" rtlCol="0" anchor="t"/>
          <a:lstStyle/>
          <a:p>
            <a:pPr indent="0" marL="0">
              <a:buNone/>
            </a:pPr>
            <a:r>
              <a:rPr lang="en-US" sz="1250" dirty="0">
                <a:solidFill>
                  <a:srgbClr val="5F6F66"/>
                </a:solidFill>
                <a:latin typeface="Calibri" pitchFamily="34" charset="0"/>
                <a:ea typeface="Calibri" pitchFamily="34" charset="-122"/>
                <a:cs typeface="Calibri" pitchFamily="34" charset="-120"/>
              </a:rPr>
              <a:t>Claims and labels are LLM-generated and annotated. Revalidate before trusting absolute numbers on real ad copy.</a:t>
            </a:r>
            <a:endParaRPr lang="en-US" sz="1250" dirty="0"/>
          </a:p>
        </p:txBody>
      </p:sp>
      <p:sp>
        <p:nvSpPr>
          <p:cNvPr id="9" name="Shape 6"/>
          <p:cNvSpPr/>
          <p:nvPr/>
        </p:nvSpPr>
        <p:spPr>
          <a:xfrm>
            <a:off x="3264408" y="1143000"/>
            <a:ext cx="2615184" cy="2377440"/>
          </a:xfrm>
          <a:prstGeom prst="roundRect">
            <a:avLst>
              <a:gd name="adj" fmla="val 3077"/>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0" name="Shape 7"/>
          <p:cNvSpPr/>
          <p:nvPr/>
        </p:nvSpPr>
        <p:spPr>
          <a:xfrm>
            <a:off x="3447288" y="1325880"/>
            <a:ext cx="502920" cy="502920"/>
          </a:xfrm>
          <a:prstGeom prst="ellipse">
            <a:avLst/>
          </a:prstGeom>
          <a:solidFill>
            <a:srgbClr val="D2483F"/>
          </a:solidFill>
          <a:ln w="12700">
            <a:solidFill>
              <a:srgbClr val="D2483F"/>
            </a:solidFill>
            <a:prstDash val="solid"/>
          </a:ln>
        </p:spPr>
      </p:sp>
      <p:pic>
        <p:nvPicPr>
          <p:cNvPr id="11" name="Image 1" descr="preencoded.png">    </p:cNvPr>
          <p:cNvPicPr>
            <a:picLocks noChangeAspect="1"/>
          </p:cNvPicPr>
          <p:nvPr/>
        </p:nvPicPr>
        <p:blipFill>
          <a:blip r:embed="rId2"/>
          <a:stretch>
            <a:fillRect/>
          </a:stretch>
        </p:blipFill>
        <p:spPr>
          <a:xfrm>
            <a:off x="3573018" y="1451610"/>
            <a:ext cx="251460" cy="251460"/>
          </a:xfrm>
          <a:prstGeom prst="rect">
            <a:avLst/>
          </a:prstGeom>
        </p:spPr>
      </p:pic>
      <p:sp>
        <p:nvSpPr>
          <p:cNvPr id="12" name="Text 8"/>
          <p:cNvSpPr txBox="1"/>
          <p:nvPr/>
        </p:nvSpPr>
        <p:spPr>
          <a:xfrm>
            <a:off x="4041648" y="1325880"/>
            <a:ext cx="1737360" cy="182880"/>
          </a:xfrm>
          <a:prstGeom prst="rect">
            <a:avLst/>
          </a:prstGeom>
          <a:noFill/>
          <a:ln/>
        </p:spPr>
        <p:txBody>
          <a:bodyPr wrap="square" lIns="0" tIns="0" rIns="0" bIns="0" rtlCol="0" anchor="t"/>
          <a:lstStyle/>
          <a:p>
            <a:pPr indent="0" marL="0">
              <a:buNone/>
            </a:pPr>
            <a:r>
              <a:rPr lang="en-US" sz="850" b="1" spc="150" kern="0" dirty="0">
                <a:solidFill>
                  <a:srgbClr val="5F6F66"/>
                </a:solidFill>
                <a:latin typeface="Calibri" pitchFamily="34" charset="0"/>
                <a:ea typeface="Calibri" pitchFamily="34" charset="-122"/>
                <a:cs typeface="Calibri" pitchFamily="34" charset="-120"/>
              </a:rPr>
              <a:t>LIMITATION 2</a:t>
            </a:r>
            <a:endParaRPr lang="en-US" sz="850" dirty="0"/>
          </a:p>
        </p:txBody>
      </p:sp>
      <p:sp>
        <p:nvSpPr>
          <p:cNvPr id="13" name="Text 9"/>
          <p:cNvSpPr txBox="1"/>
          <p:nvPr/>
        </p:nvSpPr>
        <p:spPr>
          <a:xfrm>
            <a:off x="4041648" y="1508760"/>
            <a:ext cx="1783080" cy="365760"/>
          </a:xfrm>
          <a:prstGeom prst="rect">
            <a:avLst/>
          </a:prstGeom>
          <a:noFill/>
          <a:ln/>
        </p:spPr>
        <p:txBody>
          <a:bodyPr wrap="square" lIns="0" tIns="0" rIns="0" bIns="0" rtlCol="0" anchor="t"/>
          <a:lstStyle/>
          <a:p>
            <a:pPr indent="0" marL="0">
              <a:buNone/>
            </a:pPr>
            <a:r>
              <a:rPr lang="en-US" sz="1300" b="1" dirty="0">
                <a:solidFill>
                  <a:srgbClr val="0F3D26"/>
                </a:solidFill>
                <a:latin typeface="Cambria" pitchFamily="34" charset="0"/>
                <a:ea typeface="Cambria" pitchFamily="34" charset="-122"/>
                <a:cs typeface="Cambria" pitchFamily="34" charset="-120"/>
              </a:rPr>
              <a:t>Register bias</a:t>
            </a:r>
            <a:endParaRPr lang="en-US" sz="1300" dirty="0"/>
          </a:p>
        </p:txBody>
      </p:sp>
      <p:sp>
        <p:nvSpPr>
          <p:cNvPr id="14" name="Text 10"/>
          <p:cNvSpPr txBox="1"/>
          <p:nvPr/>
        </p:nvSpPr>
        <p:spPr>
          <a:xfrm>
            <a:off x="3447288" y="2103120"/>
            <a:ext cx="2286000" cy="1371600"/>
          </a:xfrm>
          <a:prstGeom prst="rect">
            <a:avLst/>
          </a:prstGeom>
          <a:noFill/>
          <a:ln/>
        </p:spPr>
        <p:txBody>
          <a:bodyPr wrap="square" lIns="0" tIns="0" rIns="0" bIns="0" rtlCol="0" anchor="t"/>
          <a:lstStyle/>
          <a:p>
            <a:pPr indent="0" marL="0">
              <a:buNone/>
            </a:pPr>
            <a:r>
              <a:rPr lang="en-US" sz="1250" dirty="0">
                <a:solidFill>
                  <a:srgbClr val="5F6F66"/>
                </a:solidFill>
                <a:latin typeface="Calibri" pitchFamily="34" charset="0"/>
                <a:ea typeface="Calibri" pitchFamily="34" charset="-122"/>
                <a:cs typeface="Calibri" pitchFamily="34" charset="-120"/>
              </a:rPr>
              <a:t>Underperforms on quoted, slogan-style language, which is exactly what real ads use.</a:t>
            </a:r>
            <a:endParaRPr lang="en-US" sz="1250" dirty="0"/>
          </a:p>
        </p:txBody>
      </p:sp>
      <p:sp>
        <p:nvSpPr>
          <p:cNvPr id="15" name="Shape 11"/>
          <p:cNvSpPr/>
          <p:nvPr/>
        </p:nvSpPr>
        <p:spPr>
          <a:xfrm>
            <a:off x="6071616" y="1143000"/>
            <a:ext cx="2615184" cy="2377440"/>
          </a:xfrm>
          <a:prstGeom prst="roundRect">
            <a:avLst>
              <a:gd name="adj" fmla="val 3077"/>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6" name="Shape 12"/>
          <p:cNvSpPr/>
          <p:nvPr/>
        </p:nvSpPr>
        <p:spPr>
          <a:xfrm>
            <a:off x="6254496" y="1325880"/>
            <a:ext cx="502920" cy="502920"/>
          </a:xfrm>
          <a:prstGeom prst="ellipse">
            <a:avLst/>
          </a:prstGeom>
          <a:solidFill>
            <a:srgbClr val="1F7A45"/>
          </a:solidFill>
          <a:ln w="12700">
            <a:solidFill>
              <a:srgbClr val="1F7A45"/>
            </a:solidFill>
            <a:prstDash val="solid"/>
          </a:ln>
        </p:spPr>
      </p:sp>
      <p:pic>
        <p:nvPicPr>
          <p:cNvPr id="17" name="Image 2" descr="preencoded.png">    </p:cNvPr>
          <p:cNvPicPr>
            <a:picLocks noChangeAspect="1"/>
          </p:cNvPicPr>
          <p:nvPr/>
        </p:nvPicPr>
        <p:blipFill>
          <a:blip r:embed="rId3"/>
          <a:stretch>
            <a:fillRect/>
          </a:stretch>
        </p:blipFill>
        <p:spPr>
          <a:xfrm>
            <a:off x="6380226" y="1451610"/>
            <a:ext cx="251460" cy="251460"/>
          </a:xfrm>
          <a:prstGeom prst="rect">
            <a:avLst/>
          </a:prstGeom>
        </p:spPr>
      </p:pic>
      <p:sp>
        <p:nvSpPr>
          <p:cNvPr id="18" name="Text 13"/>
          <p:cNvSpPr txBox="1"/>
          <p:nvPr/>
        </p:nvSpPr>
        <p:spPr>
          <a:xfrm>
            <a:off x="6848856" y="1325880"/>
            <a:ext cx="1737360" cy="182880"/>
          </a:xfrm>
          <a:prstGeom prst="rect">
            <a:avLst/>
          </a:prstGeom>
          <a:noFill/>
          <a:ln/>
        </p:spPr>
        <p:txBody>
          <a:bodyPr wrap="square" lIns="0" tIns="0" rIns="0" bIns="0" rtlCol="0" anchor="t"/>
          <a:lstStyle/>
          <a:p>
            <a:pPr indent="0" marL="0">
              <a:buNone/>
            </a:pPr>
            <a:r>
              <a:rPr lang="en-US" sz="850" b="1" spc="150" kern="0" dirty="0">
                <a:solidFill>
                  <a:srgbClr val="5F6F66"/>
                </a:solidFill>
                <a:latin typeface="Calibri" pitchFamily="34" charset="0"/>
                <a:ea typeface="Calibri" pitchFamily="34" charset="-122"/>
                <a:cs typeface="Calibri" pitchFamily="34" charset="-120"/>
              </a:rPr>
              <a:t>LIMITATION 3</a:t>
            </a:r>
            <a:endParaRPr lang="en-US" sz="850" dirty="0"/>
          </a:p>
        </p:txBody>
      </p:sp>
      <p:sp>
        <p:nvSpPr>
          <p:cNvPr id="19" name="Text 14"/>
          <p:cNvSpPr txBox="1"/>
          <p:nvPr/>
        </p:nvSpPr>
        <p:spPr>
          <a:xfrm>
            <a:off x="6848856" y="1508760"/>
            <a:ext cx="1783080" cy="365760"/>
          </a:xfrm>
          <a:prstGeom prst="rect">
            <a:avLst/>
          </a:prstGeom>
          <a:noFill/>
          <a:ln/>
        </p:spPr>
        <p:txBody>
          <a:bodyPr wrap="square" lIns="0" tIns="0" rIns="0" bIns="0" rtlCol="0" anchor="t"/>
          <a:lstStyle/>
          <a:p>
            <a:pPr indent="0" marL="0">
              <a:buNone/>
            </a:pPr>
            <a:r>
              <a:rPr lang="en-US" sz="1300" b="1" dirty="0">
                <a:solidFill>
                  <a:srgbClr val="0F3D26"/>
                </a:solidFill>
                <a:latin typeface="Cambria" pitchFamily="34" charset="0"/>
                <a:ea typeface="Cambria" pitchFamily="34" charset="-122"/>
                <a:cs typeface="Cambria" pitchFamily="34" charset="-120"/>
              </a:rPr>
              <a:t>Not a legal finding</a:t>
            </a:r>
            <a:endParaRPr lang="en-US" sz="1300" dirty="0"/>
          </a:p>
        </p:txBody>
      </p:sp>
      <p:sp>
        <p:nvSpPr>
          <p:cNvPr id="20" name="Text 15"/>
          <p:cNvSpPr txBox="1"/>
          <p:nvPr/>
        </p:nvSpPr>
        <p:spPr>
          <a:xfrm>
            <a:off x="6254496" y="2103120"/>
            <a:ext cx="2286000" cy="1371600"/>
          </a:xfrm>
          <a:prstGeom prst="rect">
            <a:avLst/>
          </a:prstGeom>
          <a:noFill/>
          <a:ln/>
        </p:spPr>
        <p:txBody>
          <a:bodyPr wrap="square" lIns="0" tIns="0" rIns="0" bIns="0" rtlCol="0" anchor="t"/>
          <a:lstStyle/>
          <a:p>
            <a:pPr indent="0" marL="0">
              <a:buNone/>
            </a:pPr>
            <a:r>
              <a:rPr lang="en-US" sz="1250" dirty="0">
                <a:solidFill>
                  <a:srgbClr val="5F6F66"/>
                </a:solidFill>
                <a:latin typeface="Calibri" pitchFamily="34" charset="0"/>
                <a:ea typeface="Calibri" pitchFamily="34" charset="-122"/>
                <a:cs typeface="Calibri" pitchFamily="34" charset="-120"/>
              </a:rPr>
              <a:t>"Flagged" means a claim resembles greenwashing patterns in the data, not proof of lying.</a:t>
            </a:r>
            <a:endParaRPr lang="en-US" sz="1250" dirty="0"/>
          </a:p>
        </p:txBody>
      </p:sp>
      <p:sp>
        <p:nvSpPr>
          <p:cNvPr id="21" name="Shape 16"/>
          <p:cNvSpPr/>
          <p:nvPr/>
        </p:nvSpPr>
        <p:spPr>
          <a:xfrm>
            <a:off x="457200" y="3703320"/>
            <a:ext cx="8229600" cy="960120"/>
          </a:xfrm>
          <a:prstGeom prst="roundRect">
            <a:avLst>
              <a:gd name="adj" fmla="val 7619"/>
            </a:avLst>
          </a:prstGeom>
          <a:solidFill>
            <a:srgbClr val="0F3D26"/>
          </a:solidFill>
          <a:ln w="12700">
            <a:solidFill>
              <a:srgbClr val="0F3D26"/>
            </a:solidFill>
            <a:prstDash val="solid"/>
          </a:ln>
        </p:spPr>
      </p:sp>
      <p:sp>
        <p:nvSpPr>
          <p:cNvPr id="22" name="Shape 17"/>
          <p:cNvSpPr/>
          <p:nvPr/>
        </p:nvSpPr>
        <p:spPr>
          <a:xfrm>
            <a:off x="640080" y="3931920"/>
            <a:ext cx="502920" cy="502920"/>
          </a:xfrm>
          <a:prstGeom prst="ellipse">
            <a:avLst/>
          </a:prstGeom>
          <a:solidFill>
            <a:srgbClr val="F0A21A"/>
          </a:solidFill>
          <a:ln w="12700">
            <a:solidFill>
              <a:srgbClr val="F0A21A"/>
            </a:solidFill>
            <a:prstDash val="solid"/>
          </a:ln>
        </p:spPr>
      </p:sp>
      <p:pic>
        <p:nvPicPr>
          <p:cNvPr id="23" name="Image 3" descr="preencoded.png">    </p:cNvPr>
          <p:cNvPicPr>
            <a:picLocks noChangeAspect="1"/>
          </p:cNvPicPr>
          <p:nvPr/>
        </p:nvPicPr>
        <p:blipFill>
          <a:blip r:embed="rId4"/>
          <a:stretch>
            <a:fillRect/>
          </a:stretch>
        </p:blipFill>
        <p:spPr>
          <a:xfrm>
            <a:off x="765810" y="4057650"/>
            <a:ext cx="251460" cy="251460"/>
          </a:xfrm>
          <a:prstGeom prst="rect">
            <a:avLst/>
          </a:prstGeom>
        </p:spPr>
      </p:pic>
      <p:sp>
        <p:nvSpPr>
          <p:cNvPr id="24" name="Text 18"/>
          <p:cNvSpPr txBox="1"/>
          <p:nvPr/>
        </p:nvSpPr>
        <p:spPr>
          <a:xfrm>
            <a:off x="1325880" y="3703320"/>
            <a:ext cx="7132320" cy="960120"/>
          </a:xfrm>
          <a:prstGeom prst="rect">
            <a:avLst/>
          </a:prstGeom>
          <a:noFill/>
          <a:ln/>
        </p:spPr>
        <p:txBody>
          <a:bodyPr wrap="square" lIns="0" tIns="0" rIns="0" bIns="0" rtlCol="0" anchor="ctr"/>
          <a:lstStyle/>
          <a:p>
            <a:pPr indent="0" marL="0">
              <a:buNone/>
            </a:pPr>
            <a:r>
              <a:rPr lang="en-US" sz="1200" b="1" dirty="0">
                <a:solidFill>
                  <a:srgbClr val="F0A21A"/>
                </a:solidFill>
                <a:latin typeface="Calibri" pitchFamily="34" charset="0"/>
                <a:ea typeface="Calibri" pitchFamily="34" charset="-122"/>
                <a:cs typeface="Calibri" pitchFamily="34" charset="-120"/>
              </a:rPr>
              <a:t>Intended use: </a:t>
            </a:r>
            <a:pPr indent="0" marL="0">
              <a:buNone/>
            </a:pPr>
            <a:r>
              <a:rPr lang="en-US" sz="1200" dirty="0">
                <a:solidFill>
                  <a:srgbClr val="FFFFFF"/>
                </a:solidFill>
                <a:latin typeface="Calibri" pitchFamily="34" charset="0"/>
                <a:ea typeface="Calibri" pitchFamily="34" charset="-122"/>
                <a:cs typeface="Calibri" pitchFamily="34" charset="-120"/>
              </a:rPr>
              <a:t>a screening tool that routes flagged claims to human review, never automated enforcement. Recall is under 60%, so some greenwashing will be missed.</a:t>
            </a:r>
            <a:endParaRPr lang="en-US" sz="12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algn="l" indent="0" marL="0">
              <a:buNone/>
            </a:pPr>
            <a:r>
              <a:rPr lang="en-US" sz="2600" b="1" dirty="0">
                <a:solidFill>
                  <a:srgbClr val="0F3D26"/>
                </a:solidFill>
                <a:latin typeface="Cambria" pitchFamily="34" charset="0"/>
                <a:ea typeface="Cambria" pitchFamily="34" charset="-122"/>
                <a:cs typeface="Cambria" pitchFamily="34" charset="-120"/>
              </a:rPr>
              <a:t>Key Takeaways &amp; Next Steps</a:t>
            </a:r>
            <a:endParaRPr lang="en-US" sz="2600" dirty="0"/>
          </a:p>
        </p:txBody>
      </p:sp>
      <p:sp>
        <p:nvSpPr>
          <p:cNvPr id="3" name="Shape 1"/>
          <p:cNvSpPr/>
          <p:nvPr/>
        </p:nvSpPr>
        <p:spPr>
          <a:xfrm>
            <a:off x="457200" y="1143000"/>
            <a:ext cx="4754880" cy="987552"/>
          </a:xfrm>
          <a:prstGeom prst="roundRect">
            <a:avLst>
              <a:gd name="adj" fmla="val 7407"/>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640080" y="1417320"/>
            <a:ext cx="438912" cy="438912"/>
          </a:xfrm>
          <a:prstGeom prst="ellipse">
            <a:avLst/>
          </a:prstGeom>
          <a:solidFill>
            <a:srgbClr val="1F7A45"/>
          </a:solidFill>
          <a:ln w="12700">
            <a:solidFill>
              <a:srgbClr val="1F7A45"/>
            </a:solidFill>
            <a:prstDash val="solid"/>
          </a:ln>
        </p:spPr>
      </p:sp>
      <p:sp>
        <p:nvSpPr>
          <p:cNvPr id="5" name="Text 3"/>
          <p:cNvSpPr txBox="1"/>
          <p:nvPr/>
        </p:nvSpPr>
        <p:spPr>
          <a:xfrm>
            <a:off x="640080" y="14173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80160" y="1252728"/>
            <a:ext cx="3749040" cy="274320"/>
          </a:xfrm>
          <a:prstGeom prst="rect">
            <a:avLst/>
          </a:prstGeom>
          <a:noFill/>
          <a:ln/>
        </p:spPr>
        <p:txBody>
          <a:bodyPr wrap="square" lIns="0" tIns="0" rIns="0" bIns="0" rtlCol="0" anchor="t"/>
          <a:lstStyle/>
          <a:p>
            <a:pPr indent="0" marL="0">
              <a:buNone/>
            </a:pPr>
            <a:r>
              <a:rPr lang="en-US" sz="1300" b="1" dirty="0">
                <a:solidFill>
                  <a:srgbClr val="0F3D26"/>
                </a:solidFill>
                <a:latin typeface="Calibri" pitchFamily="34" charset="0"/>
                <a:ea typeface="Calibri" pitchFamily="34" charset="-122"/>
                <a:cs typeface="Calibri" pitchFamily="34" charset="-120"/>
              </a:rPr>
              <a:t>Explainability builds trust</a:t>
            </a:r>
            <a:endParaRPr lang="en-US" sz="1300" dirty="0"/>
          </a:p>
        </p:txBody>
      </p:sp>
      <p:sp>
        <p:nvSpPr>
          <p:cNvPr id="7" name="Text 5"/>
          <p:cNvSpPr txBox="1"/>
          <p:nvPr/>
        </p:nvSpPr>
        <p:spPr>
          <a:xfrm>
            <a:off x="1280160" y="1554480"/>
            <a:ext cx="3840480" cy="530352"/>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Users can see why a claim was flagged: reasons, highlighted terms, confidence.</a:t>
            </a:r>
            <a:endParaRPr lang="en-US" sz="1050" dirty="0"/>
          </a:p>
        </p:txBody>
      </p:sp>
      <p:sp>
        <p:nvSpPr>
          <p:cNvPr id="8" name="Shape 6"/>
          <p:cNvSpPr/>
          <p:nvPr/>
        </p:nvSpPr>
        <p:spPr>
          <a:xfrm>
            <a:off x="457200" y="2240280"/>
            <a:ext cx="4754880" cy="987552"/>
          </a:xfrm>
          <a:prstGeom prst="roundRect">
            <a:avLst>
              <a:gd name="adj" fmla="val 7407"/>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9" name="Shape 7"/>
          <p:cNvSpPr/>
          <p:nvPr/>
        </p:nvSpPr>
        <p:spPr>
          <a:xfrm>
            <a:off x="640080" y="2514600"/>
            <a:ext cx="438912" cy="438912"/>
          </a:xfrm>
          <a:prstGeom prst="ellipse">
            <a:avLst/>
          </a:prstGeom>
          <a:solidFill>
            <a:srgbClr val="1F7A45"/>
          </a:solidFill>
          <a:ln w="12700">
            <a:solidFill>
              <a:srgbClr val="1F7A45"/>
            </a:solidFill>
            <a:prstDash val="solid"/>
          </a:ln>
        </p:spPr>
      </p:sp>
      <p:sp>
        <p:nvSpPr>
          <p:cNvPr id="10" name="Text 8"/>
          <p:cNvSpPr txBox="1"/>
          <p:nvPr/>
        </p:nvSpPr>
        <p:spPr>
          <a:xfrm>
            <a:off x="640080" y="2514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280160" y="2350008"/>
            <a:ext cx="3749040" cy="274320"/>
          </a:xfrm>
          <a:prstGeom prst="rect">
            <a:avLst/>
          </a:prstGeom>
          <a:noFill/>
          <a:ln/>
        </p:spPr>
        <p:txBody>
          <a:bodyPr wrap="square" lIns="0" tIns="0" rIns="0" bIns="0" rtlCol="0" anchor="t"/>
          <a:lstStyle/>
          <a:p>
            <a:pPr indent="0" marL="0">
              <a:buNone/>
            </a:pPr>
            <a:r>
              <a:rPr lang="en-US" sz="1300" b="1" dirty="0">
                <a:solidFill>
                  <a:srgbClr val="0F3D26"/>
                </a:solidFill>
                <a:latin typeface="Calibri" pitchFamily="34" charset="0"/>
                <a:ea typeface="Calibri" pitchFamily="34" charset="-122"/>
                <a:cs typeface="Calibri" pitchFamily="34" charset="-120"/>
              </a:rPr>
              <a:t>Simple models are competitive</a:t>
            </a:r>
            <a:endParaRPr lang="en-US" sz="1300" dirty="0"/>
          </a:p>
        </p:txBody>
      </p:sp>
      <p:sp>
        <p:nvSpPr>
          <p:cNvPr id="12" name="Text 10"/>
          <p:cNvSpPr txBox="1"/>
          <p:nvPr/>
        </p:nvSpPr>
        <p:spPr>
          <a:xfrm>
            <a:off x="1280160" y="2651760"/>
            <a:ext cx="3840480" cy="530352"/>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A transparent lexicon reached 69.4% accuracy with no training; ML improved it to 74.2%.</a:t>
            </a:r>
            <a:endParaRPr lang="en-US" sz="1050" dirty="0"/>
          </a:p>
        </p:txBody>
      </p:sp>
      <p:sp>
        <p:nvSpPr>
          <p:cNvPr id="13" name="Shape 11"/>
          <p:cNvSpPr/>
          <p:nvPr/>
        </p:nvSpPr>
        <p:spPr>
          <a:xfrm>
            <a:off x="457200" y="3337560"/>
            <a:ext cx="4754880" cy="987552"/>
          </a:xfrm>
          <a:prstGeom prst="roundRect">
            <a:avLst>
              <a:gd name="adj" fmla="val 7407"/>
            </a:avLst>
          </a:prstGeom>
          <a:solidFill>
            <a:srgbClr val="FFFFFF"/>
          </a:solidFill>
          <a:ln w="9525">
            <a:solidFill>
              <a:srgbClr val="D9E3DB"/>
            </a:solidFill>
            <a:prstDash val="solid"/>
          </a:ln>
          <a:effectLst>
            <a:outerShdw sx="100000" sy="100000" kx="0" ky="0" algn="bl" rotWithShape="0" blurRad="101600" dist="25400" dir="5400000">
              <a:srgbClr val="000000">
                <a:alpha val="12000"/>
              </a:srgbClr>
            </a:outerShdw>
          </a:effectLst>
        </p:spPr>
      </p:sp>
      <p:sp>
        <p:nvSpPr>
          <p:cNvPr id="14" name="Shape 12"/>
          <p:cNvSpPr/>
          <p:nvPr/>
        </p:nvSpPr>
        <p:spPr>
          <a:xfrm>
            <a:off x="640080" y="3611880"/>
            <a:ext cx="438912" cy="438912"/>
          </a:xfrm>
          <a:prstGeom prst="ellipse">
            <a:avLst/>
          </a:prstGeom>
          <a:solidFill>
            <a:srgbClr val="1F7A45"/>
          </a:solidFill>
          <a:ln w="12700">
            <a:solidFill>
              <a:srgbClr val="1F7A45"/>
            </a:solidFill>
            <a:prstDash val="solid"/>
          </a:ln>
        </p:spPr>
      </p:sp>
      <p:sp>
        <p:nvSpPr>
          <p:cNvPr id="15" name="Text 13"/>
          <p:cNvSpPr txBox="1"/>
          <p:nvPr/>
        </p:nvSpPr>
        <p:spPr>
          <a:xfrm>
            <a:off x="640080" y="36118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280160" y="3447288"/>
            <a:ext cx="3749040" cy="274320"/>
          </a:xfrm>
          <a:prstGeom prst="rect">
            <a:avLst/>
          </a:prstGeom>
          <a:noFill/>
          <a:ln/>
        </p:spPr>
        <p:txBody>
          <a:bodyPr wrap="square" lIns="0" tIns="0" rIns="0" bIns="0" rtlCol="0" anchor="t"/>
          <a:lstStyle/>
          <a:p>
            <a:pPr indent="0" marL="0">
              <a:buNone/>
            </a:pPr>
            <a:r>
              <a:rPr lang="en-US" sz="1300" b="1" dirty="0">
                <a:solidFill>
                  <a:srgbClr val="0F3D26"/>
                </a:solidFill>
                <a:latin typeface="Calibri" pitchFamily="34" charset="0"/>
                <a:ea typeface="Calibri" pitchFamily="34" charset="-122"/>
                <a:cs typeface="Calibri" pitchFamily="34" charset="-120"/>
              </a:rPr>
              <a:t>Auditing the model matters</a:t>
            </a:r>
            <a:endParaRPr lang="en-US" sz="1300" dirty="0"/>
          </a:p>
        </p:txBody>
      </p:sp>
      <p:sp>
        <p:nvSpPr>
          <p:cNvPr id="17" name="Text 15"/>
          <p:cNvSpPr txBox="1"/>
          <p:nvPr/>
        </p:nvSpPr>
        <p:spPr>
          <a:xfrm>
            <a:off x="1280160" y="3749040"/>
            <a:ext cx="3840480" cy="530352"/>
          </a:xfrm>
          <a:prstGeom prst="rect">
            <a:avLst/>
          </a:prstGeom>
          <a:noFill/>
          <a:ln/>
        </p:spPr>
        <p:txBody>
          <a:bodyPr wrap="square" lIns="0" tIns="0" rIns="0" bIns="0" rtlCol="0" anchor="t"/>
          <a:lstStyle/>
          <a:p>
            <a:pPr indent="0" marL="0">
              <a:buNone/>
            </a:pPr>
            <a:r>
              <a:rPr lang="en-US" sz="1050" dirty="0">
                <a:solidFill>
                  <a:srgbClr val="5F6F66"/>
                </a:solidFill>
                <a:latin typeface="Calibri" pitchFamily="34" charset="0"/>
                <a:ea typeface="Calibri" pitchFamily="34" charset="-122"/>
                <a:cs typeface="Calibri" pitchFamily="34" charset="-120"/>
              </a:rPr>
              <a:t>The slogan gap (58.1% vs 71.7%) was only visible because we checked subgroups.</a:t>
            </a:r>
            <a:endParaRPr lang="en-US" sz="1050" dirty="0"/>
          </a:p>
        </p:txBody>
      </p:sp>
      <p:sp>
        <p:nvSpPr>
          <p:cNvPr id="18" name="Shape 16"/>
          <p:cNvSpPr/>
          <p:nvPr/>
        </p:nvSpPr>
        <p:spPr>
          <a:xfrm>
            <a:off x="5440680" y="1143000"/>
            <a:ext cx="3246120" cy="3182112"/>
          </a:xfrm>
          <a:prstGeom prst="roundRect">
            <a:avLst>
              <a:gd name="adj" fmla="val 2299"/>
            </a:avLst>
          </a:prstGeom>
          <a:solidFill>
            <a:srgbClr val="0F3D26"/>
          </a:solidFill>
          <a:ln w="9525">
            <a:solidFill>
              <a:srgbClr val="0F3D26"/>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5623560" y="1280160"/>
            <a:ext cx="2834640" cy="228600"/>
          </a:xfrm>
          <a:prstGeom prst="rect">
            <a:avLst/>
          </a:prstGeom>
          <a:noFill/>
          <a:ln/>
        </p:spPr>
        <p:txBody>
          <a:bodyPr wrap="square" lIns="0" tIns="0" rIns="0" bIns="0" rtlCol="0" anchor="t"/>
          <a:lstStyle/>
          <a:p>
            <a:pPr indent="0" marL="0">
              <a:buNone/>
            </a:pPr>
            <a:r>
              <a:rPr lang="en-US" sz="950" b="1" spc="200" kern="0" dirty="0">
                <a:solidFill>
                  <a:srgbClr val="F0A21A"/>
                </a:solidFill>
                <a:latin typeface="Calibri" pitchFamily="34" charset="0"/>
                <a:ea typeface="Calibri" pitchFamily="34" charset="-122"/>
                <a:cs typeface="Calibri" pitchFamily="34" charset="-120"/>
              </a:rPr>
              <a:t>NEXT STEPS</a:t>
            </a:r>
            <a:endParaRPr lang="en-US" sz="950" dirty="0"/>
          </a:p>
        </p:txBody>
      </p:sp>
      <p:sp>
        <p:nvSpPr>
          <p:cNvPr id="20" name="Text 18"/>
          <p:cNvSpPr txBox="1"/>
          <p:nvPr/>
        </p:nvSpPr>
        <p:spPr>
          <a:xfrm>
            <a:off x="5623560" y="1691640"/>
            <a:ext cx="2926080" cy="2560320"/>
          </a:xfrm>
          <a:prstGeom prst="rect">
            <a:avLst/>
          </a:prstGeom>
          <a:noFill/>
          <a:ln/>
        </p:spPr>
        <p:txBody>
          <a:bodyPr wrap="square" lIns="0" tIns="0" rIns="0" bIns="0" rtlCol="0" anchor="t"/>
          <a:lstStyle/>
          <a:p>
            <a:pPr marL="342900" indent="-342900">
              <a:spcAft>
                <a:spcPts val="1600"/>
              </a:spcAft>
              <a:buSzPct val="100000"/>
              <a:buChar char="•"/>
            </a:pPr>
            <a:r>
              <a:rPr lang="en-US" sz="1300" dirty="0">
                <a:solidFill>
                  <a:srgbClr val="CFE6D6"/>
                </a:solidFill>
                <a:latin typeface="Calibri" pitchFamily="34" charset="0"/>
                <a:ea typeface="Calibri" pitchFamily="34" charset="-122"/>
                <a:cs typeface="Calibri" pitchFamily="34" charset="-120"/>
              </a:rPr>
              <a:t>Test on real, scraped ad copy</a:t>
            </a:r>
            <a:endParaRPr lang="en-US" sz="1300" dirty="0"/>
          </a:p>
          <a:p>
            <a:pPr marL="342900" indent="-342900">
              <a:spcAft>
                <a:spcPts val="1600"/>
              </a:spcAft>
              <a:buSzPct val="100000"/>
              <a:buChar char="•"/>
            </a:pPr>
            <a:r>
              <a:rPr lang="en-US" sz="1300" dirty="0">
                <a:solidFill>
                  <a:srgbClr val="CFE6D6"/>
                </a:solidFill>
                <a:latin typeface="Calibri" pitchFamily="34" charset="0"/>
                <a:ea typeface="Calibri" pitchFamily="34" charset="-122"/>
                <a:cs typeface="Calibri" pitchFamily="34" charset="-120"/>
              </a:rPr>
              <a:t>Add more slogan-style training claims to close the register gap</a:t>
            </a:r>
            <a:endParaRPr lang="en-US" sz="1300" dirty="0"/>
          </a:p>
          <a:p>
            <a:pPr marL="342900" indent="-342900">
              <a:spcAft>
                <a:spcPts val="1600"/>
              </a:spcAft>
              <a:buSzPct val="100000"/>
              <a:buChar char="•"/>
            </a:pPr>
            <a:r>
              <a:rPr lang="en-US" sz="1300" dirty="0">
                <a:solidFill>
                  <a:srgbClr val="CFE6D6"/>
                </a:solidFill>
                <a:latin typeface="Calibri" pitchFamily="34" charset="0"/>
                <a:ea typeface="Calibri" pitchFamily="34" charset="-122"/>
                <a:cs typeface="Calibri" pitchFamily="34" charset="-120"/>
              </a:rPr>
              <a:t>Score long claims clause by clause</a:t>
            </a:r>
            <a:endParaRPr lang="en-US" sz="1300" dirty="0"/>
          </a:p>
          <a:p>
            <a:pPr marL="342900" indent="-342900">
              <a:spcAft>
                <a:spcPts val="1600"/>
              </a:spcAft>
              <a:buSzPct val="100000"/>
              <a:buChar char="•"/>
            </a:pPr>
            <a:r>
              <a:rPr lang="en-US" sz="1300" dirty="0">
                <a:solidFill>
                  <a:srgbClr val="CFE6D6"/>
                </a:solidFill>
                <a:latin typeface="Calibri" pitchFamily="34" charset="0"/>
                <a:ea typeface="Calibri" pitchFamily="34" charset="-122"/>
                <a:cs typeface="Calibri" pitchFamily="34" charset="-120"/>
              </a:rPr>
              <a:t>Link claims to external evidence such as certifications and ESG reports</a:t>
            </a:r>
            <a:endParaRPr lang="en-US" sz="1300" dirty="0"/>
          </a:p>
        </p:txBody>
      </p:sp>
      <p:sp>
        <p:nvSpPr>
          <p:cNvPr id="21" name="Shape 19"/>
          <p:cNvSpPr/>
          <p:nvPr/>
        </p:nvSpPr>
        <p:spPr>
          <a:xfrm>
            <a:off x="457200" y="4480560"/>
            <a:ext cx="8229600" cy="274320"/>
          </a:xfrm>
          <a:prstGeom prst="roundRect">
            <a:avLst>
              <a:gd name="adj" fmla="val 20000"/>
            </a:avLst>
          </a:prstGeom>
          <a:solidFill>
            <a:srgbClr val="E8F3EA"/>
          </a:solidFill>
          <a:ln w="6350">
            <a:solidFill>
              <a:srgbClr val="3FAE6A"/>
            </a:solidFill>
            <a:prstDash val="solid"/>
          </a:ln>
        </p:spPr>
      </p:sp>
      <p:sp>
        <p:nvSpPr>
          <p:cNvPr id="22" name="Text 20"/>
          <p:cNvSpPr txBox="1"/>
          <p:nvPr/>
        </p:nvSpPr>
        <p:spPr>
          <a:xfrm>
            <a:off x="457200" y="4480560"/>
            <a:ext cx="8229600" cy="274320"/>
          </a:xfrm>
          <a:prstGeom prst="rect">
            <a:avLst/>
          </a:prstGeom>
          <a:noFill/>
          <a:ln/>
        </p:spPr>
        <p:txBody>
          <a:bodyPr wrap="square" lIns="0" tIns="0" rIns="0" bIns="0" rtlCol="0" anchor="ctr"/>
          <a:lstStyle/>
          <a:p>
            <a:pPr algn="ctr" indent="0" marL="0">
              <a:buNone/>
            </a:pPr>
            <a:r>
              <a:rPr lang="en-US" sz="1050" b="1" dirty="0">
                <a:solidFill>
                  <a:srgbClr val="1F7A45"/>
                </a:solidFill>
                <a:latin typeface="Calibri" pitchFamily="34" charset="0"/>
                <a:ea typeface="Calibri" pitchFamily="34" charset="-122"/>
                <a:cs typeface="Calibri" pitchFamily="34" charset="-120"/>
              </a:rPr>
              <a:t>GreenLens combines AI, NLP and explainability to make environmental ad claims easier to examine and question.</a:t>
            </a:r>
            <a:endParaRPr lang="en-US" sz="105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5F6F6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035040" y="640080"/>
            <a:ext cx="2651760" cy="2651760"/>
          </a:xfrm>
          <a:prstGeom prst="ellipse">
            <a:avLst/>
          </a:prstGeom>
          <a:solidFill>
            <a:srgbClr val="14502F"/>
          </a:solidFill>
          <a:ln w="19050">
            <a:solidFill>
              <a:srgbClr val="1F7A45"/>
            </a:solidFill>
            <a:prstDash val="solid"/>
          </a:ln>
        </p:spPr>
      </p:sp>
      <p:sp>
        <p:nvSpPr>
          <p:cNvPr id="3" name="Shape 1"/>
          <p:cNvSpPr/>
          <p:nvPr/>
        </p:nvSpPr>
        <p:spPr>
          <a:xfrm>
            <a:off x="6537960" y="1143000"/>
            <a:ext cx="1645920" cy="1645920"/>
          </a:xfrm>
          <a:prstGeom prst="ellipse">
            <a:avLst/>
          </a:prstGeom>
          <a:solidFill>
            <a:srgbClr val="F7F4EC"/>
          </a:solidFill>
          <a:ln w="12700">
            <a:solidFill>
              <a:srgbClr val="F7F4EC"/>
            </a:solidFill>
            <a:prstDash val="solid"/>
          </a:ln>
        </p:spPr>
      </p:sp>
      <p:pic>
        <p:nvPicPr>
          <p:cNvPr id="4" name="Image 0" descr="preencoded.png">    </p:cNvPr>
          <p:cNvPicPr>
            <a:picLocks noChangeAspect="1"/>
          </p:cNvPicPr>
          <p:nvPr/>
        </p:nvPicPr>
        <p:blipFill>
          <a:blip r:embed="rId1"/>
          <a:stretch>
            <a:fillRect/>
          </a:stretch>
        </p:blipFill>
        <p:spPr>
          <a:xfrm>
            <a:off x="7040880" y="1645920"/>
            <a:ext cx="640080" cy="640080"/>
          </a:xfrm>
          <a:prstGeom prst="rect">
            <a:avLst/>
          </a:prstGeom>
        </p:spPr>
      </p:pic>
      <p:sp>
        <p:nvSpPr>
          <p:cNvPr id="5" name="Text 2"/>
          <p:cNvSpPr txBox="1"/>
          <p:nvPr/>
        </p:nvSpPr>
        <p:spPr>
          <a:xfrm>
            <a:off x="548640" y="914400"/>
            <a:ext cx="5029200" cy="8229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6" name="Text 3"/>
          <p:cNvSpPr txBox="1"/>
          <p:nvPr/>
        </p:nvSpPr>
        <p:spPr>
          <a:xfrm>
            <a:off x="548640" y="1737360"/>
            <a:ext cx="5029200" cy="457200"/>
          </a:xfrm>
          <a:prstGeom prst="rect">
            <a:avLst/>
          </a:prstGeom>
          <a:noFill/>
          <a:ln/>
        </p:spPr>
        <p:txBody>
          <a:bodyPr wrap="square" lIns="0" tIns="0" rIns="0" bIns="0" rtlCol="0" anchor="t"/>
          <a:lstStyle/>
          <a:p>
            <a:pPr indent="0" marL="0">
              <a:buNone/>
            </a:pPr>
            <a:r>
              <a:rPr lang="en-US" sz="2200" dirty="0">
                <a:solidFill>
                  <a:srgbClr val="F0A21A"/>
                </a:solidFill>
                <a:latin typeface="Cambria" pitchFamily="34" charset="0"/>
                <a:ea typeface="Cambria" pitchFamily="34" charset="-122"/>
                <a:cs typeface="Cambria" pitchFamily="34" charset="-120"/>
              </a:rPr>
              <a:t>Questions?</a:t>
            </a:r>
            <a:endParaRPr lang="en-US" sz="2200" dirty="0"/>
          </a:p>
        </p:txBody>
      </p:sp>
      <p:sp>
        <p:nvSpPr>
          <p:cNvPr id="7" name="Shape 4"/>
          <p:cNvSpPr/>
          <p:nvPr/>
        </p:nvSpPr>
        <p:spPr>
          <a:xfrm>
            <a:off x="548640" y="2514600"/>
            <a:ext cx="4754880" cy="0"/>
          </a:xfrm>
          <a:prstGeom prst="line">
            <a:avLst/>
          </a:prstGeom>
          <a:noFill/>
          <a:ln w="12700">
            <a:solidFill>
              <a:srgbClr val="2E6B49"/>
            </a:solidFill>
            <a:prstDash val="solid"/>
          </a:ln>
        </p:spPr>
      </p:sp>
      <p:sp>
        <p:nvSpPr>
          <p:cNvPr id="8" name="Text 5"/>
          <p:cNvSpPr txBox="1"/>
          <p:nvPr/>
        </p:nvSpPr>
        <p:spPr>
          <a:xfrm>
            <a:off x="548640" y="2697480"/>
            <a:ext cx="5120640" cy="1005840"/>
          </a:xfrm>
          <a:prstGeom prst="rect">
            <a:avLst/>
          </a:prstGeom>
          <a:noFill/>
          <a:ln/>
        </p:spPr>
        <p:txBody>
          <a:bodyPr wrap="square" lIns="0" tIns="0" rIns="0" bIns="0" rtlCol="0" anchor="t"/>
          <a:lstStyle/>
          <a:p>
            <a:pPr indent="0" marL="0">
              <a:spcAft>
                <a:spcPts val="600"/>
              </a:spcAft>
              <a:buNone/>
            </a:pPr>
            <a:r>
              <a:rPr lang="en-US" sz="1200" b="1" dirty="0">
                <a:solidFill>
                  <a:srgbClr val="CFE6D6"/>
                </a:solidFill>
                <a:latin typeface="Calibri" pitchFamily="34" charset="0"/>
                <a:ea typeface="Calibri" pitchFamily="34" charset="-122"/>
                <a:cs typeface="Calibri" pitchFamily="34" charset="-120"/>
              </a:rPr>
              <a:t>Data: </a:t>
            </a:r>
            <a:pPr indent="0" marL="0">
              <a:spcAft>
                <a:spcPts val="600"/>
              </a:spcAft>
              <a:buNone/>
            </a:pPr>
            <a:r>
              <a:rPr lang="en-US" sz="1200" dirty="0">
                <a:solidFill>
                  <a:srgbClr val="9FC4AD"/>
                </a:solidFill>
                <a:latin typeface="Calibri" pitchFamily="34" charset="0"/>
                <a:ea typeface="Calibri" pitchFamily="34" charset="-122"/>
                <a:cs typeface="Calibri" pitchFamily="34" charset="-120"/>
              </a:rPr>
              <a:t>EmeraldData (geoka/EmeraldData), CC-BY-4.0</a:t>
            </a:r>
            <a:endParaRPr lang="en-US" sz="1200" dirty="0"/>
          </a:p>
          <a:p>
            <a:pPr indent="0" marL="0">
              <a:spcAft>
                <a:spcPts val="600"/>
              </a:spcAft>
              <a:buNone/>
            </a:pPr>
            <a:r>
              <a:rPr lang="en-US" sz="1200" b="1" dirty="0">
                <a:solidFill>
                  <a:srgbClr val="CFE6D6"/>
                </a:solidFill>
                <a:latin typeface="Calibri" pitchFamily="34" charset="0"/>
                <a:ea typeface="Calibri" pitchFamily="34" charset="-122"/>
                <a:cs typeface="Calibri" pitchFamily="34" charset="-120"/>
              </a:rPr>
              <a:t>Tools: </a:t>
            </a:r>
            <a:pPr indent="0" marL="0">
              <a:spcAft>
                <a:spcPts val="600"/>
              </a:spcAft>
              <a:buNone/>
            </a:pPr>
            <a:r>
              <a:rPr lang="en-US" sz="1200" dirty="0">
                <a:solidFill>
                  <a:srgbClr val="9FC4AD"/>
                </a:solidFill>
                <a:latin typeface="Calibri" pitchFamily="34" charset="0"/>
                <a:ea typeface="Calibri" pitchFamily="34" charset="-122"/>
                <a:cs typeface="Calibri" pitchFamily="34" charset="-120"/>
              </a:rPr>
              <a:t>Python, scikit-learn, pandas, Google Colab</a:t>
            </a:r>
            <a:endParaRPr lang="en-US" sz="1200" dirty="0"/>
          </a:p>
          <a:p>
            <a:pPr indent="0" marL="0">
              <a:spcAft>
                <a:spcPts val="600"/>
              </a:spcAft>
              <a:buNone/>
            </a:pPr>
            <a:r>
              <a:rPr lang="en-US" sz="1200" b="1" dirty="0">
                <a:solidFill>
                  <a:srgbClr val="CFE6D6"/>
                </a:solidFill>
                <a:latin typeface="Calibri" pitchFamily="34" charset="0"/>
                <a:ea typeface="Calibri" pitchFamily="34" charset="-122"/>
                <a:cs typeface="Calibri" pitchFamily="34" charset="-120"/>
              </a:rPr>
              <a:t>Team: </a:t>
            </a:r>
            <a:pPr indent="0" marL="0">
              <a:spcAft>
                <a:spcPts val="600"/>
              </a:spcAft>
              <a:buNone/>
            </a:pPr>
            <a:r>
              <a:rPr lang="en-US" sz="1200" dirty="0">
                <a:solidFill>
                  <a:srgbClr val="9FC4AD"/>
                </a:solidFill>
                <a:latin typeface="Calibri" pitchFamily="34" charset="0"/>
                <a:ea typeface="Calibri" pitchFamily="34" charset="-122"/>
                <a:cs typeface="Calibri" pitchFamily="34" charset="-120"/>
              </a:rPr>
              <a:t>Maitrayee Mishra and Aina Jain, SIAI</a:t>
            </a:r>
            <a:endParaRPr lang="en-US" sz="1200" dirty="0"/>
          </a:p>
        </p:txBody>
      </p:sp>
    </p:spTree>
  </p:cSld>
  <p:clrMapOvr>
    <a:masterClrMapping/>
  </p:clrMapOvr>
</p:sld>
</file>

<file path=ppt/theme/theme1.xml><?xml version="1.0" encoding="utf-8"?>
<a:theme xmlns:a="http://schemas.openxmlformats.org/drawingml/2006/main" name="GreenLens">
  <a:themeElements>
    <a:clrScheme name="GreenLens">
      <a:dk1>
        <a:srgbClr val="1D2B24"/>
      </a:dk1>
      <a:lt1>
        <a:srgbClr val="FFFFFF"/>
      </a:lt1>
      <a:dk2>
        <a:srgbClr val="0F3D26"/>
      </a:dk2>
      <a:lt2>
        <a:srgbClr val="F7F4EC"/>
      </a:lt2>
      <a:accent1>
        <a:srgbClr val="1F7A45"/>
      </a:accent1>
      <a:accent2>
        <a:srgbClr val="3FAE6A"/>
      </a:accent2>
      <a:accent3>
        <a:srgbClr val="F0A21A"/>
      </a:accent3>
      <a:accent4>
        <a:srgbClr val="D2483F"/>
      </a:accent4>
      <a:accent5>
        <a:srgbClr val="5F6F66"/>
      </a:accent5>
      <a:accent6>
        <a:srgbClr val="E8F3EA"/>
      </a:accent6>
      <a:hlink>
        <a:srgbClr val="1F7A45"/>
      </a:hlink>
      <a:folHlink>
        <a:srgbClr val="5F6F66"/>
      </a:folHlink>
    </a:clrScheme>
    <a:fontScheme name="GreenLe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Symbiosis Institute of Artificial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GreenLens: Catching Greenwashing with AI</dc:title>
  <dc:subject>PptxGenJS Presentation</dc:subject>
  <dc:creator>Maitrayee Mishra &amp; Aina Jain</dc:creator>
  <cp:lastModifiedBy>Maitrayee Mishra &amp; Aina Jain</cp:lastModifiedBy>
  <cp:revision>1</cp:revision>
  <dcterms:created xsi:type="dcterms:W3CDTF">2026-10-08T14:08:00Z</dcterms:created>
  <dcterms:modified xsi:type="dcterms:W3CDTF">2026-10-08T14:08:00Z</dcterms:modified>
</cp:coreProperties>
</file>